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8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807200"/>
            <a:ext cx="12191695" cy="508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  <a:latin typeface="맑은 고딕"/>
              </a:defRPr>
            </a:pPr>
            <a:r>
              <a:t>JTMS  vs  LTMS  vs  ATMS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0">
                <a:solidFill>
                  <a:srgbClr val="BBBBCC"/>
                </a:solidFill>
                <a:latin typeface="맑은 고딕"/>
              </a:defRPr>
            </a:pPr>
            <a:r>
              <a:t>핵심 자료구조 상세 비교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926080"/>
            <a:ext cx="3017520" cy="25400"/>
          </a:xfrm>
          <a:prstGeom prst="roundRect">
            <a:avLst/>
          </a:prstGeom>
          <a:solidFill>
            <a:srgbClr val="777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777799"/>
                </a:solidFill>
                <a:latin typeface="맑은 고딕"/>
              </a:defRPr>
            </a:pPr>
            <a:r>
              <a:t>defstruct 레벨에서 살펴보는 세 시스템의 설계 철학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3474720" cy="1463040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20624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00D2FF"/>
                </a:solidFill>
                <a:latin typeface="맑은 고딕"/>
              </a:defRPr>
            </a:pPr>
            <a:r>
              <a:t>JTMS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5488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onsolas"/>
              </a:defRPr>
            </a:pPr>
            <a:r>
              <a:t>3 structs</a:t>
            </a:r>
            <a:br/>
            <a:r>
              <a:t>jtms · tms-node · just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4114800"/>
            <a:ext cx="3474720" cy="1463040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420624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00E696"/>
                </a:solidFill>
                <a:latin typeface="맑은 고딕"/>
              </a:defRPr>
            </a:pPr>
            <a:r>
              <a:t>LTMS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75488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onsolas"/>
              </a:defRPr>
            </a:pPr>
            <a:r>
              <a:t>3 structs</a:t>
            </a:r>
            <a:br/>
            <a:r>
              <a:t>ltms · tms-node · clause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4114800"/>
            <a:ext cx="3474720" cy="1463040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420624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FF9F43"/>
                </a:solidFill>
                <a:latin typeface="맑은 고딕"/>
              </a:defRPr>
            </a:pPr>
            <a:r>
              <a:t>ATMS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75488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Consolas"/>
              </a:defRPr>
            </a:pPr>
            <a:r>
              <a:t>4 structs</a:t>
            </a:r>
            <a:br/>
            <a:r>
              <a:t>atms · tms-node · just · env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777799"/>
                </a:solidFill>
                <a:latin typeface="맑은 고딕"/>
              </a:defRPr>
            </a:pPr>
            <a:r>
              <a:t>Building Problem Solvers  |  Forbus &amp; de Kleer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0D2FF"/>
                </a:solidFill>
                <a:latin typeface="맑은 고딕"/>
              </a:defRPr>
            </a:pPr>
            <a:r>
              <a:t>  목차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804672"/>
            <a:ext cx="2286000" cy="381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5303520" cy="749808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216152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최상위 시스템 구조체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57276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777799"/>
                </a:solidFill>
                <a:latin typeface="맑은 고딕"/>
              </a:defRPr>
            </a:pPr>
            <a:r>
              <a:t>jtms / ltms / atms 필드 대조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303520" cy="749808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43584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1216152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노드 구조체 — 가장 핵심적인 차이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157276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777799"/>
                </a:solidFill>
                <a:latin typeface="맑은 고딕"/>
              </a:defRPr>
            </a:pPr>
            <a:r>
              <a:t>tms-node의 label·support 필드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057400"/>
            <a:ext cx="5303520" cy="749808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112264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084832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노드 필드 전체 대조표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4414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777799"/>
                </a:solidFill>
                <a:latin typeface="맑은 고딕"/>
              </a:defRPr>
            </a:pPr>
            <a:r>
              <a:t>13개 필드 일대일 매핑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057400"/>
            <a:ext cx="5303520" cy="749808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112264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2084832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추론 단위: just vs clause vs env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24414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777799"/>
                </a:solidFill>
                <a:latin typeface="맑은 고딕"/>
              </a:defRPr>
            </a:pPr>
            <a:r>
              <a:t>설계 철학이 갈리는 지점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926080"/>
            <a:ext cx="5303520" cy="749808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980944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2953512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JTMS just 구조 상세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31012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777799"/>
                </a:solidFill>
                <a:latin typeface="맑은 고딕"/>
              </a:defRPr>
            </a:pPr>
            <a:r>
              <a:t>순방향 전제→결론 그래프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2926080"/>
            <a:ext cx="5303520" cy="749808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980944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2953512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LTMS clause 구조 상세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331012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777799"/>
                </a:solidFill>
                <a:latin typeface="맑은 고딕"/>
              </a:defRPr>
            </a:pPr>
            <a:r>
              <a:t>CNF 절 + pvs/sats 카운터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794759"/>
            <a:ext cx="5303520" cy="749808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849623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3822191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ATMS just + env 구조 상세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4178807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777799"/>
                </a:solidFill>
                <a:latin typeface="맑은 고딕"/>
              </a:defRPr>
            </a:pPr>
            <a:r>
              <a:t>다중 세계관 동시 관리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794759"/>
            <a:ext cx="5303520" cy="749808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49623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3822191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연결 관계 다이어그램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4178807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777799"/>
                </a:solidFill>
                <a:latin typeface="맑은 고딕"/>
              </a:defRPr>
            </a:pPr>
            <a:r>
              <a:t>구조체 간 참조 관계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663440"/>
            <a:ext cx="5303520" cy="749808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718304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4690872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pvs 카운터 작동 원리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504748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777799"/>
                </a:solidFill>
                <a:latin typeface="맑은 고딕"/>
              </a:defRPr>
            </a:pPr>
            <a:r>
              <a:t>LTMS BCP의 핵심 메커니즘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60" y="4663440"/>
            <a:ext cx="5303520" cy="749808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4718304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12280" y="4690872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env 라벨 작동 원리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504748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777799"/>
                </a:solidFill>
                <a:latin typeface="맑은 고딕"/>
              </a:defRPr>
            </a:pPr>
            <a:r>
              <a:t>ATMS 환경 집합의 최소성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5532120"/>
            <a:ext cx="5303520" cy="749808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586984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3000" y="5559552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설계 철학 요약 비교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3000" y="591616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777799"/>
                </a:solidFill>
                <a:latin typeface="맑은 고딕"/>
              </a:defRPr>
            </a:pPr>
            <a:r>
              <a:t>한눈에 보는 종합 비교표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0D2FF"/>
                </a:solidFill>
                <a:latin typeface="맑은 고딕"/>
              </a:defRPr>
            </a:pPr>
            <a:r>
              <a:t>01  최상위 시스템 구조체 비교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804672"/>
            <a:ext cx="2286000" cy="381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777799"/>
                </a:solidFill>
                <a:latin typeface="맑은 고딕"/>
              </a:defRPr>
            </a:pPr>
            <a:r>
              <a:t>jtms / ltms / atms 의 defstruct 필드 대조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1188720"/>
            <a:ext cx="2926080" cy="384048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0" y="1188720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JTMS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79" y="1188720"/>
            <a:ext cx="2926080" cy="384048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79" y="1188720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LTMS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1188720"/>
            <a:ext cx="2926080" cy="384048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0" y="1188720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9F43"/>
                </a:solidFill>
                <a:latin typeface="맑은 고딕"/>
              </a:defRPr>
            </a:pPr>
            <a:r>
              <a:t>ATMS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1664208"/>
            <a:ext cx="2560320" cy="512064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682496"/>
            <a:ext cx="2377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title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1664208"/>
            <a:ext cx="2926080" cy="512064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1682496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title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79" y="1664208"/>
            <a:ext cx="2926080" cy="512064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19" y="1682496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title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664208"/>
            <a:ext cx="2926080" cy="512064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1682496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title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212848"/>
            <a:ext cx="2560320" cy="512064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231136"/>
            <a:ext cx="2377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노드 카운터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17520" y="2212848"/>
            <a:ext cx="2926080" cy="512064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0" y="2231136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node-counter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79" y="2212848"/>
            <a:ext cx="2926080" cy="512064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19" y="2231136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node-counter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2212848"/>
            <a:ext cx="2926080" cy="512064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0" y="2231136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node-counter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2761488"/>
            <a:ext cx="2560320" cy="512064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2779776"/>
            <a:ext cx="2377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추론단위 카운터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17520" y="2761488"/>
            <a:ext cx="2926080" cy="512064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08960" y="2779776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just-counter (1개)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79" y="2761488"/>
            <a:ext cx="2926080" cy="512064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19" y="2779776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clause-counter (1개)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35440" y="2761488"/>
            <a:ext cx="2926080" cy="512064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0" y="2779776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just-counter</a:t>
            </a:r>
            <a:br/>
            <a:r>
              <a:t>+ env-counter (2개)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4320" y="3310128"/>
            <a:ext cx="2560320" cy="512064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3328416"/>
            <a:ext cx="2377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노드 저장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017520" y="3310128"/>
            <a:ext cx="2926080" cy="512064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08960" y="3328416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nodes (리스트)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79" y="3310128"/>
            <a:ext cx="2926080" cy="512064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19" y="3328416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nodes (해시 테이블)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35440" y="3310128"/>
            <a:ext cx="2926080" cy="512064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26880" y="3328416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nodes (리스트)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4320" y="3858768"/>
            <a:ext cx="2560320" cy="512064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3877056"/>
            <a:ext cx="2377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추론단위 저장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017520" y="3858768"/>
            <a:ext cx="2926080" cy="512064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08960" y="3877056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justs (리스트)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26479" y="3858768"/>
            <a:ext cx="2926080" cy="512064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19" y="3877056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clauses (리스트/trie)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235440" y="3858768"/>
            <a:ext cx="2926080" cy="512064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26880" y="3877056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justs (리스트)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4320" y="4407408"/>
            <a:ext cx="2560320" cy="512064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4425696"/>
            <a:ext cx="2377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가정 관리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017520" y="4407408"/>
            <a:ext cx="2926080" cy="512064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108960" y="4425696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assumptions ✓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126479" y="4407408"/>
            <a:ext cx="2926080" cy="512064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17919" y="4425696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— (없음)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235440" y="4407408"/>
            <a:ext cx="2926080" cy="512064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80" y="4425696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assumptions ✓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74320" y="4956048"/>
            <a:ext cx="2560320" cy="512064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4974336"/>
            <a:ext cx="2377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모순 관리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017520" y="4956048"/>
            <a:ext cx="2926080" cy="512064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08960" y="4974336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contradictions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126479" y="4956048"/>
            <a:ext cx="2926080" cy="512064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17919" y="4974336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pending-</a:t>
            </a:r>
            <a:br/>
            <a:r>
              <a:t>contradictions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235440" y="4956048"/>
            <a:ext cx="2926080" cy="512064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326880" y="4974336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contradictions</a:t>
            </a:r>
            <a:br/>
            <a:r>
              <a:t>+ contra-node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74320" y="5504688"/>
            <a:ext cx="2560320" cy="512064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5760" y="5522976"/>
            <a:ext cx="2377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모순 핸들러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017520" y="5504688"/>
            <a:ext cx="2926080" cy="512064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108960" y="5522976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contradiction-</a:t>
            </a:r>
            <a:br/>
            <a:r>
              <a:t>handler (단수)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126479" y="5504688"/>
            <a:ext cx="2926080" cy="512064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17919" y="5522976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contradiction-</a:t>
            </a:r>
            <a:br/>
            <a:r>
              <a:t>handlers (복수)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235440" y="5504688"/>
            <a:ext cx="2926080" cy="512064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326880" y="5522976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— (없음)</a:t>
            </a:r>
            <a:br/>
            <a:r>
              <a:t>nogood로 처리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74320" y="6053328"/>
            <a:ext cx="2560320" cy="512064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65760" y="6071616"/>
            <a:ext cx="2377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외부 연동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017520" y="6053328"/>
            <a:ext cx="2926080" cy="512064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108960" y="6071616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enqueue-procedure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126479" y="6053328"/>
            <a:ext cx="2926080" cy="512064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217919" y="6071616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enqueue-procedure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235440" y="6053328"/>
            <a:ext cx="2926080" cy="512064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326880" y="6071616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enqueue-procedure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74320" y="5715000"/>
            <a:ext cx="11612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A55EFF"/>
                </a:solidFill>
                <a:latin typeface="맑은 고딕"/>
              </a:defRPr>
            </a:pPr>
            <a:r>
              <a:t>★ 시스템별 고유 필드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74320" y="6080760"/>
            <a:ext cx="5669280" cy="594360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65760" y="6099048"/>
            <a:ext cx="1371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00E696"/>
                </a:solidFill>
                <a:latin typeface="맑은 고딕"/>
              </a:defRPr>
            </a:pPr>
            <a:r>
              <a:t>LTMS 고유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737360" y="6099048"/>
            <a:ext cx="4023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complete, violated-clauses, queue,</a:t>
            </a:r>
            <a:br/>
            <a:r>
              <a:t>conses, cons-size, delay-sat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217920" y="6080760"/>
            <a:ext cx="5669280" cy="594360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309360" y="6099048"/>
            <a:ext cx="1371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9F43"/>
                </a:solidFill>
                <a:latin typeface="맑은 고딕"/>
              </a:defRPr>
            </a:pPr>
            <a:r>
              <a:t>ATMS 고유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680960" y="6099048"/>
            <a:ext cx="4023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env-table, nogood-table,</a:t>
            </a:r>
            <a:br/>
            <a:r>
              <a:t>empty-env, contra-node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0D2FF"/>
                </a:solidFill>
                <a:latin typeface="맑은 고딕"/>
              </a:defRPr>
            </a:pPr>
            <a:r>
              <a:t>02  노드(tms-node) — 가장 핵심적인 차이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804672"/>
            <a:ext cx="2286000" cy="381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777799"/>
                </a:solidFill>
                <a:latin typeface="맑은 고딕"/>
              </a:defRPr>
            </a:pPr>
            <a:r>
              <a:t>label과 support 필드가 모든 것을 결정합니다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FE066"/>
                </a:solidFill>
                <a:latin typeface="맑은 고딕"/>
              </a:defRPr>
            </a:pPr>
            <a:r>
              <a:t>★ label 필드 — 진리값 표현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566160" cy="2926080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맑은 고딕"/>
              </a:defRPr>
            </a:pPr>
            <a:r>
              <a:t>JTMS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57400"/>
            <a:ext cx="3291840" cy="411480"/>
          </a:xfrm>
          <a:prstGeom prst="roundRect">
            <a:avLst/>
          </a:prstGeom>
          <a:solidFill>
            <a:srgbClr val="0C0F1C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 rIns="127000" bIns="762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label = :IN  |  :OUT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60320"/>
            <a:ext cx="32918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2값 논리</a:t>
            </a:r>
            <a:br/>
            <a:br/>
            <a:r>
              <a:t>"지금 이 순간</a:t>
            </a:r>
            <a:br/>
            <a:r>
              <a:t> 믿는다 / 안 믿는다"</a:t>
            </a:r>
            <a:br/>
            <a:br/>
            <a:r>
              <a:t>한 번에 하나의 세계만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45920"/>
            <a:ext cx="3566160" cy="2926080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69164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0E696"/>
                </a:solidFill>
                <a:latin typeface="맑은 고딕"/>
              </a:defRPr>
            </a:pPr>
            <a:r>
              <a:t>LTMS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057400"/>
            <a:ext cx="3291840" cy="411480"/>
          </a:xfrm>
          <a:prstGeom prst="roundRect">
            <a:avLst/>
          </a:prstGeom>
          <a:solidFill>
            <a:srgbClr val="0C0F1C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 rIns="127000" bIns="762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label = :TRUE | :FALSE | :UNKNOWN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560320"/>
            <a:ext cx="32918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3값 논리</a:t>
            </a:r>
            <a:br/>
            <a:br/>
            <a:r>
              <a:t>"참이다 / 거짓이다 /</a:t>
            </a:r>
            <a:br/>
            <a:r>
              <a:t> 아직 모른다"</a:t>
            </a:r>
            <a:br/>
            <a:br/>
            <a:r>
              <a:t>:UNKNOWN이 핵심 추가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45920"/>
            <a:ext cx="3566160" cy="2926080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69164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9F43"/>
                </a:solidFill>
                <a:latin typeface="맑은 고딕"/>
              </a:defRPr>
            </a:pPr>
            <a:r>
              <a:t>ATMS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2057400"/>
            <a:ext cx="3291840" cy="411480"/>
          </a:xfrm>
          <a:prstGeom prst="roundRect">
            <a:avLst/>
          </a:prstGeom>
          <a:solidFill>
            <a:srgbClr val="0C0F1C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 rIns="127000" bIns="762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F9F43"/>
                </a:solidFill>
                <a:latin typeface="Consolas"/>
              </a:defRPr>
            </a:pPr>
            <a:r>
              <a:t>label = [{A1}, {A2,A3}, ...]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560320"/>
            <a:ext cx="32918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환경 집합</a:t>
            </a:r>
            <a:br/>
            <a:br/>
            <a:r>
              <a:t>"어떤 가정 조합에서</a:t>
            </a:r>
            <a:br/>
            <a:r>
              <a:t> 참인지 모두 기록"</a:t>
            </a:r>
            <a:br/>
            <a:br/>
            <a:r>
              <a:t>모든 세계를 동시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FE066"/>
                </a:solidFill>
                <a:latin typeface="맑은 고딕"/>
              </a:defRPr>
            </a:pPr>
            <a:r>
              <a:t>★ support 필드 — "왜 이 값인가?"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212080"/>
            <a:ext cx="3566160" cy="1463040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257800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JTMS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532120"/>
            <a:ext cx="3291840" cy="502920"/>
          </a:xfrm>
          <a:prstGeom prst="roundRect">
            <a:avLst/>
          </a:prstGeom>
          <a:solidFill>
            <a:srgbClr val="0C0F1C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 rIns="127000" bIns="762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support → just 구조체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     또는 :ENABLED-ASSUMPTION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08076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777799"/>
                </a:solidFill>
                <a:latin typeface="맑은 고딕"/>
              </a:defRPr>
            </a:pPr>
            <a:r>
              <a:t>하나의 정당화를 가리킨다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5212080"/>
            <a:ext cx="3566160" cy="1463040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5257800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LTMS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5532120"/>
            <a:ext cx="3291840" cy="502920"/>
          </a:xfrm>
          <a:prstGeom prst="roundRect">
            <a:avLst/>
          </a:prstGeom>
          <a:solidFill>
            <a:srgbClr val="0C0F1C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 rIns="127000" bIns="762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support → clause 구조체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       또는 :ENABLED-ASSUMPTION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608076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777799"/>
                </a:solidFill>
                <a:latin typeface="맑은 고딕"/>
              </a:defRPr>
            </a:pPr>
            <a:r>
              <a:t>하나의 절을 가리킨다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5212080"/>
            <a:ext cx="3566160" cy="1463040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5257800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9F43"/>
                </a:solidFill>
                <a:latin typeface="맑은 고딕"/>
              </a:defRPr>
            </a:pPr>
            <a:r>
              <a:t>ATMS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5532120"/>
            <a:ext cx="3291840" cy="502920"/>
          </a:xfrm>
          <a:prstGeom prst="roundRect">
            <a:avLst/>
          </a:prstGeom>
          <a:solidFill>
            <a:srgbClr val="0C0F1C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 rIns="127000" bIns="762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support 필드 없음!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BBBBCC"/>
                </a:solidFill>
                <a:latin typeface="Consolas"/>
              </a:defRPr>
            </a:pPr>
            <a:r>
              <a:t>label 자체가 모든 근거를 담고 있음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608076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777799"/>
                </a:solidFill>
                <a:latin typeface="맑은 고딕"/>
              </a:defRPr>
            </a:pPr>
            <a:r>
              <a:t>label = [{A1}, {B2}] 그 자체가 증거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0D2FF"/>
                </a:solidFill>
                <a:latin typeface="맑은 고딕"/>
              </a:defRPr>
            </a:pPr>
            <a:r>
              <a:t>03  노드(tms-node) 필드 전체 대조표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804672"/>
            <a:ext cx="2286000" cy="381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017520" y="1097280"/>
            <a:ext cx="2926080" cy="384048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17520" y="1097280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JTMS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79" y="1097280"/>
            <a:ext cx="2926080" cy="384048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79" y="1097280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LTMS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1097280"/>
            <a:ext cx="2926080" cy="384048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0" y="1097280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9F43"/>
                </a:solidFill>
                <a:latin typeface="맑은 고딕"/>
              </a:defRPr>
            </a:pPr>
            <a:r>
              <a:t>ATMS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572768"/>
            <a:ext cx="2560320" cy="36576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91056"/>
            <a:ext cx="2377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index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1572768"/>
            <a:ext cx="2926080" cy="36576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1591056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index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79" y="1572768"/>
            <a:ext cx="2926080" cy="36576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19" y="1591056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index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572768"/>
            <a:ext cx="2926080" cy="36576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1591056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index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1975104"/>
            <a:ext cx="2560320" cy="36576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1993392"/>
            <a:ext cx="2377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datum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17520" y="1975104"/>
            <a:ext cx="2926080" cy="36576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8960" y="199339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datum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79" y="1975104"/>
            <a:ext cx="2926080" cy="36576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19" y="199339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datum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975104"/>
            <a:ext cx="2926080" cy="36576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199339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datum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2377440"/>
            <a:ext cx="2560320" cy="36576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395728"/>
            <a:ext cx="2377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label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17520" y="2377440"/>
            <a:ext cx="2926080" cy="36576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08960" y="2395728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:IN | :OUT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79" y="2377440"/>
            <a:ext cx="2926080" cy="36576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19" y="2395728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:TRUE|:FALSE|:UNKNOWN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2377440"/>
            <a:ext cx="2926080" cy="36576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0" y="2395728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[env1, env2, ...]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" y="2779776"/>
            <a:ext cx="2560320" cy="36576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2798064"/>
            <a:ext cx="2377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support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017520" y="2779776"/>
            <a:ext cx="2926080" cy="36576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08960" y="2798064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→ just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79" y="2779776"/>
            <a:ext cx="2926080" cy="36576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19" y="2798064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→ clause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35440" y="2779776"/>
            <a:ext cx="2926080" cy="36576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26880" y="2798064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— (없음)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3182112"/>
            <a:ext cx="2560320" cy="36576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3200400"/>
            <a:ext cx="2377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정당화 참조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017520" y="3182112"/>
            <a:ext cx="2926080" cy="36576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08960" y="320040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justs []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26479" y="3182112"/>
            <a:ext cx="2926080" cy="36576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19" y="320040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— (없음)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235440" y="3182112"/>
            <a:ext cx="2926080" cy="36576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0" y="320040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justs []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4320" y="3584448"/>
            <a:ext cx="2560320" cy="36576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3602736"/>
            <a:ext cx="2377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의존 관계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017520" y="3584448"/>
            <a:ext cx="2926080" cy="36576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108960" y="3602736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consequences []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26479" y="3584448"/>
            <a:ext cx="2926080" cy="36576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17919" y="3602736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— (없음)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35440" y="3584448"/>
            <a:ext cx="2926080" cy="36576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6880" y="3602736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consequences []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74320" y="3986784"/>
            <a:ext cx="2560320" cy="50292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60" y="4005072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절 참조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017520" y="3986784"/>
            <a:ext cx="2926080" cy="50292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108960" y="4005072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— (없음)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26479" y="3986784"/>
            <a:ext cx="2926080" cy="50292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17919" y="4005072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true-clauses []</a:t>
            </a:r>
            <a:br/>
            <a:r>
              <a:t>false-clauses []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235440" y="3986784"/>
            <a:ext cx="2926080" cy="50292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326880" y="4005072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— (없음)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74320" y="4526280"/>
            <a:ext cx="2560320" cy="50292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5760" y="4544568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리터럴 캐시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017520" y="4526280"/>
            <a:ext cx="2926080" cy="50292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108960" y="4544568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— (없음)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126479" y="4526280"/>
            <a:ext cx="2926080" cy="50292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217919" y="4544568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true-literal</a:t>
            </a:r>
            <a:br/>
            <a:r>
              <a:t>false-literal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235440" y="4526280"/>
            <a:ext cx="2926080" cy="50292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326880" y="4544568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— (없음)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74320" y="5065776"/>
            <a:ext cx="2560320" cy="50292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65760" y="5084064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규칙 트리거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017520" y="5065776"/>
            <a:ext cx="2926080" cy="50292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108960" y="5084064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in-rules []</a:t>
            </a:r>
            <a:br/>
            <a:r>
              <a:t>out-rules []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126479" y="5065776"/>
            <a:ext cx="2926080" cy="50292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17919" y="5084064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true-rules []</a:t>
            </a:r>
            <a:br/>
            <a:r>
              <a:t>false-rules []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235440" y="5065776"/>
            <a:ext cx="2926080" cy="50292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326880" y="5084064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rules [] (하나)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74320" y="5605272"/>
            <a:ext cx="2560320" cy="36576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65760" y="5623560"/>
            <a:ext cx="2377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assumption?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017520" y="5605272"/>
            <a:ext cx="2926080" cy="36576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108960" y="562356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126479" y="5605272"/>
            <a:ext cx="2926080" cy="36576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217919" y="562356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235440" y="5605272"/>
            <a:ext cx="2926080" cy="36576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326880" y="562356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274320" y="6007608"/>
            <a:ext cx="2560320" cy="36576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65760" y="6025896"/>
            <a:ext cx="2377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contradictory?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017520" y="6007608"/>
            <a:ext cx="2926080" cy="36576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108960" y="6025896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126479" y="6007608"/>
            <a:ext cx="2926080" cy="36576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217919" y="6025896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— (없음)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9235440" y="6007608"/>
            <a:ext cx="2926080" cy="36576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326880" y="6025896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✓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274320" y="6409944"/>
            <a:ext cx="2560320" cy="36576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65760" y="6428232"/>
            <a:ext cx="2377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mark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3017520" y="6409944"/>
            <a:ext cx="2926080" cy="36576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108960" y="642823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✓ (sweep용)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126479" y="6409944"/>
            <a:ext cx="2926080" cy="36576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217919" y="642823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✓ (sweep용)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9235440" y="6409944"/>
            <a:ext cx="2926080" cy="36576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326880" y="6428232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— (없음)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274320" y="6812280"/>
            <a:ext cx="2560320" cy="36576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65760" y="6830568"/>
            <a:ext cx="2377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역참조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3017520" y="6812280"/>
            <a:ext cx="2926080" cy="36576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108960" y="6830568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→ jtms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126479" y="6812280"/>
            <a:ext cx="2926080" cy="36576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217919" y="6830568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→ ltms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9235440" y="6812280"/>
            <a:ext cx="2926080" cy="36576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326880" y="6830568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→ atms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0D2FF"/>
                </a:solidFill>
                <a:latin typeface="맑은 고딕"/>
              </a:defRPr>
            </a:pPr>
            <a:r>
              <a:t>04  추론 단위 — 설계 철학이 갈리는 지점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804672"/>
            <a:ext cx="2286000" cy="381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777799"/>
                </a:solidFill>
                <a:latin typeface="맑은 고딕"/>
              </a:defRPr>
            </a:pPr>
            <a:r>
              <a:t>JTMS·ATMS는 justification, LTMS는 clause, ATMS에만 environment 추가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34440"/>
            <a:ext cx="3657600" cy="5303520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맑은 고딕"/>
              </a:defRPr>
            </a:pPr>
            <a:r>
              <a:t>JTMS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91640"/>
            <a:ext cx="2560320" cy="502920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just</a:t>
            </a:r>
            <a:br/>
            <a:r>
              <a:t>(정당화)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33832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전제가 모두 :IN이면</a:t>
            </a:r>
            <a:br/>
            <a:r>
              <a:t>→ 결론도 :IN</a:t>
            </a:r>
            <a:br/>
            <a:br/>
            <a:r>
              <a:t>순방향 규칙 그래프</a:t>
            </a:r>
            <a:br/>
            <a:r>
              <a:t>A ∧ B → 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931920"/>
            <a:ext cx="3383280" cy="2468880"/>
          </a:xfrm>
          <a:prstGeom prst="roundRect">
            <a:avLst/>
          </a:prstGeom>
          <a:solidFill>
            <a:srgbClr val="0C0F1C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 rIns="127000" bIns="762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D2FF"/>
                </a:solidFill>
                <a:latin typeface="Consolas"/>
              </a:defRPr>
            </a:pPr>
            <a:r>
              <a:t>just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D2FF"/>
                </a:solidFill>
                <a:latin typeface="Consolas"/>
              </a:defRPr>
            </a:pPr>
            <a:r>
              <a:t>├─ index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D2FF"/>
                </a:solidFill>
                <a:latin typeface="Consolas"/>
              </a:defRPr>
            </a:pPr>
            <a:r>
              <a:t>├─ informant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D2FF"/>
                </a:solidFill>
                <a:latin typeface="Consolas"/>
              </a:defRPr>
            </a:pPr>
            <a:r>
              <a:t>├─ consequence → node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D2FF"/>
                </a:solidFill>
                <a:latin typeface="Consolas"/>
              </a:defRPr>
            </a:pPr>
            <a:r>
              <a:t>└─ antecedents → [node...]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234440"/>
            <a:ext cx="3657600" cy="5303520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28016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0E696"/>
                </a:solidFill>
                <a:latin typeface="맑은 고딕"/>
              </a:defRPr>
            </a:pPr>
            <a:r>
              <a:t>LTMS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1691640"/>
            <a:ext cx="2560320" cy="502920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169164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clause</a:t>
            </a:r>
            <a:br/>
            <a:r>
              <a:t>(CNF 절)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286000"/>
            <a:ext cx="33832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리터럴 중 하나 이상</a:t>
            </a:r>
            <a:br/>
            <a:r>
              <a:t>만족되어야 함 (OR)</a:t>
            </a:r>
            <a:br/>
            <a:br/>
            <a:r>
              <a:t>양방향 제약 전파</a:t>
            </a:r>
            <a:br/>
            <a:r>
              <a:t>(A ∨ ¬B ∨ C)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931920"/>
            <a:ext cx="3383280" cy="2468880"/>
          </a:xfrm>
          <a:prstGeom prst="roundRect">
            <a:avLst/>
          </a:prstGeom>
          <a:solidFill>
            <a:srgbClr val="0C0F1C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 rIns="127000" bIns="762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clause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├─ index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├─ informant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├─ literals → [(n.:T)...]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├─ pvs   ← 미결정 수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├─ sats  ← 만족 수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├─ length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└─ status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234440"/>
            <a:ext cx="3657600" cy="5303520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28016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F9F43"/>
                </a:solidFill>
                <a:latin typeface="맑은 고딕"/>
              </a:defRPr>
            </a:pPr>
            <a:r>
              <a:t>ATMS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1691640"/>
            <a:ext cx="2560320" cy="502920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0" y="169164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9F43"/>
                </a:solidFill>
                <a:latin typeface="맑은 고딕"/>
              </a:defRPr>
            </a:pPr>
            <a:r>
              <a:t>just + env</a:t>
            </a:r>
            <a:br/>
            <a:r>
              <a:t>(정당화+환경)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286000"/>
            <a:ext cx="33832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just = JTMS와 동일</a:t>
            </a:r>
            <a:br/>
            <a:r>
              <a:t>env = 가정들의 조합</a:t>
            </a:r>
            <a:br/>
            <a:r>
              <a:t>= "하나의 세계관"</a:t>
            </a:r>
            <a:br/>
            <a:br/>
            <a:r>
              <a:t>모든 세계 동시 추적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3931920"/>
            <a:ext cx="3383280" cy="2468880"/>
          </a:xfrm>
          <a:prstGeom prst="roundRect">
            <a:avLst/>
          </a:prstGeom>
          <a:solidFill>
            <a:srgbClr val="0C0F1C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 rIns="127000" bIns="762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FF9F43"/>
                </a:solidFill>
                <a:latin typeface="Consolas"/>
              </a:defRPr>
            </a:pPr>
            <a:r>
              <a:t>just (= JTMS 동일)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FF9F43"/>
                </a:solidFill>
                <a:latin typeface="Consolas"/>
              </a:defRPr>
            </a:pPr>
            <a:r>
              <a:t>├─ antecedents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FF9F43"/>
                </a:solidFill>
                <a:latin typeface="Consolas"/>
              </a:defRPr>
            </a:pPr>
            <a:r>
              <a:t>└─ consequence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FF9F43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FF9F43"/>
                </a:solidFill>
                <a:latin typeface="Consolas"/>
              </a:defRPr>
            </a:pPr>
            <a:r>
              <a:t>env (고유!)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FF9F43"/>
                </a:solidFill>
                <a:latin typeface="Consolas"/>
              </a:defRPr>
            </a:pPr>
            <a:r>
              <a:t>├─ index, count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FF9F43"/>
                </a:solidFill>
                <a:latin typeface="Consolas"/>
              </a:defRPr>
            </a:pPr>
            <a:r>
              <a:t>├─ assumptions → [node...]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FF9F43"/>
                </a:solidFill>
                <a:latin typeface="Consolas"/>
              </a:defRPr>
            </a:pPr>
            <a:r>
              <a:t>├─ nodes → [이 세계의 참]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FF9F43"/>
                </a:solidFill>
                <a:latin typeface="Consolas"/>
              </a:defRPr>
            </a:pPr>
            <a:r>
              <a:t>├─ nogood?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FF9F43"/>
                </a:solidFill>
                <a:latin typeface="Consolas"/>
              </a:defRPr>
            </a:pPr>
            <a:r>
              <a:t>└─ rules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0D2FF"/>
                </a:solidFill>
                <a:latin typeface="맑은 고딕"/>
              </a:defRPr>
            </a:pPr>
            <a:r>
              <a:t>05  JTMS just(정당화) 구조 상세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804672"/>
            <a:ext cx="2286000" cy="381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777799"/>
                </a:solidFill>
                <a:latin typeface="맑은 고딕"/>
              </a:defRPr>
            </a:pPr>
            <a:r>
              <a:t>순방향 전제→결론 그래프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029200" cy="2011680"/>
          </a:xfrm>
          <a:prstGeom prst="roundRect">
            <a:avLst/>
          </a:prstGeom>
          <a:solidFill>
            <a:srgbClr val="0C0F1C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 rIns="127000" bIns="762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(defstruct (just (:PRINT-FUNCTION print-just))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  (index 0)        ; 고유 번호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  informant         ; 규칙 이름 (예: "modus-ponens")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  consequence       ; 결론 노드 (tms-node 1개)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D2FF"/>
                </a:solidFill>
                <a:latin typeface="Consolas"/>
              </a:defRPr>
            </a:pPr>
            <a:r>
              <a:t>  antecedents)      ; 전제 노드들 (tms-node 리스트)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188720"/>
            <a:ext cx="5943600" cy="2011680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0" y="1280160"/>
            <a:ext cx="5577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의미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BBBBCC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"전제(antecedents)가 모두 :IN이면"</a:t>
            </a:r>
          </a:p>
          <a:p>
            <a:pPr algn="l">
              <a:spcAft>
                <a:spcPts val="20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"→ 결론(consequence)도 :IN으로 만들어라"</a:t>
            </a:r>
          </a:p>
          <a:p>
            <a:pPr algn="l">
              <a:spcAft>
                <a:spcPts val="200"/>
              </a:spcAft>
              <a:defRPr sz="600" b="0">
                <a:solidFill>
                  <a:srgbClr val="BBBBCC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• informant: 이 정당화를 만든 규칙 이름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• 순방향만 가능: A → B 있어도 ¬B → ¬A 불가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예제: "A이면 D이다" + "D이면 G이다"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31920"/>
            <a:ext cx="5486400" cy="2560320"/>
          </a:xfrm>
          <a:prstGeom prst="roundRect">
            <a:avLst/>
          </a:prstGeom>
          <a:solidFill>
            <a:srgbClr val="0C0F1C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 rIns="127000" bIns="762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;; 정당화 생성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(justify-node 'R1 node-D (list node-A))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→ just-1: antecedents=[A], consequence=D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2FF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(justify-node 'R2 node-G (list node-D))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→ just-2: antecedents=[D], consequence=G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2FF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;; A를 가정으로 활성화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(enable-assumption node-A)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→ A=:IN → just-1 만족 → D=:IN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00D2FF"/>
                </a:solidFill>
                <a:latin typeface="Consolas"/>
              </a:defRPr>
            </a:pPr>
            <a:r>
              <a:t>           → just-2 만족 → G=:IN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303520" cy="2560320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02336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의존 그래프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4480560"/>
            <a:ext cx="4754880" cy="1828800"/>
          </a:xfrm>
          <a:prstGeom prst="roundRect">
            <a:avLst/>
          </a:prstGeom>
          <a:solidFill>
            <a:srgbClr val="0C0F1C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 rIns="127000" bIns="762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56E8E0"/>
                </a:solidFill>
                <a:latin typeface="Consolas"/>
              </a:defRPr>
            </a:pPr>
            <a:r>
              <a:t>  node-A (:IN)          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56E8E0"/>
                </a:solidFill>
                <a:latin typeface="Consolas"/>
              </a:defRPr>
            </a:pPr>
            <a:r>
              <a:t>    │ assumption?=T     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56E8E0"/>
                </a:solidFill>
                <a:latin typeface="Consolas"/>
              </a:defRPr>
            </a:pPr>
            <a:r>
              <a:t>    │ support=:ENABLED-ASSUMPTION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56E8E0"/>
                </a:solidFill>
                <a:latin typeface="Consolas"/>
              </a:defRPr>
            </a:pPr>
            <a:r>
              <a:t>    ▼                   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56E8E0"/>
                </a:solidFill>
                <a:latin typeface="Consolas"/>
              </a:defRPr>
            </a:pPr>
            <a:r>
              <a:t>  ┌─just-1─┐           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56E8E0"/>
                </a:solidFill>
                <a:latin typeface="Consolas"/>
              </a:defRPr>
            </a:pPr>
            <a:r>
              <a:t>  │ R1      │           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56E8E0"/>
                </a:solidFill>
                <a:latin typeface="Consolas"/>
              </a:defRPr>
            </a:pPr>
            <a:r>
              <a:t>  └────┬────┘           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56E8E0"/>
                </a:solidFill>
                <a:latin typeface="Consolas"/>
              </a:defRPr>
            </a:pPr>
            <a:r>
              <a:t>       ▼                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56E8E0"/>
                </a:solidFill>
                <a:latin typeface="Consolas"/>
              </a:defRPr>
            </a:pPr>
            <a:r>
              <a:t>  node-D (:IN)  ──────► just-2 ──► node-G (:IN)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56E8E0"/>
                </a:solidFill>
                <a:latin typeface="Consolas"/>
              </a:defRPr>
            </a:pPr>
            <a:r>
              <a:t>    support=just-1        R2        support=just-2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0D2FF"/>
                </a:solidFill>
                <a:latin typeface="맑은 고딕"/>
              </a:defRPr>
            </a:pPr>
            <a:r>
              <a:t>06  LTMS clause(절) 구조 상세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804672"/>
            <a:ext cx="2286000" cy="381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777799"/>
                </a:solidFill>
                <a:latin typeface="맑은 고딕"/>
              </a:defRPr>
            </a:pPr>
            <a:r>
              <a:t>CNF 절 + pvs/sats 카운터 — BCP의 핵심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03520" cy="2286000"/>
          </a:xfrm>
          <a:prstGeom prst="roundRect">
            <a:avLst/>
          </a:prstGeom>
          <a:solidFill>
            <a:srgbClr val="0C0F1C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 rIns="127000" bIns="762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(defstruct (clause (:PRINT-FUNCTION print-clause))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(index 0)       ; 고유 번호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(informant nil)  ; 규칙 이름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(literals nil)   ; [(node . :TRUE), (node . :FALSE), ...]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(pvs 0)          ; ★ 미결정(potentially violating) 수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(length 0)       ; 전체 리터럴 수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(sats 0)         ; ★ 만족된 리터럴 수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(status nil))    ; :SUBSUMED | :QUEUED | :DIRTY | nil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188720"/>
            <a:ext cx="5669280" cy="2286000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핵심 의미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BBBBCC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절 = 리터럴의 OR (CNF 형식)</a:t>
            </a:r>
          </a:p>
          <a:p>
            <a:pPr algn="l">
              <a:spcAft>
                <a:spcPts val="200"/>
              </a:spcAft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"리터럴 중 하나 이상 만족되어야 함"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BBBBCC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• literals: (노드 . 기대값) 쌍의 리스트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777799"/>
                </a:solidFill>
                <a:latin typeface="맑은 고딕"/>
              </a:defRPr>
            </a:pPr>
            <a:r>
              <a:t>  (A . :TRUE) = "A가 참이면 이 절 만족"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777799"/>
                </a:solidFill>
                <a:latin typeface="맑은 고딕"/>
              </a:defRPr>
            </a:pPr>
            <a:r>
              <a:t>  (B . :FALSE) = "B가 거짓이면 이 절 만족"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BBBBCC"/>
                </a:solidFill>
                <a:latin typeface="맑은 고딕"/>
              </a:defRPr>
            </a:pPr>
          </a:p>
          <a:p>
            <a:pPr algn="l">
              <a:spcAft>
                <a:spcPts val="200"/>
              </a:spcAft>
              <a:defRPr sz="1300" b="1">
                <a:solidFill>
                  <a:srgbClr val="FFE066"/>
                </a:solidFill>
                <a:latin typeface="맑은 고딕"/>
              </a:defRPr>
            </a:pPr>
            <a:r>
              <a:t>JTMS의 just와 달리 양방향 추론 가능!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E066"/>
                </a:solidFill>
                <a:latin typeface="맑은 고딕"/>
              </a:defRPr>
            </a:pPr>
            <a:r>
              <a:t>★ pvs / sats 카운터 — LTMS 최적화의 핵심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206240"/>
            <a:ext cx="3566160" cy="2468880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251960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9F43"/>
                </a:solidFill>
                <a:latin typeface="Consolas"/>
              </a:defRPr>
            </a:pPr>
            <a:r>
              <a:t>pvs</a:t>
            </a:r>
            <a:br/>
            <a:r>
              <a:t>(potentially</a:t>
            </a:r>
            <a:br/>
            <a:r>
              <a:t> violating)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754880"/>
            <a:ext cx="32918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"아직 결정 안 된 리터럴 수"</a:t>
            </a:r>
            <a:br/>
            <a:br/>
            <a:r>
              <a:t>pvs = 0  →  모순 발생!</a:t>
            </a:r>
            <a:br/>
            <a:r>
              <a:t>    모든 리터럴이 위반됨</a:t>
            </a:r>
            <a:br/>
            <a:br/>
            <a:r>
              <a:t>pvs = 1  →  단위 전파!</a:t>
            </a:r>
            <a:br/>
            <a:r>
              <a:t>    남은 하나가 반드시 참</a:t>
            </a:r>
            <a:br/>
            <a:br/>
            <a:r>
              <a:t>pvs ≥ 2  →  아직 대기</a:t>
            </a:r>
            <a:br/>
            <a:r>
              <a:t>    결정할 수 없음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4206240"/>
            <a:ext cx="3566160" cy="2468880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4251960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0E696"/>
                </a:solidFill>
                <a:latin typeface="Consolas"/>
              </a:defRPr>
            </a:pPr>
            <a:r>
              <a:t>sats</a:t>
            </a:r>
            <a:br/>
            <a:r>
              <a:t>(satisfied)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754880"/>
            <a:ext cx="32918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"이미 만족된 리터럴 수"</a:t>
            </a:r>
            <a:br/>
            <a:br/>
            <a:r>
              <a:t>sats &gt; 0  →  절 만족됨</a:t>
            </a:r>
            <a:br/>
            <a:r>
              <a:t>    더 이상 전파 불필요</a:t>
            </a:r>
            <a:br/>
            <a:br/>
            <a:r>
              <a:t>sats = 0  →  미만족</a:t>
            </a:r>
            <a:br/>
            <a:r>
              <a:t>    pvs 카운터 감시 계속</a:t>
            </a:r>
            <a:br/>
            <a:br/>
            <a:r>
              <a:t>(satisfied-clause?)</a:t>
            </a:r>
            <a:br/>
            <a:r>
              <a:t>  = (&gt; sats 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4206240"/>
            <a:ext cx="3566160" cy="2468880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A5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251960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A55EFF"/>
                </a:solidFill>
                <a:latin typeface="Consolas"/>
              </a:defRPr>
            </a:pPr>
            <a:r>
              <a:t>상호 작용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4754880"/>
            <a:ext cx="32918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노드 값이 결정될 때마다:</a:t>
            </a:r>
            <a:br/>
            <a:br/>
            <a:r>
              <a:t>기대값과 일치 → sats++</a:t>
            </a:r>
            <a:br/>
            <a:r>
              <a:t>기대값과 불일치 → pvs--</a:t>
            </a:r>
            <a:br/>
            <a:br/>
            <a:r>
              <a:t>[pvs-- 후 검사]</a:t>
            </a:r>
            <a:br/>
            <a:r>
              <a:t>  pvs=0 → 모순!</a:t>
            </a:r>
            <a:br/>
            <a:r>
              <a:t>  pvs=1 → 단위전파!</a:t>
            </a:r>
            <a:br/>
            <a:br/>
            <a:r>
              <a:t>이 카운터 덕분에</a:t>
            </a:r>
            <a:br/>
            <a:r>
              <a:t>O(1)로 전파 결정 가능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0D2FF"/>
                </a:solidFill>
                <a:latin typeface="맑은 고딕"/>
              </a:defRPr>
            </a:pPr>
            <a:r>
              <a:t>07  ATMS just + env 구조 상세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804672"/>
            <a:ext cx="2286000" cy="381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777799"/>
                </a:solidFill>
                <a:latin typeface="맑은 고딕"/>
              </a:defRPr>
            </a:pPr>
            <a:r>
              <a:t>다중 세계관 동시 관리 — ATMS에만 존재하는 env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맑은 고딕"/>
              </a:defRPr>
            </a:pPr>
            <a:r>
              <a:t>just — JTMS와 동일한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029200" cy="1371600"/>
          </a:xfrm>
          <a:prstGeom prst="roundRect">
            <a:avLst/>
          </a:prstGeom>
          <a:solidFill>
            <a:srgbClr val="0C0F1C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 rIns="127000" bIns="762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FF9F43"/>
                </a:solidFill>
                <a:latin typeface="Consolas"/>
              </a:defRPr>
            </a:pPr>
            <a:r>
              <a:t>(defstruct (just (:PRINT-FUNCTION print-just))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FF9F43"/>
                </a:solidFill>
                <a:latin typeface="Consolas"/>
              </a:defRPr>
            </a:pPr>
            <a:r>
              <a:t>  (index 0)        ; 고유 번호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FF9F43"/>
                </a:solidFill>
                <a:latin typeface="Consolas"/>
              </a:defRPr>
            </a:pPr>
            <a:r>
              <a:t>  (informant nil)   ; 규칙 이름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FF9F43"/>
                </a:solidFill>
                <a:latin typeface="Consolas"/>
              </a:defRPr>
            </a:pPr>
            <a:r>
              <a:t>  (consequence nil) ; 결론 노드 (1개)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FF9F43"/>
                </a:solidFill>
                <a:latin typeface="Consolas"/>
              </a:defRPr>
            </a:pPr>
            <a:r>
              <a:t>  (antecedents nil)); 전제 노드들 (리스트)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109728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맑은 고딕"/>
              </a:defRPr>
            </a:pPr>
            <a:r>
              <a:t>★ env — ATMS 고유 구조: "하나의 세계관"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463040"/>
            <a:ext cx="5943600" cy="1371600"/>
          </a:xfrm>
          <a:prstGeom prst="roundRect">
            <a:avLst/>
          </a:prstGeom>
          <a:solidFill>
            <a:srgbClr val="0C0F1C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 rIns="127000" bIns="762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F9F43"/>
                </a:solidFill>
                <a:latin typeface="Consolas"/>
              </a:defRPr>
            </a:pPr>
            <a:r>
              <a:t>(defstruct (env (:PREDICATE env?))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F9F43"/>
                </a:solidFill>
                <a:latin typeface="Consolas"/>
              </a:defRPr>
            </a:pPr>
            <a:r>
              <a:t>  (index 0)         ; E0, E1, E2...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F9F43"/>
                </a:solidFill>
                <a:latin typeface="Consolas"/>
              </a:defRPr>
            </a:pPr>
            <a:r>
              <a:t>  (count 0)         ; 가정 수: {A1,A3} → 2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F9F43"/>
                </a:solidFill>
                <a:latin typeface="Consolas"/>
              </a:defRPr>
            </a:pPr>
            <a:r>
              <a:t>  (assumptions nil) ; 가정 노드 리스트 (정렬됨)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F9F43"/>
                </a:solidFill>
                <a:latin typeface="Consolas"/>
              </a:defRPr>
            </a:pPr>
            <a:r>
              <a:t>  (nodes nil)       ; 이 환경에서 참인 노드들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F9F43"/>
                </a:solidFill>
                <a:latin typeface="Consolas"/>
              </a:defRPr>
            </a:pPr>
            <a:r>
              <a:t>  (nogood? nil)     ; nil=일관 | non-nil=모순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FF9F43"/>
                </a:solidFill>
                <a:latin typeface="Consolas"/>
              </a:defRPr>
            </a:pPr>
            <a:r>
              <a:t>  (rules nil))      ; nogood 시 실행할 규칙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E066"/>
                </a:solidFill>
                <a:latin typeface="맑은 고딕"/>
              </a:defRPr>
            </a:pPr>
            <a:r>
              <a:t>★ env의 핵심 필드 해설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429000"/>
            <a:ext cx="3566160" cy="3017520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56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47472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56E8E0"/>
                </a:solidFill>
                <a:latin typeface="Consolas"/>
              </a:defRPr>
            </a:pPr>
            <a:r>
              <a:t>assumptions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840480"/>
            <a:ext cx="32918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이 세계에서 "참이라고 가정한" 노드들</a:t>
            </a:r>
            <a:br/>
            <a:br/>
            <a:r>
              <a:t>{A1, A3} = "A1과 A3을 참으로 가정"</a:t>
            </a:r>
            <a:br/>
            <a:br/>
            <a:r>
              <a:t>• 인덱스 오름차순 정렬 (비교 최적화)</a:t>
            </a:r>
            <a:br/>
            <a:r>
              <a:t>• 구조적 공유: 같은 가정 조합 = 같은 env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429000"/>
            <a:ext cx="3566160" cy="3017520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347472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0E696"/>
                </a:solidFill>
                <a:latin typeface="Consolas"/>
              </a:defRPr>
            </a:pPr>
            <a:r>
              <a:t>nodes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840480"/>
            <a:ext cx="32918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이 환경에서 참으로 도출된 모든 노드</a:t>
            </a:r>
            <a:br/>
            <a:br/>
            <a:r>
              <a:t>{A1,A3}에서 D가 참이면</a:t>
            </a:r>
            <a:br/>
            <a:r>
              <a:t>  → D ∈ env.nodes</a:t>
            </a:r>
            <a:br/>
            <a:br/>
            <a:r>
              <a:t>역방향 참조: 환경에서 노드 찾기 가능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3429000"/>
            <a:ext cx="3566160" cy="3017520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47472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6B6B"/>
                </a:solidFill>
                <a:latin typeface="Consolas"/>
              </a:defRPr>
            </a:pPr>
            <a:r>
              <a:t>nogood?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840480"/>
            <a:ext cx="32918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nil = 이 세계는 일관적</a:t>
            </a:r>
            <a:br/>
            <a:r>
              <a:t>non-nil = 이 세계는 모순!</a:t>
            </a:r>
            <a:br/>
            <a:br/>
            <a:r>
              <a:t>값이 just → 직접 모순 (모순의 근거)</a:t>
            </a:r>
            <a:br/>
            <a:r>
              <a:t>값이 env → 상위집합이 nogood</a:t>
            </a:r>
            <a:br/>
            <a:br/>
            <a:r>
              <a:t>nogood이 되면 모든 노드의</a:t>
            </a:r>
            <a:br/>
            <a:r>
              <a:t>label에서 이 환경이 제거됨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0D2FF"/>
                </a:solidFill>
                <a:latin typeface="맑은 고딕"/>
              </a:defRPr>
            </a:pPr>
            <a:r>
              <a:t>08  연결 관계 다이어그램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804672"/>
            <a:ext cx="2286000" cy="381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777799"/>
                </a:solidFill>
                <a:latin typeface="맑은 고딕"/>
              </a:defRPr>
            </a:pPr>
            <a:r>
              <a:t>구조체 간 참조 관계 — 화살표가 "가리킨다"를 의미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097280"/>
            <a:ext cx="3657600" cy="365760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15568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JTMS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554480"/>
            <a:ext cx="3657600" cy="4114800"/>
          </a:xfrm>
          <a:prstGeom prst="roundRect">
            <a:avLst/>
          </a:prstGeom>
          <a:solidFill>
            <a:srgbClr val="0C0F1C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 rIns="127000" bIns="762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D2FF"/>
                </a:solidFill>
                <a:latin typeface="Consolas"/>
              </a:defRPr>
            </a:pPr>
            <a:r>
              <a:t>  jtms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D2FF"/>
                </a:solidFill>
                <a:latin typeface="Consolas"/>
              </a:defRPr>
            </a:pPr>
            <a:r>
              <a:t>  ├── nodes[] ──────────► tms-node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D2FF"/>
                </a:solidFill>
                <a:latin typeface="Consolas"/>
              </a:defRPr>
            </a:pPr>
            <a:r>
              <a:t>  └── justs[] ──────────► just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D2FF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D2FF"/>
                </a:solidFill>
                <a:latin typeface="Consolas"/>
              </a:defRPr>
            </a:pPr>
            <a:r>
              <a:t>  tms-node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D2FF"/>
                </a:solidFill>
                <a:latin typeface="Consolas"/>
              </a:defRPr>
            </a:pPr>
            <a:r>
              <a:t>  ├── label: :IN / :OUT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D2FF"/>
                </a:solidFill>
                <a:latin typeface="Consolas"/>
              </a:defRPr>
            </a:pPr>
            <a:r>
              <a:t>  ├── support ──────────► just (1개)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D2FF"/>
                </a:solidFill>
                <a:latin typeface="Consolas"/>
              </a:defRPr>
            </a:pPr>
            <a:r>
              <a:t>  ├── justs[] ──────────► [just...]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D2FF"/>
                </a:solidFill>
                <a:latin typeface="Consolas"/>
              </a:defRPr>
            </a:pPr>
            <a:r>
              <a:t>  │   (이 노드가 결론인 정당화들)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D2FF"/>
                </a:solidFill>
                <a:latin typeface="Consolas"/>
              </a:defRPr>
            </a:pPr>
            <a:r>
              <a:t>  ├── consequences[] ──► [just...]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D2FF"/>
                </a:solidFill>
                <a:latin typeface="Consolas"/>
              </a:defRPr>
            </a:pPr>
            <a:r>
              <a:t>  │   (이 노드가 전제인 정당화들)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D2FF"/>
                </a:solidFill>
                <a:latin typeface="Consolas"/>
              </a:defRPr>
            </a:pPr>
            <a:r>
              <a:t>  └── jtms ─────────────► jtms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D2FF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D2FF"/>
                </a:solidFill>
                <a:latin typeface="Consolas"/>
              </a:defRPr>
            </a:pPr>
            <a:r>
              <a:t>  just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D2FF"/>
                </a:solidFill>
                <a:latin typeface="Consolas"/>
              </a:defRPr>
            </a:pPr>
            <a:r>
              <a:t>  ├── antecedents ──────► [tms-node...]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D2FF"/>
                </a:solidFill>
                <a:latin typeface="Consolas"/>
              </a:defRPr>
            </a:pPr>
            <a:r>
              <a:t>  └── consequence ──────► tms-node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D2FF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D2FF"/>
                </a:solidFill>
                <a:latin typeface="Consolas"/>
              </a:defRPr>
            </a:pPr>
            <a:r>
              <a:t>  ★ 양방향 참조로 IN→OUT 전파 가능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097280"/>
            <a:ext cx="3657600" cy="365760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115568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LTMS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554480"/>
            <a:ext cx="3657600" cy="4114800"/>
          </a:xfrm>
          <a:prstGeom prst="roundRect">
            <a:avLst/>
          </a:prstGeom>
          <a:solidFill>
            <a:srgbClr val="0C0F1C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 rIns="127000" bIns="762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ltms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├── nodes{} ─────────► tms-node (hash)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└── clauses[] ────────► clause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tms-node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├── label: :T / :F / :U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├── support ──────────► clause (1개)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├── true-clauses[] ──► [clause...]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│   (이 노드의 TRUE 리터럴이 있는 절)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├── false-clauses[] ─► [clause...]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│   (이 노드의 FALSE 리터럴이 있는 절)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└── ltms ─────────────► ltms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clause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└── literals ─────────► [(node . :T/F)...]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E696"/>
                </a:solidFill>
                <a:latin typeface="Consolas"/>
              </a:defRPr>
            </a:pPr>
            <a:r>
              <a:t>  ★ 노드↔절 양방향 참조로 BCP 구현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097280"/>
            <a:ext cx="3657600" cy="365760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115568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9F43"/>
                </a:solidFill>
                <a:latin typeface="맑은 고딕"/>
              </a:defRPr>
            </a:pPr>
            <a:r>
              <a:t>ATMS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554480"/>
            <a:ext cx="3657600" cy="4114800"/>
          </a:xfrm>
          <a:prstGeom prst="roundRect">
            <a:avLst/>
          </a:prstGeom>
          <a:solidFill>
            <a:srgbClr val="0C0F1C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 rIns="127000" bIns="762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F9F43"/>
                </a:solidFill>
                <a:latin typeface="Consolas"/>
              </a:defRPr>
            </a:pPr>
            <a:r>
              <a:t>  atms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F9F43"/>
                </a:solidFill>
                <a:latin typeface="Consolas"/>
              </a:defRPr>
            </a:pPr>
            <a:r>
              <a:t>  ├── nodes[] ──────────► tms-node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F9F43"/>
                </a:solidFill>
                <a:latin typeface="Consolas"/>
              </a:defRPr>
            </a:pPr>
            <a:r>
              <a:t>  ├── justs[] ──────────► just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F9F43"/>
                </a:solidFill>
                <a:latin typeface="Consolas"/>
              </a:defRPr>
            </a:pPr>
            <a:r>
              <a:t>  ├── env-table[[]] ───► env (버킷)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F9F43"/>
                </a:solidFill>
                <a:latin typeface="Consolas"/>
              </a:defRPr>
            </a:pPr>
            <a:r>
              <a:t>  └── nogood-table[[]] ► env (버킷)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F9F43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F9F43"/>
                </a:solidFill>
                <a:latin typeface="Consolas"/>
              </a:defRPr>
            </a:pPr>
            <a:r>
              <a:t>  tms-node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F9F43"/>
                </a:solidFill>
                <a:latin typeface="Consolas"/>
              </a:defRPr>
            </a:pPr>
            <a:r>
              <a:t>  ├── label ────────────► [env, env, ...]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F9F43"/>
                </a:solidFill>
                <a:latin typeface="Consolas"/>
              </a:defRPr>
            </a:pPr>
            <a:r>
              <a:t>  │   (최소 환경들의 집합!)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F9F43"/>
                </a:solidFill>
                <a:latin typeface="Consolas"/>
              </a:defRPr>
            </a:pPr>
            <a:r>
              <a:t>  ├── justs[] ──────────► [just...]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F9F43"/>
                </a:solidFill>
                <a:latin typeface="Consolas"/>
              </a:defRPr>
            </a:pPr>
            <a:r>
              <a:t>  ├── consequences[] ──► [just...]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F9F43"/>
                </a:solidFill>
                <a:latin typeface="Consolas"/>
              </a:defRPr>
            </a:pPr>
            <a:r>
              <a:t>  └── atms ─────────────► atms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F9F43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F9F43"/>
                </a:solidFill>
                <a:latin typeface="Consolas"/>
              </a:defRPr>
            </a:pPr>
            <a:r>
              <a:t>  just: antecedents ──► [node...]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F9F43"/>
                </a:solidFill>
                <a:latin typeface="Consolas"/>
              </a:defRPr>
            </a:pPr>
            <a:r>
              <a:t>        consequence ──► node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F9F43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F9F43"/>
                </a:solidFill>
                <a:latin typeface="Consolas"/>
              </a:defRPr>
            </a:pPr>
            <a:r>
              <a:t>  env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F9F43"/>
                </a:solidFill>
                <a:latin typeface="Consolas"/>
              </a:defRPr>
            </a:pPr>
            <a:r>
              <a:t>  ├── assumptions ──────► [node...]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F9F43"/>
                </a:solidFill>
                <a:latin typeface="Consolas"/>
              </a:defRPr>
            </a:pPr>
            <a:r>
              <a:t>  └── nodes ────────────► [node...]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F9F43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F9F43"/>
                </a:solidFill>
                <a:latin typeface="Consolas"/>
              </a:defRPr>
            </a:pPr>
            <a:r>
              <a:t>  ★ env가 node와 양방향 참조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5943600"/>
            <a:ext cx="11612880" cy="640080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A5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A55EFF"/>
                </a:solidFill>
                <a:latin typeface="맑은 고딕"/>
              </a:defRPr>
            </a:pPr>
            <a:r>
              <a:t>핵심 연결 패턴 차이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JTMS: node ↔ just (이분 그래프)    LTMS: node ↔ clause (이분 그래프)    ATMS: node ↔ just + node ↔ env (삼중 연결)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0D2FF"/>
                </a:solidFill>
                <a:latin typeface="맑은 고딕"/>
              </a:defRPr>
            </a:pPr>
            <a:r>
              <a:t>09  pvs 카운터 작동 원리 (LTMS 전용)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804672"/>
            <a:ext cx="2286000" cy="381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777799"/>
                </a:solidFill>
                <a:latin typeface="맑은 고딕"/>
              </a:defRPr>
            </a:pPr>
            <a:r>
              <a:t>Boolean Constraint Propagation의 핵심 메커니즘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47120" cy="640080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예제:  절 C1 = (A ∨ ¬B ∨ D)   "A가 참이거나, B가 거짓이거나, D가 참"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literals = [(A . :TRUE), (B . :FALSE), (D . :TRUE)]     length =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011680"/>
            <a:ext cx="2834640" cy="365760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029968"/>
            <a:ext cx="2834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BBBBCC"/>
                </a:solidFill>
                <a:latin typeface="맑은 고딕"/>
              </a:defRPr>
            </a:pPr>
            <a:r>
              <a:t>Step 1: 초기 상태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2468880"/>
            <a:ext cx="2743200" cy="914400"/>
          </a:xfrm>
          <a:prstGeom prst="roundRect">
            <a:avLst/>
          </a:prstGeom>
          <a:solidFill>
            <a:srgbClr val="0C0F1C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 rIns="127000" bIns="762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A = :UNKNOWN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B = :UNKNOWN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D = :UNKNOWN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474720"/>
            <a:ext cx="2743200" cy="502920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493008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E066"/>
                </a:solidFill>
                <a:latin typeface="Consolas"/>
              </a:defRPr>
            </a:pPr>
            <a:r>
              <a:t>pvs = 3</a:t>
            </a:r>
            <a:br/>
            <a:r>
              <a:t>sats =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069080"/>
            <a:ext cx="26517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3개 모두 미결정</a:t>
            </a:r>
            <a:br/>
            <a:r>
              <a:t>절 상태: 대기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2011680"/>
            <a:ext cx="2834640" cy="365760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2029968"/>
            <a:ext cx="2834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9F43"/>
                </a:solidFill>
                <a:latin typeface="맑은 고딕"/>
              </a:defRPr>
            </a:pPr>
            <a:r>
              <a:t>Step 2: B = :TRUE 설정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2468880"/>
            <a:ext cx="2743200" cy="914400"/>
          </a:xfrm>
          <a:prstGeom prst="roundRect">
            <a:avLst/>
          </a:prstGeom>
          <a:solidFill>
            <a:srgbClr val="0C0F1C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 rIns="127000" bIns="762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A = :UNKNOWN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B = :TRUE  ← 결정!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D = :UNKNOWN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3474720"/>
            <a:ext cx="2743200" cy="502920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3493008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E066"/>
                </a:solidFill>
                <a:latin typeface="Consolas"/>
              </a:defRPr>
            </a:pPr>
            <a:r>
              <a:t>pvs = 2  (3→2)</a:t>
            </a:r>
            <a:br/>
            <a:r>
              <a:t>sats =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4069080"/>
            <a:ext cx="26517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B.:FALSE 기대인데</a:t>
            </a:r>
            <a:br/>
            <a:r>
              <a:t>B가 :TRUE → 위반!</a:t>
            </a:r>
            <a:br/>
            <a:r>
              <a:t>pvs-- (불일치)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011680"/>
            <a:ext cx="2834640" cy="365760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2029968"/>
            <a:ext cx="2834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6B6B"/>
                </a:solidFill>
                <a:latin typeface="맑은 고딕"/>
              </a:defRPr>
            </a:pPr>
            <a:r>
              <a:t>Step 3: A = :FALSE 설정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2468880"/>
            <a:ext cx="2743200" cy="914400"/>
          </a:xfrm>
          <a:prstGeom prst="roundRect">
            <a:avLst/>
          </a:prstGeom>
          <a:solidFill>
            <a:srgbClr val="0C0F1C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 rIns="127000" bIns="762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A = :FALSE ← 결정!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B = :TRUE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D = :UNKNOWN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474720"/>
            <a:ext cx="2743200" cy="502920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493008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E066"/>
                </a:solidFill>
                <a:latin typeface="Consolas"/>
              </a:defRPr>
            </a:pPr>
            <a:r>
              <a:t>pvs = 1  (2→1)</a:t>
            </a:r>
            <a:br/>
            <a:r>
              <a:t>sats = 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069080"/>
            <a:ext cx="26517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A.:TRUE 기대인데</a:t>
            </a:r>
            <a:br/>
            <a:r>
              <a:t>A가 :FALSE → 위반!</a:t>
            </a:r>
            <a:br/>
            <a:r>
              <a:t>pvs-- → pvs=1!</a:t>
            </a:r>
            <a:br/>
            <a:r>
              <a:t>★ 단위전파 발동!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9720" y="2011680"/>
            <a:ext cx="2834640" cy="365760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9720" y="2029968"/>
            <a:ext cx="2834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0E696"/>
                </a:solidFill>
                <a:latin typeface="맑은 고딕"/>
              </a:defRPr>
            </a:pPr>
            <a:r>
              <a:t>Step 4: 단위전파 결과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35440" y="2468880"/>
            <a:ext cx="2743200" cy="914400"/>
          </a:xfrm>
          <a:prstGeom prst="roundRect">
            <a:avLst/>
          </a:prstGeom>
          <a:solidFill>
            <a:srgbClr val="0C0F1C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 rIns="127000" bIns="762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A = :FALSE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B = :TRUE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  <a:r>
              <a:t>D = :TRUE  ← 강제!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BBBBCC"/>
                </a:solidFill>
                <a:latin typeface="Consolas"/>
              </a:defRPr>
            </a:pPr>
          </a:p>
        </p:txBody>
      </p:sp>
      <p:sp>
        <p:nvSpPr>
          <p:cNvPr id="28" name="Rounded Rectangle 27"/>
          <p:cNvSpPr/>
          <p:nvPr/>
        </p:nvSpPr>
        <p:spPr>
          <a:xfrm>
            <a:off x="9235440" y="3474720"/>
            <a:ext cx="2743200" cy="502920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81160" y="3493008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E066"/>
                </a:solidFill>
                <a:latin typeface="Consolas"/>
              </a:defRPr>
            </a:pPr>
            <a:r>
              <a:t>pvs = 0</a:t>
            </a:r>
            <a:br/>
            <a:r>
              <a:t>sats = 1  (0→1)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4069080"/>
            <a:ext cx="26517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D만 남았으므로</a:t>
            </a:r>
            <a:br/>
            <a:r>
              <a:t>D = :TRUE 강제!</a:t>
            </a:r>
            <a:br/>
            <a:r>
              <a:t>(D.:TRUE 만족)</a:t>
            </a:r>
            <a:br/>
            <a:r>
              <a:t>절 C1 만족됨 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303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E066"/>
                </a:solidFill>
                <a:latin typeface="맑은 고딕"/>
              </a:defRPr>
            </a:pPr>
            <a:r>
              <a:t>★ pvs 카운터 규칙 정리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669280"/>
            <a:ext cx="3566160" cy="1005840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7150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Consolas"/>
              </a:defRPr>
            </a:pPr>
            <a:r>
              <a:t>pvs = 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571500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모순 발생!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080760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모든 리터럴 위반됨</a:t>
            </a:r>
            <a:br/>
            <a:r>
              <a:t>contradiction handler 호출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7680" y="5669280"/>
            <a:ext cx="3566160" cy="1005840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0" y="57150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Consolas"/>
              </a:defRPr>
            </a:pPr>
            <a:r>
              <a:t>pvs =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571500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단위 전파!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6080760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남은 1개 리터럴을 강제로 만족</a:t>
            </a:r>
            <a:br/>
            <a:r>
              <a:t>→ 해당 노드 값 결정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60" y="5669280"/>
            <a:ext cx="3566160" cy="1005840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777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0" y="57150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777799"/>
                </a:solidFill>
                <a:latin typeface="Consolas"/>
              </a:defRPr>
            </a:pPr>
            <a:r>
              <a:t>pvs ≥ 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571500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대기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6080760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아직 결정 불가</a:t>
            </a:r>
            <a:br/>
            <a:r>
              <a:t>다른 노드 결정 시 재검사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0D2FF"/>
                </a:solidFill>
                <a:latin typeface="맑은 고딕"/>
              </a:defRPr>
            </a:pPr>
            <a:r>
              <a:t>10  env 라벨 작동 원리 (ATMS 전용)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804672"/>
            <a:ext cx="2286000" cy="381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777799"/>
                </a:solidFill>
                <a:latin typeface="맑은 고딕"/>
              </a:defRPr>
            </a:pPr>
            <a:r>
              <a:t>환경 집합의 최소성(minimality) 유지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47120" cy="548640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예제: assume(A), assume(B), assume(C)   →   justify(J1, D, [A]),  justify(J2, D, [B])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920240"/>
            <a:ext cx="2834640" cy="365760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938528"/>
            <a:ext cx="2834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BBBBCC"/>
                </a:solidFill>
                <a:latin typeface="맑은 고딕"/>
              </a:defRPr>
            </a:pPr>
            <a:r>
              <a:t>Step 1: 가정 생성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2377440"/>
            <a:ext cx="2743200" cy="2194560"/>
          </a:xfrm>
          <a:prstGeom prst="roundRect">
            <a:avLst/>
          </a:prstGeom>
          <a:solidFill>
            <a:srgbClr val="0C0F1C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 rIns="127000" bIns="762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56E8E0"/>
                </a:solidFill>
                <a:latin typeface="Consolas"/>
              </a:defRPr>
            </a:pPr>
            <a:r>
              <a:t>assume(A)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56E8E0"/>
                </a:solidFill>
                <a:latin typeface="Consolas"/>
              </a:defRPr>
            </a:pPr>
            <a:r>
              <a:t>assume(B)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56E8E0"/>
                </a:solidFill>
                <a:latin typeface="Consolas"/>
              </a:defRPr>
            </a:pPr>
            <a:r>
              <a:t>assume(C)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56E8E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56E8E0"/>
                </a:solidFill>
                <a:latin typeface="Consolas"/>
              </a:defRPr>
            </a:pPr>
            <a:r>
              <a:t>A.label = [{A}]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56E8E0"/>
                </a:solidFill>
                <a:latin typeface="Consolas"/>
              </a:defRPr>
            </a:pPr>
            <a:r>
              <a:t>B.label = [{B}]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56E8E0"/>
                </a:solidFill>
                <a:latin typeface="Consolas"/>
              </a:defRPr>
            </a:pPr>
            <a:r>
              <a:t>C.label = [{C}]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663440"/>
            <a:ext cx="2651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각 가정 노드는 자기 자신만</a:t>
            </a:r>
            <a:br/>
            <a:r>
              <a:t>포함하는 환경을 label로 가짐</a:t>
            </a:r>
            <a:br/>
            <a:br/>
            <a:r>
              <a:t>"A는 A를 가정하면 참"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920240"/>
            <a:ext cx="2834640" cy="365760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938528"/>
            <a:ext cx="2834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Step 2: J1: A → 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2377440"/>
            <a:ext cx="2743200" cy="2194560"/>
          </a:xfrm>
          <a:prstGeom prst="roundRect">
            <a:avLst/>
          </a:prstGeom>
          <a:solidFill>
            <a:srgbClr val="0C0F1C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 rIns="127000" bIns="762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D2FF"/>
                </a:solidFill>
                <a:latin typeface="Consolas"/>
              </a:defRPr>
            </a:pPr>
            <a:r>
              <a:t>justify(J1, D, [A])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D2FF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D2FF"/>
                </a:solidFill>
                <a:latin typeface="Consolas"/>
              </a:defRPr>
            </a:pPr>
            <a:r>
              <a:t>weave 계산: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D2FF"/>
                </a:solidFill>
                <a:latin typeface="Consolas"/>
              </a:defRPr>
            </a:pPr>
            <a:r>
              <a:t>  antecedents = [A]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D2FF"/>
                </a:solidFill>
                <a:latin typeface="Consolas"/>
              </a:defRPr>
            </a:pPr>
            <a:r>
              <a:t>  A.label = [{A}]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D2FF"/>
                </a:solidFill>
                <a:latin typeface="Consolas"/>
              </a:defRPr>
            </a:pPr>
            <a:r>
              <a:t>  → 교차곱 = [{A}]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D2FF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0D2FF"/>
                </a:solidFill>
                <a:latin typeface="Consolas"/>
              </a:defRPr>
            </a:pPr>
            <a:r>
              <a:t>D.label = [{A}]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4663440"/>
            <a:ext cx="2651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전제들의 label 교차곱으로</a:t>
            </a:r>
            <a:br/>
            <a:r>
              <a:t>결론의 환경을 계산</a:t>
            </a:r>
            <a:br/>
            <a:br/>
            <a:r>
              <a:t>"A를 가정하면 D가 참"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920240"/>
            <a:ext cx="2834640" cy="365760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938528"/>
            <a:ext cx="2834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9F43"/>
                </a:solidFill>
                <a:latin typeface="맑은 고딕"/>
              </a:defRPr>
            </a:pPr>
            <a:r>
              <a:t>Step 3: J2: B → 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377440"/>
            <a:ext cx="2743200" cy="2194560"/>
          </a:xfrm>
          <a:prstGeom prst="roundRect">
            <a:avLst/>
          </a:prstGeom>
          <a:solidFill>
            <a:srgbClr val="0C0F1C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 rIns="127000" bIns="762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F9F43"/>
                </a:solidFill>
                <a:latin typeface="Consolas"/>
              </a:defRPr>
            </a:pPr>
            <a:r>
              <a:t>justify(J2, D, [B])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F9F43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F9F43"/>
                </a:solidFill>
                <a:latin typeface="Consolas"/>
              </a:defRPr>
            </a:pPr>
            <a:r>
              <a:t>weave 계산: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F9F43"/>
                </a:solidFill>
                <a:latin typeface="Consolas"/>
              </a:defRPr>
            </a:pPr>
            <a:r>
              <a:t>  antecedents = [B]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F9F43"/>
                </a:solidFill>
                <a:latin typeface="Consolas"/>
              </a:defRPr>
            </a:pPr>
            <a:r>
              <a:t>  B.label = [{B}]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F9F43"/>
                </a:solidFill>
                <a:latin typeface="Consolas"/>
              </a:defRPr>
            </a:pPr>
            <a:r>
              <a:t>  → 교차곱 = [{B}]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F9F43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FF9F43"/>
                </a:solidFill>
                <a:latin typeface="Consolas"/>
              </a:defRPr>
            </a:pPr>
            <a:r>
              <a:t>D.label = [{A}, {B}]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663440"/>
            <a:ext cx="2651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기존 label에 새 환경 추가</a:t>
            </a:r>
            <a:br/>
            <a:br/>
            <a:r>
              <a:t>"A를 가정해도 D가 참,</a:t>
            </a:r>
            <a:br/>
            <a:r>
              <a:t> B를 가정해도 D가 참"</a:t>
            </a:r>
            <a:br/>
            <a:br/>
            <a:r>
              <a:t>두 독립 경로 동시 기록!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920240"/>
            <a:ext cx="2834640" cy="365760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A5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1938528"/>
            <a:ext cx="2834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A55EFF"/>
                </a:solidFill>
                <a:latin typeface="맑은 고딕"/>
              </a:defRPr>
            </a:pPr>
            <a:r>
              <a:t>Step 4: 최소성 유지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2377440"/>
            <a:ext cx="2743200" cy="2194560"/>
          </a:xfrm>
          <a:prstGeom prst="roundRect">
            <a:avLst/>
          </a:prstGeom>
          <a:solidFill>
            <a:srgbClr val="0C0F1C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 rIns="127000" bIns="762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5EFF"/>
                </a:solidFill>
                <a:latin typeface="Consolas"/>
              </a:defRPr>
            </a:pPr>
            <a:r>
              <a:t>만약 J3: A,B → D 추가하면?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5EFF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5EFF"/>
                </a:solidFill>
                <a:latin typeface="Consolas"/>
              </a:defRPr>
            </a:pPr>
            <a:r>
              <a:t>weave = [{A,B}]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5EFF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5EFF"/>
                </a:solidFill>
                <a:latin typeface="Consolas"/>
              </a:defRPr>
            </a:pPr>
            <a:r>
              <a:t>{A,B}는 {A}의 상위집합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5EFF"/>
                </a:solidFill>
                <a:latin typeface="Consolas"/>
              </a:defRPr>
            </a:pPr>
            <a:r>
              <a:t>{A,B}는 {B}의 상위집합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5EFF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5EFF"/>
                </a:solidFill>
                <a:latin typeface="Consolas"/>
              </a:defRPr>
            </a:pPr>
            <a:r>
              <a:t>D.label = [{A}, {B}]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A55EFF"/>
                </a:solidFill>
                <a:latin typeface="Consolas"/>
              </a:defRPr>
            </a:pPr>
            <a:r>
              <a:t>  ({A,B}는 제거됨!)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4663440"/>
            <a:ext cx="2651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최소성(minimality) 규칙:</a:t>
            </a:r>
            <a:br/>
            <a:br/>
            <a:r>
              <a:t>이미 더 작은 환경이 있으면</a:t>
            </a:r>
            <a:br/>
            <a:r>
              <a:t>상위집합은 추가하지 않음</a:t>
            </a:r>
            <a:br/>
            <a:br/>
            <a:r>
              <a:t>"A만으로 충분한데</a:t>
            </a:r>
            <a:br/>
            <a:r>
              <a:t> A+B를 기록할 필요 없다"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0350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맑은 고딕"/>
              </a:defRPr>
            </a:pPr>
            <a:r>
              <a:t>★ nogood 처리 — 환경이 모순될 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400800"/>
            <a:ext cx="11247120" cy="320040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6419088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{A,C}가 nogood → {A,C}.nogood?=just   →   {A,C}를 포함하는 모든 상위집합({A,B,C} 등)도 자동 nogood   →   모든 노드 label에서 제거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0D2FF"/>
                </a:solidFill>
                <a:latin typeface="맑은 고딕"/>
              </a:defRPr>
            </a:pPr>
            <a:r>
              <a:t>11  설계 철학 요약 — 한눈에 보는 종합 비교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804672"/>
            <a:ext cx="2286000" cy="381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017520" y="1097280"/>
            <a:ext cx="2926080" cy="384048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17520" y="1097280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JTMS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79" y="1097280"/>
            <a:ext cx="2926080" cy="384048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79" y="1097280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LTMS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1097280"/>
            <a:ext cx="2926080" cy="384048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0" y="1097280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9F43"/>
                </a:solidFill>
                <a:latin typeface="맑은 고딕"/>
              </a:defRPr>
            </a:pPr>
            <a:r>
              <a:t>ATMS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572768"/>
            <a:ext cx="2560320" cy="50292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91056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구조체 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1572768"/>
            <a:ext cx="2926080" cy="50292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1591056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3개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79" y="1572768"/>
            <a:ext cx="2926080" cy="50292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19" y="1591056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3개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572768"/>
            <a:ext cx="2926080" cy="50292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1591056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4개 (env 추가)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2112264"/>
            <a:ext cx="2560320" cy="50292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130552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추론 단위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17520" y="2112264"/>
            <a:ext cx="2926080" cy="50292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8960" y="2130552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just (전제→결론)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79" y="2112264"/>
            <a:ext cx="2926080" cy="50292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19" y="2130552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clause (리터럴의 OR)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2112264"/>
            <a:ext cx="2926080" cy="50292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2130552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just + env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2651760"/>
            <a:ext cx="2560320" cy="50292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670048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노드 label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17520" y="2651760"/>
            <a:ext cx="2926080" cy="50292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08960" y="2670048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:IN | :OUT (2값)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79" y="2651760"/>
            <a:ext cx="2926080" cy="50292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19" y="2670048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:TRUE|:FALSE|:UNKNOWN (3값)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2651760"/>
            <a:ext cx="2926080" cy="50292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0" y="2670048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[env...] (환경 집합)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" y="3191256"/>
            <a:ext cx="2560320" cy="50292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3209544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노드 support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017520" y="3191256"/>
            <a:ext cx="2926080" cy="50292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08960" y="3209544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→ just (1개)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79" y="3191256"/>
            <a:ext cx="2926080" cy="50292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19" y="3209544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→ clause (1개)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35440" y="3191256"/>
            <a:ext cx="2926080" cy="50292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26880" y="3209544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없음 (label이 근거)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3730752"/>
            <a:ext cx="2560320" cy="64008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3749040"/>
            <a:ext cx="2377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그래프 구조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017520" y="3730752"/>
            <a:ext cx="2926080" cy="64008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08960" y="3749040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node ↔ just</a:t>
            </a:r>
            <a:br/>
            <a:r>
              <a:t>(이분 그래프)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26479" y="3730752"/>
            <a:ext cx="2926080" cy="64008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17919" y="3749040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node ↔ clause</a:t>
            </a:r>
            <a:br/>
            <a:r>
              <a:t>(이분 그래프)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235440" y="3730752"/>
            <a:ext cx="2926080" cy="64008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0" y="3749040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node ↔ just</a:t>
            </a:r>
            <a:br/>
            <a:r>
              <a:t>+ node ↔ env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4320" y="4407408"/>
            <a:ext cx="2560320" cy="64008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4425696"/>
            <a:ext cx="2377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핵심 카운터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017520" y="4407408"/>
            <a:ext cx="2926080" cy="64008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108960" y="4425696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없음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26479" y="4407408"/>
            <a:ext cx="2926080" cy="64008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17919" y="4425696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pvs / sats</a:t>
            </a:r>
            <a:br/>
            <a:r>
              <a:t>(BCP 최적화)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35440" y="4407408"/>
            <a:ext cx="2926080" cy="64008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6880" y="4425696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env.count</a:t>
            </a:r>
            <a:br/>
            <a:r>
              <a:t>(버킷팅 최적화)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74320" y="5084064"/>
            <a:ext cx="2560320" cy="64008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60" y="5102352"/>
            <a:ext cx="2377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메모리 특성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017520" y="5084064"/>
            <a:ext cx="2926080" cy="64008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108960" y="5102352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가장 가벼움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26479" y="5084064"/>
            <a:ext cx="2926080" cy="64008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17919" y="5102352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중간</a:t>
            </a:r>
            <a:br/>
            <a:r>
              <a:t>(리터럴 캐시 추가)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235440" y="5084064"/>
            <a:ext cx="2926080" cy="64008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326880" y="5102352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가장 무거움</a:t>
            </a:r>
            <a:br/>
            <a:r>
              <a:t>(env 테이블)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74320" y="5760720"/>
            <a:ext cx="2560320" cy="64008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5760" y="5779008"/>
            <a:ext cx="2377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규칙 트리거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017520" y="5760720"/>
            <a:ext cx="2926080" cy="64008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108960" y="5779008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in-rules</a:t>
            </a:r>
            <a:br/>
            <a:r>
              <a:t>out-rules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126479" y="5760720"/>
            <a:ext cx="2926080" cy="64008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217919" y="5779008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true-rules</a:t>
            </a:r>
            <a:br/>
            <a:r>
              <a:t>false-rules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235440" y="5760720"/>
            <a:ext cx="2926080" cy="640080"/>
          </a:xfrm>
          <a:prstGeom prst="roundRect">
            <a:avLst/>
          </a:prstGeom>
          <a:solidFill>
            <a:srgbClr val="151930"/>
          </a:solidFill>
          <a:ln w="19050">
            <a:solidFill>
              <a:srgbClr val="2A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326880" y="5779008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rules (하나)</a:t>
            </a:r>
            <a:br/>
            <a:r>
              <a:t>∅→비∅ 전환 시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74320" y="6263640"/>
            <a:ext cx="11612880" cy="411480"/>
          </a:xfrm>
          <a:prstGeom prst="roundRect">
            <a:avLst/>
          </a:prstGeom>
          <a:solidFill>
            <a:srgbClr val="1A1F3A"/>
          </a:solidFill>
          <a:ln w="19050">
            <a:solidFill>
              <a:srgbClr val="A5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7200" y="6291072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JTMS는 가장 단순 (3 struct)  |  LTMS는 pvs 카운터가 핵심  |  ATMS는 env 구조체가 모든 것을 바꾼다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8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200" b="1">
                <a:solidFill>
                  <a:srgbClr val="00D2FF"/>
                </a:solidFill>
                <a:latin typeface="맑은 고딕"/>
              </a:defRPr>
            </a:pPr>
            <a:r>
              <a:t>핵심 정리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2286000"/>
            <a:ext cx="3931920" cy="25400"/>
          </a:xfrm>
          <a:prstGeom prst="roundRect">
            <a:avLst/>
          </a:prstGeom>
          <a:solidFill>
            <a:srgbClr val="777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7432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label 필드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7432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맑은 고딕"/>
              </a:defRPr>
            </a:pPr>
            <a:r>
              <a:t>가 세 시스템의 정체성을 결정한다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15468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  JTMS: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31546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맑은 고딕"/>
              </a:defRPr>
            </a:pPr>
            <a:r>
              <a:t>  :IN/:OUT → 단일 시나리오, 순방향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5661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  LTMS: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35661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맑은 고딕"/>
              </a:defRPr>
            </a:pPr>
            <a:r>
              <a:t>  :T/:F/:U → 단일 시나리오, 양방향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977639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FF9F43"/>
                </a:solidFill>
                <a:latin typeface="맑은 고딕"/>
              </a:defRPr>
            </a:pPr>
            <a:r>
              <a:t>  ATMS: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977639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맑은 고딕"/>
              </a:defRPr>
            </a:pPr>
            <a:r>
              <a:t>  [env...] → 다중 시나리오, 동시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43891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777799"/>
                </a:solidFill>
                <a:latin typeface="맑은 고딕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5486400" y="43891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맑은 고딕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2286000" y="48006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FFE066"/>
                </a:solidFill>
                <a:latin typeface="맑은 고딕"/>
              </a:defRPr>
            </a:pPr>
            <a:r>
              <a:t>LTMS의 pvs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48006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맑은 고딕"/>
              </a:defRPr>
            </a:pPr>
            <a:r>
              <a:t> 카운터 = O(1) 전파 결정의 핵심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521208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1">
                <a:solidFill>
                  <a:srgbClr val="FF9F43"/>
                </a:solidFill>
                <a:latin typeface="맑은 고딕"/>
              </a:defRPr>
            </a:pPr>
            <a:r>
              <a:t>ATMS의 env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52120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맑은 고딕"/>
              </a:defRPr>
            </a:pPr>
            <a:r>
              <a:t> 구조체 = 다중 세계 동시 관리의 핵심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자료구조를 이해하면, 알고리즘은 자연스럽게 따라온다.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400800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777799"/>
                </a:solidFill>
                <a:latin typeface="맑은 고딕"/>
              </a:defRPr>
            </a:pPr>
            <a:r>
              <a:t>Building Problem Solvers  |  Forbus &amp; de Kleer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