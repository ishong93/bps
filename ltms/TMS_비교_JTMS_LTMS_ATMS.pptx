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8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JTMS  vs  LTMS  vs  ATMS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BBCC"/>
                </a:solidFill>
                <a:latin typeface="맑은 고딕"/>
              </a:defRPr>
            </a:pPr>
            <a:r>
              <a:t>세 가지 진리 유지 시스템의 구조와 원리 비교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3291840"/>
            <a:ext cx="3931920" cy="25400"/>
          </a:xfrm>
          <a:prstGeom prst="round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3840480"/>
            <a:ext cx="2743200" cy="10972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맑은 고딕"/>
              </a:defRPr>
            </a:pPr>
            <a:r>
              <a:t>JTMS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Justification-based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3840480"/>
            <a:ext cx="2743200" cy="10972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696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Logic-based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840480"/>
            <a:ext cx="2743200" cy="10972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F43"/>
                </a:solidFill>
                <a:latin typeface="맑은 고딕"/>
              </a:defRPr>
            </a:pPr>
            <a:r>
              <a:t>ATMS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Assumption-based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맑은 고딕"/>
              </a:defRPr>
            </a:pPr>
            <a:r>
              <a:t>Building Problem Solvers  |  Forbus &amp; de Kleer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  목차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7772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447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17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TMS란 무엇인가?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83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세 시스템의 공통 기반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029200" cy="7772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447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417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핵심 차이: 진리값 표현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783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IN/OUT vs TRUE/FALSE/UNKNOWN vs 환경 집합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86000"/>
            <a:ext cx="5029200" cy="7772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591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자료구조 비교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Node, Justification, Clause, Environment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86000"/>
            <a:ext cx="5029200" cy="7772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3591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알고리즘 비교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전파, 철회, 모순 처리 방식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00400"/>
            <a:ext cx="5029200" cy="7772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73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246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예제: 같은 문제, 세 가지 풀이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611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A→D, B→D를 각 시스템으로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200400"/>
            <a:ext cx="5029200" cy="7772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273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246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가정 관리 비교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611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설정, 철회, 비용 차이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114800"/>
            <a:ext cx="5029200" cy="7772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1879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160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추론 능력 스펙트럼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526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단방향 → 양방향 → 다중 시나리오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114800"/>
            <a:ext cx="5029200" cy="7772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1879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160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장단점 및 적용 분야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526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언제 어떤 TMS를 쓸 것인가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029200"/>
            <a:ext cx="5029200" cy="7772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102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074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코드 구조 대응표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440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파일 레벨 매핑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029200"/>
            <a:ext cx="5029200" cy="7772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5102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074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요약 및 핵심 정리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5440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한눈에 보는 비교표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01  TMS란 무엇인가?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10972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TMS = Truth Maintenance System (진리 유지 시스템)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t>추론 시스템에서 '무엇이 참인지'를 일관성 있게 관리하는 하위 시스템.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t>가정이 바뀌면 결론도 자동으로 업데이트하고, 모순이 발생하면 원인을 추적한다.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세 시스템의 공통 구성 요소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2651760" cy="15544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노드 (Node)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명제/사실을 표현</a:t>
            </a:r>
            <a:br/>
            <a:r>
              <a:t>참/거짓 상태를 가짐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200400"/>
            <a:ext cx="2651760" cy="15544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3291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정당화 (Justification)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794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"전제들이 참이면</a:t>
            </a:r>
            <a:br/>
            <a:r>
              <a:t>결론도 참" 관계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00400"/>
            <a:ext cx="2651760" cy="15544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291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F43"/>
                </a:solidFill>
                <a:latin typeface="맑은 고딕"/>
              </a:defRPr>
            </a:pPr>
            <a:r>
              <a:t>가정 (Assumption)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794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참이라고 가정한 명제</a:t>
            </a:r>
            <a:br/>
            <a:r>
              <a:t>나중에 철회 가능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3200400"/>
            <a:ext cx="2651760" cy="15544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3291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6B"/>
                </a:solidFill>
                <a:latin typeface="맑은 고딕"/>
              </a:defRPr>
            </a:pPr>
            <a:r>
              <a:t>모순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794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일관성 없는 상태를</a:t>
            </a:r>
            <a:br/>
            <a:r>
              <a:t>감지하고 해결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47120" cy="118872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A5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A55EFF"/>
                </a:solidFill>
                <a:latin typeface="맑은 고딕"/>
              </a:defRPr>
            </a:pPr>
            <a:r>
              <a:t>핵심 차이: '진리값을 어떻게 표현하고 관리하느냐'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JTMS: 노드 상태 IN/OUT 하나  |  LTMS: 3값 논리 + CNF 절  |  ATMS: 환경 집합으로 모든 시나리오 동시 관리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02  핵심 차이 — 진리값 표현 방식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566160" cy="27432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JTMS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383280" cy="219456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label = :IN 또는 :OUT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support = 하나의 just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또는 :ENABLED-ASSUMPTION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▶ 2값 논리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▶ 한 번에 하나의 시나리오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▶ 다른 가정 시험하려면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철회 → 재설정 필요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예: node-A.label = :IN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node-B.label = :OUT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566160" cy="27432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3533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219456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label = :TRUE | :FALSE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| :UNKNOWN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support = 하나의 clause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▶ 3값 논리 (:UNKNOWN 추가)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▶ 한 번에 하나의 시나리오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▶ CNF 절 기반 양방향 추론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▶ pvs 카운터로 효율적 전파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예: node-x.label = :FALSE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node-y.label = :UNKNOWN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566160" cy="27432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3533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43"/>
                </a:solidFill>
                <a:latin typeface="맑은 고딕"/>
              </a:defRPr>
            </a:pPr>
            <a:r>
              <a:t>ATMS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737360"/>
            <a:ext cx="3383280" cy="219456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label = [env1, env2, 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각 env = {가정 노드 집합}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▶ 환경(environment) 집합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▶ 모든 시나리오를 동시 관리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▶ 컨텍스트 전환 불필요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▶ 최소성(minimality) 유지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예: D.label = [{A}, {B}]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"A만으로도, B만으로도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D가 참이 된다"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11247120" cy="20116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비유로 이해하기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JTMS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손전등 하나로</a:t>
            </a:r>
            <a:br/>
            <a:r>
              <a:t>방 하나씩 비추기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846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3035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더 밝은 손전등으로</a:t>
            </a:r>
            <a:br/>
            <a:r>
              <a:t>앞뒤 모두 비추기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846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F43"/>
                </a:solidFill>
                <a:latin typeface="맑은 고딕"/>
              </a:defRPr>
            </a:pPr>
            <a:r>
              <a:t>ATMS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3035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모든 방에 조명을</a:t>
            </a:r>
            <a:br/>
            <a:r>
              <a:t>동시에 켜놓기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03  자료구조 비교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29260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JTMS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383280" cy="237744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tms-node: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index, datum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label: :IN | :OUT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support: just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justs: [가능한 정당화들]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consequences: [의존 just]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assumption?, contradictory?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just (정당화):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antecedents → consequence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"전제가 모두 :IN이면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결론도 :IN"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566160" cy="29260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237744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tms-node: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index, datum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label: :TRUE|:FALSE|:UNKNOWN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support: clause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true-clauses / false-clauses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assumption?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clause (CNF 절):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literals: [(n . :TRUE)...]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pvs: 미결정 리터럴 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0 → 모순!  1 → 단위전파!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sats: 만족 리터럴 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566160" cy="29260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43"/>
                </a:solidFill>
                <a:latin typeface="맑은 고딕"/>
              </a:defRPr>
            </a:pPr>
            <a:r>
              <a:t>ATMS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383280" cy="237744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tms-node: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index, datum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label: [env1, env2, 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← 최소 환경들의 집합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justs / consequences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assumption?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env (환경):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assumptions: [A1, A3, 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nogood?: nil | just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nodes: [이 env에서 참인 것들]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← 구조적 공유로 메모리 절약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11247120" cy="18288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A5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A55EFF"/>
                </a:solidFill>
                <a:latin typeface="맑은 고딕"/>
              </a:defRPr>
            </a:pPr>
            <a:r>
              <a:t>핵심 자료구조 차이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JTMS:  justification(정당화) = 전제 → 결론 관계. 순방향 그래프.</a:t>
            </a:r>
          </a:p>
          <a:p>
            <a:pPr algn="l">
              <a:spcAft>
                <a:spcPts val="300"/>
              </a:spcAft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LTMS:  clause(절) = CNF 리터럴의 OR. pvs 카운터가 핵심 최적화.</a:t>
            </a:r>
          </a:p>
          <a:p>
            <a:pPr algn="l">
              <a:spcAft>
                <a:spcPts val="300"/>
              </a:spcAft>
              <a:defRPr sz="1400" b="1">
                <a:solidFill>
                  <a:srgbClr val="FF9F43"/>
                </a:solidFill>
                <a:latin typeface="맑은 고딕"/>
              </a:defRPr>
            </a:pPr>
            <a:r>
              <a:t>ATMS:  environment(환경) = 가정들의 조합. label이 환경 집합.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400" b="0">
                <a:solidFill>
                  <a:srgbClr val="8888AA"/>
                </a:solidFill>
                <a:latin typeface="맑은 고딕"/>
              </a:defRPr>
            </a:pPr>
            <a:r>
              <a:t>JTMS/ATMS는 justification 구조가 동일. LTMS만 clause(절) 기반으로 다름.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04  알고리즘 비교 — 전파 · 철회 · 모순 처리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23774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JTMS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전파: propagate-inness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순방향만 (IN→IN)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전제가 모두 :IN → 결론 :IN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200" b="1">
                <a:solidFill>
                  <a:srgbClr val="FF6B6B"/>
                </a:solidFill>
                <a:latin typeface="맑은 고딕"/>
              </a:defRPr>
            </a:pPr>
            <a:r>
              <a:t>철회: propagate-outness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→ 의존 노드 :OUT 전파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→ find-alternative-support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AA"/>
                </a:solidFill>
                <a:latin typeface="맑은 고딕"/>
              </a:defRPr>
            </a:pPr>
            <a:r>
              <a:t>  (다른 정당화 탐색)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200" b="1">
                <a:solidFill>
                  <a:srgbClr val="FF9F43"/>
                </a:solidFill>
                <a:latin typeface="맑은 고딕"/>
              </a:defRPr>
            </a:pPr>
            <a:r>
              <a:t>모순: contradiction 노드 :IN 시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→ 핸들러 호출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566160" cy="23774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645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전파: BCP (check-clauses)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양방향 (TRUE↔FALSE)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pvs=1 → 단위 전파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200" b="1">
                <a:solidFill>
                  <a:srgbClr val="FF6B6B"/>
                </a:solidFill>
                <a:latin typeface="맑은 고딕"/>
              </a:defRPr>
            </a:pPr>
            <a:r>
              <a:t>철회: propagate-unknownness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→ 의존 노드 :UNKNOWN 전파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→ 재전파로 새 안정 상태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AA"/>
                </a:solidFill>
                <a:latin typeface="맑은 고딕"/>
              </a:defRPr>
            </a:pPr>
            <a:r>
              <a:t>  (다른 근거 있으면 유지)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200" b="1">
                <a:solidFill>
                  <a:srgbClr val="FF9F43"/>
                </a:solidFill>
                <a:latin typeface="맑은 고딕"/>
              </a:defRPr>
            </a:pPr>
            <a:r>
              <a:t>모순: pvs = 0 감지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→ 핸들러 / nogood 학습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566160" cy="23774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43"/>
                </a:solidFill>
                <a:latin typeface="맑은 고딕"/>
              </a:defRPr>
            </a:pPr>
            <a:r>
              <a:t>ATMS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FF9F43"/>
                </a:solidFill>
                <a:latin typeface="맑은 고딕"/>
              </a:defRPr>
            </a:pPr>
            <a:r>
              <a:t>전파: weave + update-label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환경 교차곱 계산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최소성 필터링 유지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철회: 필요 없음!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→ 환경을 nogood 표시만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→ 라벨에서 자동 제거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AA"/>
                </a:solidFill>
                <a:latin typeface="맑은 고딕"/>
              </a:defRPr>
            </a:pPr>
            <a:r>
              <a:t>  (재계산 비용 O(1))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200" b="1">
                <a:solidFill>
                  <a:srgbClr val="FF9F43"/>
                </a:solidFill>
                <a:latin typeface="맑은 고딕"/>
              </a:defRPr>
            </a:pPr>
            <a:r>
              <a:t>모순: env.nogood 설정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→ 상위집합도 자동 nogood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전파 흐름 비교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3657600" cy="228600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JTMS: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enable(A)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→ A = :IN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→ just(A→D) 검사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A가 :IN? → D = :IN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→ just(D→G) 검사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D가 :IN? → G = :IN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→ 순방향 연쇄만 가능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206240"/>
            <a:ext cx="3657600" cy="228600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LTMS: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enable(x, :FALSE)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→ 절(x∨y)의 pvs: 2→1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→ 단위전파: y = :TRUE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→ 절(¬y∨z)의 pvs: 2→1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→ 단위전파: z = :TRUE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→ 양방향(TRUE/FALSE) 전파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→ Resolution으로 완전 추론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206240"/>
            <a:ext cx="3657600" cy="228600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ATMS: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justify(J1, D, [A])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→ weave: [{A}]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→ D.label = [{A}]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justify(J2, D, [B])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→ weave: [{B}]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→ D.label = [{A},{B}]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→ 모든 경로 동시 기록!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05  예제: 같은 문제를 세 시스템으로 풀기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82296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A5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문제:  "A이면 D이다. B이면 D이다. A와 B 중 어느 것이 참인지 확인하라."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규칙:  A → D,  B → D    |    가정 후보: A, 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3566160" cy="41148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JTMS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3383280" cy="356616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시도 1: enable(A)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→ A = :IN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→ just(A→D) 만족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→ D = :IN ✓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→ 탐색 계속...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시도 2: retract(A)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→ A = :OUT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→ D = :OUT (지지 상실)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→ propagate-outness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→ enable(B)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→ B = :IN → D = :IN ✓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※ 시나리오마다 철회+재전파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비용이 발생함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286000"/>
            <a:ext cx="3566160" cy="41148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359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3383280" cy="356616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절 추가: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¬A ∨ D  (A이면 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¬B ∨ D  (B이면 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시도 1: enable(A, :TRUE)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→ ¬A = FALSE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→ 절(¬A∨D) pvs=1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→ 단위전파: D = :TRUE ✓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시도 2: retract(A)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→ D = :UNKNOWN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→ enable(B, :TRUE)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→ 재전파: D = :TRUE ✓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※ 양방향이라 추론력 더 강함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286000"/>
            <a:ext cx="3566160" cy="41148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359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43"/>
                </a:solidFill>
                <a:latin typeface="맑은 고딕"/>
              </a:defRPr>
            </a:pPr>
            <a:r>
              <a:t>ATMS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743200"/>
            <a:ext cx="3383280" cy="356616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assume(A)  A.label=[{A}]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assume(B)  B.label=[{B}]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justify(J1, D, [A])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→ D.label = [{A}]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justify(J2, D, [B])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→ D.label = [{A}, {B}]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끝! 한 번에 완료.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"D는 A만 가정해도 참,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B만 가정해도 참"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※ 철회/재계산 필요 없음!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06  가정 관리 비교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651760" cy="4114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07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888AA"/>
                </a:solidFill>
                <a:latin typeface="맑은 고딕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3337560" y="1280160"/>
            <a:ext cx="2651760" cy="4114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307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JTMS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2651760" cy="4114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307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280160"/>
            <a:ext cx="2651760" cy="4114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307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F43"/>
                </a:solidFill>
                <a:latin typeface="맑은 고딕"/>
              </a:defRPr>
            </a:pPr>
            <a:r>
              <a:t>ATMS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28800"/>
            <a:ext cx="2651760" cy="105156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202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가정 설정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828800"/>
            <a:ext cx="2651760" cy="105156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90195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enable-assumption</a:t>
            </a:r>
            <a:br/>
            <a:r>
              <a:t>→ 노드 :IN으로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2651760" cy="105156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90195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enable-assumption</a:t>
            </a:r>
            <a:br/>
            <a:r>
              <a:t>(node, :TRUE/:FALSE)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828800"/>
            <a:ext cx="2651760" cy="105156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90195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노드 생성 시 자동</a:t>
            </a:r>
            <a:br/>
            <a:r>
              <a:t>(assumptionp 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17520"/>
            <a:ext cx="2651760" cy="105156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1089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가정 철회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3017520"/>
            <a:ext cx="2651760" cy="105156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309067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retract-assumption</a:t>
            </a:r>
            <a:br/>
            <a:r>
              <a:t>→ OUT 전파</a:t>
            </a:r>
            <a:br/>
            <a:r>
              <a:t>→ 대안 지지 탐색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017520"/>
            <a:ext cx="2651760" cy="105156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09067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retract-assumption</a:t>
            </a:r>
            <a:br/>
            <a:r>
              <a:t>→ UNKNOWN 전파</a:t>
            </a:r>
            <a:br/>
            <a:r>
              <a:t>→ 재전파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3017520"/>
            <a:ext cx="2651760" cy="105156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309067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철회 개념 없음</a:t>
            </a:r>
            <a:br/>
            <a:r>
              <a:t>nogood만 추가</a:t>
            </a:r>
            <a:br/>
            <a:r>
              <a:t>→ 라벨에서 제거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06240"/>
            <a:ext cx="2651760" cy="105156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2976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철회 비용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4206240"/>
            <a:ext cx="2651760" cy="105156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427939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비쌈</a:t>
            </a:r>
            <a:br/>
            <a:r>
              <a:t>(재계산 필요)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206240"/>
            <a:ext cx="2651760" cy="105156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27939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비쌈</a:t>
            </a:r>
            <a:br/>
            <a:r>
              <a:t>(재계산 필요)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4206240"/>
            <a:ext cx="2651760" cy="105156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427939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  <a:br/>
            <a:r>
              <a:t>(환경 표시만)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94960"/>
            <a:ext cx="2651760" cy="105156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4864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동시 시나리오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37560" y="5394960"/>
            <a:ext cx="2651760" cy="105156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0" y="546811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394960"/>
            <a:ext cx="2651760" cy="105156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546811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98280" y="5394960"/>
            <a:ext cx="2651760" cy="105156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546811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모두 동시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07  추론 능력 스펙트럼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57200"/>
          </a:xfrm>
          <a:prstGeom prst="roundRect">
            <a:avLst/>
          </a:prstGeom>
          <a:solidFill>
            <a:srgbClr val="151D35"/>
          </a:solidFill>
          <a:ln w="1905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004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31920" y="1554480"/>
            <a:ext cx="3474720" cy="45720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06640" y="1554480"/>
            <a:ext cx="3840480" cy="45720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819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맑은 고딕"/>
              </a:defRPr>
            </a:pPr>
            <a:r>
              <a:t>JTMS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5819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58191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맑은 고딕"/>
              </a:defRPr>
            </a:pPr>
            <a:r>
              <a:t>ATMS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추론 능력 약함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추론 능력 강함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51760"/>
            <a:ext cx="3566160" cy="347472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JTMS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AA"/>
                </a:solidFill>
                <a:latin typeface="맑은 고딕"/>
              </a:defRPr>
            </a:pPr>
            <a:r>
              <a:t>전파 방향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200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순방향만 (A→B→C)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490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AA"/>
                </a:solidFill>
                <a:latin typeface="맑은 고딕"/>
              </a:defRPr>
            </a:pPr>
            <a:r>
              <a:t>추론 모드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74903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단일 시나리오, 순차 탐색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AA"/>
                </a:solidFill>
                <a:latin typeface="맑은 고딕"/>
              </a:defRPr>
            </a:pPr>
            <a:r>
              <a:t>강점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297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단순, 빠름, 메모리 적음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846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AA"/>
                </a:solidFill>
                <a:latin typeface="맑은 고딕"/>
              </a:defRPr>
            </a:pPr>
            <a:r>
              <a:t>한계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846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¬B→¬A 역추론 불가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AA"/>
                </a:solidFill>
                <a:latin typeface="맑은 고딕"/>
              </a:defRPr>
            </a:pPr>
            <a:r>
              <a:t>시나리오 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394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한 번에 1개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2651760"/>
            <a:ext cx="3566160" cy="347472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AA"/>
                </a:solidFill>
                <a:latin typeface="맑은 고딕"/>
              </a:defRPr>
            </a:pPr>
            <a:r>
              <a:t>전파 방향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3200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양방향 (A→B, ¬B→¬A)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7490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AA"/>
                </a:solidFill>
                <a:latin typeface="맑은 고딕"/>
              </a:defRPr>
            </a:pPr>
            <a:r>
              <a:t>추론 모드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74903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단일 시나리오, BCP + 해소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AA"/>
                </a:solidFill>
                <a:latin typeface="맑은 고딕"/>
              </a:defRPr>
            </a:pPr>
            <a:r>
              <a:t>강점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4297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단위전파, 완전 추론 가능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846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AA"/>
                </a:solidFill>
                <a:latin typeface="맑은 고딕"/>
              </a:defRPr>
            </a:pPr>
            <a:r>
              <a:t>한계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4846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여전히 단일 시나리오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AA"/>
                </a:solidFill>
                <a:latin typeface="맑은 고딕"/>
              </a:defRPr>
            </a:pPr>
            <a:r>
              <a:t>시나리오 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5394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한 번에 1개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2651760"/>
            <a:ext cx="3566160" cy="347472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43"/>
                </a:solidFill>
                <a:latin typeface="맑은 고딕"/>
              </a:defRPr>
            </a:pPr>
            <a:r>
              <a:t>ATMS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AA"/>
                </a:solidFill>
                <a:latin typeface="맑은 고딕"/>
              </a:defRPr>
            </a:pPr>
            <a:r>
              <a:t>전파 방향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3200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환경 교차곱 (weave)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37490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AA"/>
                </a:solidFill>
                <a:latin typeface="맑은 고딕"/>
              </a:defRPr>
            </a:pPr>
            <a:r>
              <a:t>추론 모드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374903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다중 시나리오 동시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AA"/>
                </a:solidFill>
                <a:latin typeface="맑은 고딕"/>
              </a:defRPr>
            </a:pPr>
            <a:r>
              <a:t>강점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4297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철회 비용 0, 모든 경로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4846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AA"/>
                </a:solidFill>
                <a:latin typeface="맑은 고딕"/>
              </a:defRPr>
            </a:pPr>
            <a:r>
              <a:t>한계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4846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환경 수 폭발 가능 (2^n)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AA"/>
                </a:solidFill>
                <a:latin typeface="맑은 고딕"/>
              </a:defRPr>
            </a:pPr>
            <a:r>
              <a:t>시나리오 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5394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모두 동시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08  장단점 및 적용 분야 — 언제 어떤 TMS를 쓸 것인가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22860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JTMS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장점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• 구조가 가장 단순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• 메모리 효율적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• 이해하기 쉬움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FF6B6B"/>
                </a:solidFill>
                <a:latin typeface="맑은 고딕"/>
              </a:defRPr>
            </a:pPr>
            <a:r>
              <a:t>단점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• 순방향 추론만 가능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• 시나리오 전환 비용 큼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• 역추론 불가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566160" cy="22860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64592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장점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• 양방향 추론 (BCP)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• 완전 추론 가능 (Resolution)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• SAT 솔버의 원리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FF6B6B"/>
                </a:solidFill>
                <a:latin typeface="맑은 고딕"/>
              </a:defRPr>
            </a:pPr>
            <a:r>
              <a:t>단점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• 여전히 단일 시나리오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• CNF 변환 오버헤드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• 철회 시 재계산 필요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566160" cy="22860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43"/>
                </a:solidFill>
                <a:latin typeface="맑은 고딕"/>
              </a:defRPr>
            </a:pPr>
            <a:r>
              <a:t>ATMS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장점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• 모든 시나리오 동시 관리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• 철회 비용 O(1)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• 진단/설계에 최적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FF6B6B"/>
                </a:solidFill>
                <a:latin typeface="맑은 고딕"/>
              </a:defRPr>
            </a:pPr>
            <a:r>
              <a:t>단점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• 환경 수 폭발 가능 (2^n)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• 메모리 집약적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• 구현 복잡도 높음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적합한 적용 분야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3566160" cy="210312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JTMS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66344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• 단순 규칙 시스템</a:t>
            </a:r>
            <a:br/>
            <a:r>
              <a:t>• 순방향 추론 엔진</a:t>
            </a:r>
            <a:br/>
            <a:r>
              <a:t>• 기호적 적분 (JSAINT)</a:t>
            </a:r>
            <a:br/>
            <a:r>
              <a:t>• N-Queens 퍼즐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206240"/>
            <a:ext cx="3566160" cy="210312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297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66344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• 제약 만족 문제 (CSP)</a:t>
            </a:r>
            <a:br/>
            <a:r>
              <a:t>• SAT/SMT 문제</a:t>
            </a:r>
            <a:br/>
            <a:r>
              <a:t>• 양방향 추론이 필요한 경우</a:t>
            </a:r>
            <a:br/>
            <a:r>
              <a:t>• 마르크스 형제 퍼즐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206240"/>
            <a:ext cx="3566160" cy="210312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297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F43"/>
                </a:solidFill>
                <a:latin typeface="맑은 고딕"/>
              </a:defRPr>
            </a:pPr>
            <a:r>
              <a:t>ATMS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66344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• 고장 진단 시스템</a:t>
            </a:r>
            <a:br/>
            <a:r>
              <a:t>• 설계 공간 탐색</a:t>
            </a:r>
            <a:br/>
            <a:r>
              <a:t>• 계획 수립 (블록 월드)</a:t>
            </a:r>
            <a:br/>
            <a:r>
              <a:t>• 다중 가설 추론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09  코드 구조 대응표 — 파일 레벨 매핑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286000" cy="4114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161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888AA"/>
                </a:solidFill>
                <a:latin typeface="맑은 고딕"/>
              </a:defRPr>
            </a:pPr>
            <a:r>
              <a:t>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188720"/>
            <a:ext cx="2743200" cy="4114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21615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JTMS (jtms/)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88720"/>
            <a:ext cx="2743200" cy="4114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121615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LTMS (ltms/)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188720"/>
            <a:ext cx="3200400" cy="4114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12161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F43"/>
                </a:solidFill>
                <a:latin typeface="맑은 고딕"/>
              </a:defRPr>
            </a:pPr>
            <a:r>
              <a:t>ATMS (atms/)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91640"/>
            <a:ext cx="2286000" cy="530352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1907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핵심 엔진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1691640"/>
            <a:ext cx="2743200" cy="530352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171907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jtms.lisp (637줄)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691640"/>
            <a:ext cx="2743200" cy="530352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171907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ltms.lisp (746줄)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1691640"/>
            <a:ext cx="3200400" cy="530352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71907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atms.lisp (1079줄)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286000"/>
            <a:ext cx="2286000" cy="530352"/>
          </a:xfrm>
          <a:prstGeom prst="roundRect">
            <a:avLst/>
          </a:prstGeom>
          <a:solidFill>
            <a:srgbClr val="1E2440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31343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DB 인터페이스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2286000"/>
            <a:ext cx="2743200" cy="530352"/>
          </a:xfrm>
          <a:prstGeom prst="roundRect">
            <a:avLst/>
          </a:prstGeom>
          <a:solidFill>
            <a:srgbClr val="1E2440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231343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jdata.lisp (260줄)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286000"/>
            <a:ext cx="2743200" cy="530352"/>
          </a:xfrm>
          <a:prstGeom prst="roundRect">
            <a:avLst/>
          </a:prstGeom>
          <a:solidFill>
            <a:srgbClr val="1E2440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31343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ldata.lisp (305줄)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2286000"/>
            <a:ext cx="3200400" cy="530352"/>
          </a:xfrm>
          <a:prstGeom prst="roundRect">
            <a:avLst/>
          </a:prstGeom>
          <a:solidFill>
            <a:srgbClr val="1E2440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31343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adata.lisp (233줄)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880360"/>
            <a:ext cx="2286000" cy="530352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90779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규칙 엔진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34640" y="2880360"/>
            <a:ext cx="2743200" cy="530352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360" y="290779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jrules.lisp (250줄)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2880360"/>
            <a:ext cx="2743200" cy="530352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290779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lrules.lisp (286줄)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2880360"/>
            <a:ext cx="3200400" cy="530352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290779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arules.lisp (372줄)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474720"/>
            <a:ext cx="2286000" cy="530352"/>
          </a:xfrm>
          <a:prstGeom prst="roundRect">
            <a:avLst/>
          </a:prstGeom>
          <a:solidFill>
            <a:srgbClr val="1E2440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50215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통합 계층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34640" y="3474720"/>
            <a:ext cx="2743200" cy="530352"/>
          </a:xfrm>
          <a:prstGeom prst="roundRect">
            <a:avLst/>
          </a:prstGeom>
          <a:solidFill>
            <a:srgbClr val="1E2440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0360" y="35021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jinter.lisp (78줄)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0" y="3474720"/>
            <a:ext cx="2743200" cy="530352"/>
          </a:xfrm>
          <a:prstGeom prst="roundRect">
            <a:avLst/>
          </a:prstGeom>
          <a:solidFill>
            <a:srgbClr val="1E2440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5000" y="35021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linter.lisp (101줄)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03920" y="3474720"/>
            <a:ext cx="3200400" cy="530352"/>
          </a:xfrm>
          <a:prstGeom prst="roundRect">
            <a:avLst/>
          </a:prstGeom>
          <a:solidFill>
            <a:srgbClr val="1E2440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350215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ainter.lisp (173줄)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069080"/>
            <a:ext cx="2286000" cy="530352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09651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패턴 매칭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34640" y="4069080"/>
            <a:ext cx="2743200" cy="530352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80360" y="4096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funify.lisp (130줄)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0" y="4069080"/>
            <a:ext cx="2743200" cy="530352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15000" y="4096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funify.lisp (131줄)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03920" y="4069080"/>
            <a:ext cx="3200400" cy="530352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49640" y="409651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funify.lisp (129줄)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663440"/>
            <a:ext cx="2286000" cy="530352"/>
          </a:xfrm>
          <a:prstGeom prst="roundRect">
            <a:avLst/>
          </a:prstGeom>
          <a:solidFill>
            <a:srgbClr val="1E2440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469087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로딩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34640" y="4663440"/>
            <a:ext cx="2743200" cy="530352"/>
          </a:xfrm>
          <a:prstGeom prst="roundRect">
            <a:avLst/>
          </a:prstGeom>
          <a:solidFill>
            <a:srgbClr val="1E2440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80360" y="469087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jtre.lisp (54줄)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69280" y="4663440"/>
            <a:ext cx="2743200" cy="530352"/>
          </a:xfrm>
          <a:prstGeom prst="roundRect">
            <a:avLst/>
          </a:prstGeom>
          <a:solidFill>
            <a:srgbClr val="1E2440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15000" y="469087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ltre.lisp (51줄)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503920" y="4663440"/>
            <a:ext cx="3200400" cy="530352"/>
          </a:xfrm>
          <a:prstGeom prst="roundRect">
            <a:avLst/>
          </a:prstGeom>
          <a:solidFill>
            <a:srgbClr val="1E2440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49640" y="469087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atre.lisp (51줄)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257800"/>
            <a:ext cx="2286000" cy="530352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528523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고유 모듈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834640" y="5257800"/>
            <a:ext cx="2743200" cy="530352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80360" y="528523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JSAINT (적분 솔버)</a:t>
            </a:r>
            <a:br/>
            <a:r>
              <a:t>jqueens (N-Queens)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69280" y="5257800"/>
            <a:ext cx="2743200" cy="530352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15000" y="528523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cltms (완전 LTMS)</a:t>
            </a:r>
            <a:br/>
            <a:r>
              <a:t>cwa, dds, indirect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503920" y="5257800"/>
            <a:ext cx="3200400" cy="530352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9640" y="528523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plan-a, plan-e (계획)</a:t>
            </a:r>
            <a:br/>
            <a:r>
              <a:t>blocks (블록 월드)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5852160"/>
            <a:ext cx="2286000" cy="530352"/>
          </a:xfrm>
          <a:prstGeom prst="roundRect">
            <a:avLst/>
          </a:prstGeom>
          <a:solidFill>
            <a:srgbClr val="1E2440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587959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총 규모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834640" y="5852160"/>
            <a:ext cx="2743200" cy="530352"/>
          </a:xfrm>
          <a:prstGeom prst="roundRect">
            <a:avLst/>
          </a:prstGeom>
          <a:solidFill>
            <a:srgbClr val="1E2440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80360" y="587959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~2,588줄 / 15파일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669280" y="5852160"/>
            <a:ext cx="2743200" cy="530352"/>
          </a:xfrm>
          <a:prstGeom prst="roundRect">
            <a:avLst/>
          </a:prstGeom>
          <a:solidFill>
            <a:srgbClr val="1E2440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715000" y="587959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~3,552줄 / 15파일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503920" y="5852160"/>
            <a:ext cx="3200400" cy="530352"/>
          </a:xfrm>
          <a:prstGeom prst="roundRect">
            <a:avLst/>
          </a:prstGeom>
          <a:solidFill>
            <a:srgbClr val="1E2440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49640" y="587959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~3,008줄 / 14파일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10  요약 — 한눈에 보는 비교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50292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맑은 고딕"/>
              </a:defRPr>
            </a:pPr>
            <a:r>
              <a:t>JTMS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Justification-based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핵심 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"지금 이 가정 하에서</a:t>
            </a:r>
            <a:br/>
            <a:r>
              <a:t>무엇이 참인가?"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54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진리값 표현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IN / OUT</a:t>
            </a:r>
            <a:br/>
            <a:r>
              <a:t>(2값, 단일 시나리오)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핵심 알고리즘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5262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순방향 전파</a:t>
            </a:r>
            <a:br/>
            <a:r>
              <a:t>(propagate-inness)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49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적합한 분야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623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단순 규칙 시스템</a:t>
            </a:r>
            <a:br/>
            <a:r>
              <a:t>JSAINT, N-Queens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188720"/>
            <a:ext cx="3566160" cy="50292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234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696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645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Logic-based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057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핵심 질문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331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"이 제약들 하에서 무엇이</a:t>
            </a:r>
            <a:br/>
            <a:r>
              <a:t>반드시 참/거짓인가?"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154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진리값 표현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TRUE / FALSE / UNKNOWN</a:t>
            </a:r>
            <a:br/>
            <a:r>
              <a:t>(3값, CNF 절 기반)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핵심 알고리즘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5262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BCP + 단위 전파</a:t>
            </a:r>
            <a:br/>
            <a:r>
              <a:t>+ Resolution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349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적합한 분야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623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제약 만족 (CSP)</a:t>
            </a:r>
            <a:br/>
            <a:r>
              <a:t>SAT 솔버의 원형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1188720"/>
            <a:ext cx="3566160" cy="50292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234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F43"/>
                </a:solidFill>
                <a:latin typeface="맑은 고딕"/>
              </a:defRPr>
            </a:pPr>
            <a:r>
              <a:t>ATMS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645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Assumption-based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057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맑은 고딕"/>
              </a:defRPr>
            </a:pPr>
            <a:r>
              <a:t>핵심 질문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331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"모든 가능한 가정 조합에서</a:t>
            </a:r>
            <a:br/>
            <a:r>
              <a:t>무엇이 참인가?"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154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맑은 고딕"/>
              </a:defRPr>
            </a:pPr>
            <a:r>
              <a:t>진리값 표현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환경 집합 [{A},{B,C},...]</a:t>
            </a:r>
            <a:br/>
            <a:r>
              <a:t>(다중 시나리오 동시)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맑은 고딕"/>
              </a:defRPr>
            </a:pPr>
            <a:r>
              <a:t>핵심 알고리즘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5262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weave (환경 교차곱)</a:t>
            </a:r>
            <a:br/>
            <a:r>
              <a:t>+ nogood 전파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5349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맑은 고딕"/>
              </a:defRPr>
            </a:pPr>
            <a:r>
              <a:t>적합한 분야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5623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고장 진단</a:t>
            </a:r>
            <a:br/>
            <a:r>
              <a:t>설계 탐색, 계획 수립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400800"/>
            <a:ext cx="11247120" cy="3200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A5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41908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JTMS는 가장 단순  |  LTMS는 제약 전파가 가장 강력  |  ATMS는 다중 시나리오 관리에 가장 효율적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8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2743200"/>
            <a:ext cx="3931920" cy="25400"/>
          </a:xfrm>
          <a:prstGeom prst="round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문제의 성격에 맞는 TMS를 선택하는 것이 핵심입니다.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114800"/>
            <a:ext cx="2743200" cy="9144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JTMS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단순한 규칙 추론에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4114800"/>
            <a:ext cx="2743200" cy="9144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제약 전파와 SAT에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4114800"/>
            <a:ext cx="2743200" cy="9144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F43"/>
                </a:solidFill>
                <a:latin typeface="맑은 고딕"/>
              </a:defRPr>
            </a:pPr>
            <a:r>
              <a:t>ATMS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다중 가설 탐색에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맑은 고딕"/>
              </a:defRPr>
            </a:pPr>
            <a:r>
              <a:t>Building Problem Solvers  |  Forbus &amp; de Kleer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