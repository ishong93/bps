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8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2FF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맑은 고딕"/>
              </a:defRPr>
            </a:pPr>
            <a:r>
              <a:t>Logic-based Truth Maintenance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  <a:latin typeface="맑은 고딕"/>
              </a:defRPr>
            </a:pPr>
            <a:r>
              <a:t>논리 기반 진리 유지 시스템의 구조와 원리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4206240"/>
            <a:ext cx="3931920" cy="25400"/>
          </a:xfrm>
          <a:prstGeom prst="round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맑은 고딕"/>
              </a:defRPr>
            </a:pPr>
            <a:r>
              <a:t>Building Problem Solvers  |  Forbus &amp; de Kleer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맑은 고딕"/>
              </a:defRPr>
            </a:pPr>
            <a:r>
              <a:t>15개 파일  ·  ~3,552줄  ·  Common Lisp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LTMS란 무엇인가?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74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정의와 필요성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36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핵심 자료구조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874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Node, Clause, LTMS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4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50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23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핵심 알고리즘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BCP, 단위 전파, 역전파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37744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450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423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수식 정규화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논리식 → CNF 변환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9184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364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337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예제: 자동 연쇄 추론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703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하나의 사실에서 모든 결론 도출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29184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364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337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예제: 모순 감지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703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일관성 없는 지식 발견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20624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2793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251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예제: 가정 철회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617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비단조적 추론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20624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2793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251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예제: 마르크스 형제 퍼즐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617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제약 만족 문제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12064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1937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166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코드 파일 구조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532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15개 파일의 역할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120640"/>
            <a:ext cx="5029200" cy="7772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51937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166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요약 및 현대적 의의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532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SAT 솔버와의 관계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01  LTMS란 무엇인가?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18872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LTMS = Logic-based Truth Maintenance System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t>명제(proposition)들의 참/거짓 상태를 논리적 제약 하에서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t>일관성 있게 유지하면서 자동으로 추론하는 시스템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2468880" cy="18288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가정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가정을 세우고</a:t>
            </a:r>
            <a:br/>
            <a:r>
              <a:t>철회할 수 있음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017520"/>
            <a:ext cx="2468880" cy="18288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200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제약 전파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7490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절(clause) 형태의</a:t>
            </a:r>
            <a:br/>
            <a:r>
              <a:t>제약 조건을 자동 전파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2468880" cy="18288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00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6B"/>
                </a:solidFill>
                <a:latin typeface="맑은 고딕"/>
              </a:defRPr>
            </a:pPr>
            <a:r>
              <a:t>모순 감지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490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일관성 없는 상태를</a:t>
            </a:r>
            <a:br/>
            <a:r>
              <a:t>자동으로 발견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3017520"/>
            <a:ext cx="2468880" cy="18288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3200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43"/>
                </a:solidFill>
                <a:latin typeface="맑은 고딕"/>
              </a:defRPr>
            </a:pPr>
            <a:r>
              <a:t>원인 추적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7490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모순의 근본 원인을</a:t>
            </a:r>
            <a:br/>
            <a:r>
              <a:t>추적하여 해결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맑은 고딕"/>
              </a:defRPr>
            </a:pPr>
            <a:r>
              <a:t>비유: 스프레드시트의 수식처럼, 하나의 값이 바뀌면 관련된 모든 셀이 자동으로 업데이트됨.</a:t>
            </a:r>
            <a:br/>
            <a:r>
              <a:t>      단, LTMS는 '논리적 참/거짓'을 다루며, 모순이 발생하면 경고해줌.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02  핵심 자료구조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566160" cy="32004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TMS-Node (명제 노드)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200400" cy="237744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index     ; 고유 식별자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datum     ; 추론 데이터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label     ; :UNKNOWN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; :TRUE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; :FALSE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support   ; 지지하는 절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true-clauses  ; 참인 절들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false-clauses ; 거짓인 절들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assumption?   ; 가정 여부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566160" cy="32004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Clause (절 = 리터럴의 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20240"/>
            <a:ext cx="3200400" cy="237744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literals  ; 리터럴 리스트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((n1 . :TRUE)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(n2 . :FALSE) ...)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pvs    ; 미결정 리터럴 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= 0 → 모순 발생!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= 1 → 단위 전파!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sats   ; 만족 리터럴 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length ; 전체 길이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status ; 절 상태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566160" cy="32004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맑은 고딕"/>
              </a:defRPr>
            </a:pPr>
            <a:r>
              <a:t>LTMS (시스템 전체)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920240"/>
            <a:ext cx="3200400" cy="237744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nodes    ; 노드 해시테이블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clauses  ; 모든 절 리스트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queue    ; 검사 대기 큐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violated-clauses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; 위반된 절들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contradiction-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handlers ; 모순 처리기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complete ; 완전 LTMS?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enqueue-procedure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54880"/>
            <a:ext cx="11247120" cy="13716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6B6B"/>
                </a:solidFill>
                <a:latin typeface="맑은 고딕"/>
              </a:defRPr>
            </a:pPr>
            <a:r>
              <a:t>핵심 개념: pvs (Potentially Violating terms) 카운터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절 내에서 아직 해당 절을 '위반할 가능성이 있는' 리터럴의 수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FF6B6B"/>
                </a:solidFill>
                <a:latin typeface="맑은 고딕"/>
              </a:defRPr>
            </a:pPr>
            <a:r>
              <a:t>pvs = 0  →  모든 리터럴이 거짓  →  모순(contradiction) 발생!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pvs = 1  →  딱 하나만 남음  →  그 리터럴을 참으로 만듦 (단위 전파)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03  핵심 알고리즘 — 전체 흐름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20116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1. 가정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96"/>
                </a:solidFill>
                <a:latin typeface="Consolas"/>
              </a:defRPr>
            </a:pPr>
            <a:r>
              <a:t>enable-assumption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노드의 label을</a:t>
            </a:r>
            <a:br/>
            <a:r>
              <a:t>:TRUE 또는 :FALSE로 설정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240" y="2194560"/>
            <a:ext cx="274320" cy="27432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560320" cy="20116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2. 진리값 전파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874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96"/>
                </a:solidFill>
                <a:latin typeface="Consolas"/>
              </a:defRPr>
            </a:pPr>
            <a:r>
              <a:t>set-truth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77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관련 절의 pvs/sats</a:t>
            </a:r>
            <a:br/>
            <a:r>
              <a:t>카운터 업데이트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89320" y="2194560"/>
            <a:ext cx="274320" cy="27432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2560320" cy="20116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F43"/>
                </a:solidFill>
                <a:latin typeface="맑은 고딕"/>
              </a:defRPr>
            </a:pPr>
            <a:r>
              <a:t>3. BCP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74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96"/>
                </a:solidFill>
                <a:latin typeface="Consolas"/>
              </a:defRPr>
            </a:pPr>
            <a:r>
              <a:t>check-clauses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77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pvs=1인 절 발견 시</a:t>
            </a:r>
            <a:br/>
            <a:r>
              <a:t>단위 전파 → 2로 복귀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15400" y="2194560"/>
            <a:ext cx="274320" cy="27432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5440" y="1371600"/>
            <a:ext cx="2560320" cy="20116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6B"/>
                </a:solidFill>
                <a:latin typeface="맑은 고딕"/>
              </a:defRPr>
            </a:pPr>
            <a:r>
              <a:t>4. 모순 검사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1874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96"/>
                </a:solidFill>
                <a:latin typeface="Consolas"/>
              </a:defRPr>
            </a:pPr>
            <a:r>
              <a:t>check-for-contradictions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377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pvs=0인 절 발견 시</a:t>
            </a:r>
            <a:br/>
            <a:r>
              <a:t>모순 핸들러 호출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40480"/>
            <a:ext cx="5486400" cy="256032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A5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31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55EFF"/>
                </a:solidFill>
                <a:latin typeface="맑은 고딕"/>
              </a:defRPr>
            </a:pPr>
            <a:r>
              <a:t>5. 가정 철회 시: propagate-unknownness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480560"/>
            <a:ext cx="5120640" cy="173736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1. 철회된 노드 → :UNKNOWN으로 복원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2. 이 노드에 의존한 절들의 pvs/sats 복원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3. pvs가 1→2 된 절의 결론도 → :UNKNOWN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4. 연쇄적으로 모든 의존 추론 무효화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5. 남은 근거로 재전파 → 새 안정 상태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40480"/>
            <a:ext cx="5486400" cy="256032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931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F43"/>
                </a:solidFill>
                <a:latin typeface="맑은 고딕"/>
              </a:defRPr>
            </a:pPr>
            <a:r>
              <a:t>BCP 루프 상세 (check-clauses)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480560"/>
            <a:ext cx="5120640" cy="173736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WHILE 큐에 절이 남아있으면: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절을 꺼내서 검사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IF pvs = 0: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→ violated-clauses에 추가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IF pvs = 1: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→ 미결정 리터럴 찾기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→ set-truth 호출 (단위 전파)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→ 새로 영향받는 절들 큐에 추가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04  수식 정규화 — 논리식을 CNF로 변환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029200" cy="256032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지원하는 논리 연산자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4663440" cy="182880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:AND      논리곱        A ∧ B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:OR       논리합        A ∨ B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:NOT      부정          ¬A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:IMPLIES  함의          A→B  ≡  ¬A∨B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:IFF      동치          A↔B  ≡  (A→B)∧(B→A)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:TAXONOMY 상호배타 선택  정확히 하나만 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280160"/>
            <a:ext cx="5943600" cy="256032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맑은 고딕"/>
              </a:defRPr>
            </a:pPr>
            <a:r>
              <a:t>변환 예시: (:IMPLIES (:AND p q) 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5577840" cy="182880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입력: (p ∧ q) → 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1단계 - 함의 제거: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¬(p ∧ q) ∨ 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2단계 - 드모르간: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(¬p ∨ ¬q) ∨ r  =  ¬p ∨ ¬q ∨ 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결과: 절 하나  {¬p, ¬q, r}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11247120" cy="20116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맑은 고딕"/>
              </a:defRPr>
            </a:pPr>
            <a:r>
              <a:t>왜 CNF(Conjunctive Normal Form)로 변환하는가?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CNF = 절들의 AND  /  각 절 = 리터럴들의 OR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• BCP(Boolean Constraint Propagation)는 CNF 형태에서만 효율적으로 동작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• 절 하나가 위반되면(pvs=0) 즉시 모순을 감지할 수 있음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• 절에 미결정 리터럴이 하나만 남으면(pvs=1) 단위 전파가 가능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E696"/>
                </a:solidFill>
                <a:latin typeface="맑은 고딕"/>
              </a:defRPr>
            </a:pPr>
            <a:r>
              <a:t>• 현대 SAT 솔버(MiniSat, Z3 등)도 동일한 원리를 사용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05  예제: 자동 연쇄 추론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572000" cy="18288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문제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4206240" cy="109728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절 1:  x ∨ y      (x 또는 y는 참)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절 2:  ¬y ∨ z     (y이면 z)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절 3:  ¬z ∨ r     (z이면 r)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가정:  x = FALSE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280160"/>
            <a:ext cx="6400800" cy="50292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1371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LTMS 자동 추론 과정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828800"/>
            <a:ext cx="6035040" cy="3749039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1단계: x = FALSE (가정 설정)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→ 절1 (x∨y)에서 x가 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→ pvs: 2→1  →  단위 전파!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→ y = TRUE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2단계: y = TRUE (전파 결과)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→ 절2 (¬y∨z)에서 ¬y가 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→ pvs: 2→1  →  단위 전파!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→ z = TRUE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3단계: z = TRUE (전파 결과)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→ 절3 (¬z∨r)에서 ¬z가 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→ pvs: 2→1  →  단위 전파!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→ r = 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4572000" cy="13716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맑은 고딕"/>
              </a:defRPr>
            </a:pPr>
            <a:r>
              <a:t>추론 연쇄 결과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23360"/>
            <a:ext cx="4206240" cy="64008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x=FALSE → y=TRUE → z=TRUE → r=TRUE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하나의 가정으로 3개의 결론 자동 도출!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12080"/>
            <a:ext cx="4572000" cy="10972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핵심: 사람이 하나씩 따질 필요 없이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LTMS가 BCP로 모든 결론을 자동 도출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06  예제: 모순 감지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029200" cy="20116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맑은 고딕"/>
              </a:defRPr>
            </a:pPr>
            <a:r>
              <a:t>문제: 서로 충돌하는 가정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4663440" cy="128016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가정 1:  n1 = 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가정 2:  n2 = 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제약:    n1 ∨ n2  (둘 중 하나는 참)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→ 모순! 둘 다 거짓일 수 없음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280160"/>
            <a:ext cx="5943600" cy="20116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맑은 고딕"/>
              </a:defRPr>
            </a:pPr>
            <a:r>
              <a:t>LTMS의 모순 감지 과정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5577840" cy="128016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절 (n1 ∨ n2) 검사: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n1=FALSE → pvs: 2→1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n2=FALSE → pvs: 1→0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pvs = 0 → 위반! 모순 발생!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→ contradiction-handler 호출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모순 처리 전략 3가지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3474720" cy="20116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D2FF"/>
                </a:solidFill>
                <a:latin typeface="맑은 고딕"/>
              </a:defRPr>
            </a:pPr>
            <a:r>
              <a:t>사용자에게 질문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09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96"/>
                </a:solidFill>
                <a:latin typeface="Consolas"/>
              </a:defRPr>
            </a:pPr>
            <a:r>
              <a:t>ask-user-handler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212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모순 원인 가정을 보여주고</a:t>
            </a:r>
            <a:br/>
            <a:r>
              <a:t>어느 것을 철회할지 선택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206240"/>
            <a:ext cx="3474720" cy="20116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E696"/>
                </a:solidFill>
                <a:latin typeface="맑은 고딕"/>
              </a:defRPr>
            </a:pPr>
            <a:r>
              <a:t>자동 회피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709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96"/>
                </a:solidFill>
                <a:latin typeface="Consolas"/>
              </a:defRPr>
            </a:pPr>
            <a:r>
              <a:t>avoid-all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5212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첫 번째 원인 가정을</a:t>
            </a:r>
            <a:br/>
            <a:r>
              <a:t>자동으로 철회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206240"/>
            <a:ext cx="3474720" cy="20116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A5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A55EFF"/>
                </a:solidFill>
                <a:latin typeface="맑은 고딕"/>
              </a:defRPr>
            </a:pPr>
            <a:r>
              <a:t>재발 방지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709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96"/>
                </a:solidFill>
                <a:latin typeface="Consolas"/>
              </a:defRPr>
            </a:pPr>
            <a:r>
              <a:t>nogood 학습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5212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모순 조합을 기억하여</a:t>
            </a:r>
            <a:br/>
            <a:r>
              <a:t>같은 실패 반복 방지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07  예제: 가정 철회 — 비단조적 추론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657600" cy="14630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문제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291840" cy="73152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절 1:  x ∨ z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절 2:  y ∨ 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474720" cy="14630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단계 1: 가정 설정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108960" cy="73152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x=FALSE → z=TRUE (절1)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y=FALSE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결과: z=TRUE (근거: 절1)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474720" cy="14630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맑은 고딕"/>
              </a:defRPr>
            </a:pPr>
            <a:r>
              <a:t>단계 2: x 가정 철회!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108960" cy="73152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retract-assumption(x)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x → :UNKNOWN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z의 근거(절1) 무효화!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08960"/>
            <a:ext cx="11247120" cy="32004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A5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55EFF"/>
                </a:solidFill>
                <a:latin typeface="맑은 고딕"/>
              </a:defRPr>
            </a:pPr>
            <a:r>
              <a:t>propagate-unknownness 상세 과정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5029200" cy="246888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1. x 철회 → x = :UNKNOWN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2. z의 support가 절1이었음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절1의 pvs 업데이트: pvs 증가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3. z = :UNKNOWN (근거 상실)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4. 재전파 시작: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절2 (y ∨ z) 검사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y=FALSE → pvs=1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→ 단위 전파: z = TRUE!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(이번엔 절2가 근거)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657600"/>
            <a:ext cx="5577840" cy="1371600"/>
          </a:xfrm>
          <a:prstGeom prst="roundRect">
            <a:avLst/>
          </a:prstGeom>
          <a:solidFill>
            <a:srgbClr val="1A3A1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749039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00E696"/>
                </a:solidFill>
                <a:latin typeface="맑은 고딕"/>
              </a:defRPr>
            </a:pPr>
            <a:r>
              <a:t>최종 결과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x = :UNKNOWN  (철회됨)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y = FALSE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z = TRUE  (근거가 절1 → 절2로 전환!)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5303520"/>
            <a:ext cx="5577840" cy="9144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539496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핵심: 가정을 바꿔도 다른 근거가 있으면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결론을 유지함 → 'What-if' 분석이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맑은 고딕"/>
              </a:defRPr>
            </a:pPr>
            <a:r>
              <a:t>08  예제: 마르크스 형제 퍼즐 — 제약 만족 문제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27432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7가지 단서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4937760" cy="201168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1. 피아니스트, 하프연주자, 말잘하는사람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= 서로 다른 형제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2. 돈/도박/동물 좋아하는 사람 = 서로 다름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3. 말잘하는 사람은 도박 싫어함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4. 동물 좋아하는 사람 = 하프 연주자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5. Groucho는 동물 싫어함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6. Harpo는 항상 말이 없음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7. Chico는 피아노 연주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280160"/>
            <a:ext cx="5669280" cy="27432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LTMS 논리식으로 변환 (marxdata.lisp)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01168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;; 단서 1: 피아노≠하프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(pairwise-nogood plays-piano plays-harp)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;; 단서 4: 동물=하프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(same-entity likes-animals plays-harp)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;; 단서 5: Groucho≠동물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(:not (likes-animals groucho))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;; 단서 6: Harpo≠말잘함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(:not (smooth-talker harpo))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;; 단서 7: Chico=피아노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(plays-piano chico)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6858000" cy="20116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F43"/>
                </a:solidFill>
                <a:latin typeface="맑은 고딕"/>
              </a:defRPr>
            </a:pPr>
            <a:r>
              <a:t>DDS(의존성 지향 탐색) 풀이 과정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46320"/>
            <a:ext cx="6492240" cy="1280160"/>
          </a:xfrm>
          <a:prstGeom prst="roundRect">
            <a:avLst/>
          </a:prstGeom>
          <a:solidFill>
            <a:srgbClr val="0D111E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가정: (plays-piano groucho)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→ Chico가 이미 피아노 + pairwise-nogood → 모순!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→ nogood 학습: 다시는 이 조합 시도 안 함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가정: (plays-harp harpo)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→ same-entity 규칙 → (likes-animals harpo) = TRUE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→ 소거법 → (smooth-talker groucho) = TRUE → 해 발견!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297680"/>
            <a:ext cx="4114800" cy="2011680"/>
          </a:xfrm>
          <a:prstGeom prst="roundRect">
            <a:avLst/>
          </a:prstGeom>
          <a:solidFill>
            <a:srgbClr val="1A3A1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38912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정답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Chico  = 피아노, 도박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Harpo  = 하프, 동물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Groucho = 말잘함, 돈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00E696"/>
                </a:solidFill>
                <a:latin typeface="맑은 고딕"/>
              </a:defRPr>
            </a:pPr>
            <a:r>
              <a:t>모순에서 배우며(nogood) 효율적 탐색!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09  코드 파일 구조 — 15개 파일의 역할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105156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핵심 엔진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Consolas"/>
              </a:defRPr>
            </a:pPr>
            <a:r>
              <a:t>ltms.lisp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45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746줄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45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노드, 절, BCP, 단위전파, 역전파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Consolas"/>
              </a:defRPr>
            </a:pPr>
            <a:r>
              <a:t>cltms.lisp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011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426줄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011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완전 LTMS, 해소, 트라이 인덱싱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14600"/>
            <a:ext cx="11247120" cy="17830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추론 통합 (LTRE)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Consolas"/>
              </a:defRPr>
            </a:pPr>
            <a:r>
              <a:t>linter.lisp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101줄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LTRE 정의 (LTMS+DB 통합)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46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Consolas"/>
              </a:defRPr>
            </a:pPr>
            <a:r>
              <a:t>ldata.lisp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246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305줄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246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사실/가정 관리 (assert!, assume!)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11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Consolas"/>
              </a:defRPr>
            </a:pPr>
            <a:r>
              <a:t>lrules.lisp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611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286줄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611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패턴 매칭 규칙 엔진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77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Consolas"/>
              </a:defRPr>
            </a:pPr>
            <a:r>
              <a:t>funify.lisp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977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131줄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977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패턴 통합(unification)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80560"/>
            <a:ext cx="11247120" cy="178308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맑은 고딕"/>
              </a:defRPr>
            </a:pPr>
            <a:r>
              <a:t>확장 모듈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46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Consolas"/>
              </a:defRPr>
            </a:pPr>
            <a:r>
              <a:t>dds.lisp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846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83줄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846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의존성 지향 탐색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212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Consolas"/>
              </a:defRPr>
            </a:pPr>
            <a:r>
              <a:t>cwa.lisp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212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225줄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212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닫힌 세계 가정(CWA)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577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Consolas"/>
              </a:defRPr>
            </a:pPr>
            <a:r>
              <a:t>indirect.lisp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577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47줄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577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간접 증명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943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Consolas"/>
              </a:defRPr>
            </a:pPr>
            <a:r>
              <a:t>setrule.lisp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943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41줄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5943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집합 제약 규칙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446520"/>
            <a:ext cx="11247120" cy="141732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A5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55EFF"/>
                </a:solidFill>
                <a:latin typeface="맑은 고딕"/>
              </a:defRPr>
            </a:pPr>
            <a:r>
              <a:t>예제 / 테스트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6812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Consolas"/>
              </a:defRPr>
            </a:pPr>
            <a:r>
              <a:t>ltms-ex.lisp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6812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896줄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6812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종합 테스트 및 예제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7132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Consolas"/>
              </a:defRPr>
            </a:pPr>
            <a:r>
              <a:t>marx.lisp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7132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54줄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7132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마르크스 형제 퍼즐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7452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Consolas"/>
              </a:defRPr>
            </a:pPr>
            <a:r>
              <a:t>marxdata.lisp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7452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맑은 고딕"/>
              </a:defRPr>
            </a:pPr>
            <a:r>
              <a:t>81줄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7452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퍼즐 데이터 및 규칙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10  요약 — LTMS가 해결하는 6대 과제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94960" cy="10058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맑은 고딕"/>
              </a:defRPr>
            </a:pPr>
            <a:r>
              <a:t>자동 추론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A가 참이면 무엇이 따라오는가?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  <a:latin typeface="Consolas"/>
              </a:defRPr>
            </a:pPr>
            <a:r>
              <a:t>BCP + 단위 전파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10058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6B"/>
                </a:solidFill>
                <a:latin typeface="맑은 고딕"/>
              </a:defRPr>
            </a:pPr>
            <a:r>
              <a:t>모순 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현재 지식에 모순이 있는가?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  <a:latin typeface="Consolas"/>
              </a:defRPr>
            </a:pPr>
            <a:r>
              <a:t>pvs=0 감지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23160"/>
            <a:ext cx="5394960" cy="10058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F43"/>
                </a:solidFill>
                <a:latin typeface="맑은 고딕"/>
              </a:defRPr>
            </a:pPr>
            <a:r>
              <a:t>원인 추적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모순의 원인은 어떤 가정인가?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  <a:latin typeface="Consolas"/>
              </a:defRPr>
            </a:pPr>
            <a:r>
              <a:t>assumptions-of-clause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23160"/>
            <a:ext cx="5394960" cy="10058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A5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55EFF"/>
                </a:solidFill>
                <a:latin typeface="맑은 고딕"/>
              </a:defRPr>
            </a:pPr>
            <a:r>
              <a:t>가정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가정을 바꾸면 결론이 어떻게?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  <a:latin typeface="Consolas"/>
              </a:defRPr>
            </a:pPr>
            <a:r>
              <a:t>propagate-unknownness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66160"/>
            <a:ext cx="5394960" cy="10058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맑은 고딕"/>
              </a:defRPr>
            </a:pPr>
            <a:r>
              <a:t>제약 만족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모든 제약을 만족하는 해는?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  <a:latin typeface="Consolas"/>
              </a:defRPr>
            </a:pPr>
            <a:r>
              <a:t>DDS + nogood 학습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566160"/>
            <a:ext cx="5394960" cy="100584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맑은 고딕"/>
              </a:defRPr>
            </a:pPr>
            <a:r>
              <a:t>완전 추론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도출 가능한 모든 사실은?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  <a:latin typeface="Consolas"/>
              </a:defRPr>
            </a:pPr>
            <a:r>
              <a:t>Resolution (cltms)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54880"/>
            <a:ext cx="11247120" cy="1554480"/>
          </a:xfrm>
          <a:prstGeom prst="roundRect">
            <a:avLst/>
          </a:prstGeom>
          <a:solidFill>
            <a:srgbClr val="1A2A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84632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현대적 의의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• SAT 솔버 (MiniSat, CaDiCaL 등): LTMS의 BCP + nogood 학습이 핵심 엔진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• SMT 솔버 (Z3, CVC5): LTMS 위에 이론 추론기를 결합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• 지식 그래프 추론: 진리 유지 개념으로 일관성 관리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• AI 계획 시스템: 가정 기반 탐색 + 의존성 추적의 근간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8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2926080"/>
            <a:ext cx="3931920" cy="25400"/>
          </a:xfrm>
          <a:prstGeom prst="round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  <a:latin typeface="맑은 고딕"/>
              </a:defRPr>
            </a:pPr>
            <a:r>
              <a:t>LTMS는 단순한 데이터 저장소가 아니라,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지식의 일관성을 능동적으로 관리하는 추론 엔진입니다.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937760"/>
            <a:ext cx="8531352" cy="914400"/>
          </a:xfrm>
          <a:prstGeom prst="roundRect">
            <a:avLst/>
          </a:prstGeom>
          <a:solidFill>
            <a:srgbClr val="242B4A"/>
          </a:solidFill>
          <a:ln w="1905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5029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00D2FF"/>
                </a:solidFill>
                <a:latin typeface="맑은 고딕"/>
              </a:defRPr>
            </a:pPr>
            <a:r>
              <a:t>효율성: BCP를 통한 빠른 제약 전파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00E696"/>
                </a:solidFill>
                <a:latin typeface="맑은 고딕"/>
              </a:defRPr>
            </a:pPr>
            <a:r>
              <a:t>정확성: 의존성 추적으로 정확한 추론 유지/철회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FF9F43"/>
                </a:solidFill>
                <a:latin typeface="맑은 고딕"/>
              </a:defRPr>
            </a:pPr>
            <a:r>
              <a:t>유연성: 가정 기반 what-if 분석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