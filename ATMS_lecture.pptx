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ATMS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C8F0"/>
                </a:solidFill>
                <a:latin typeface="Arial"/>
              </a:defRPr>
            </a:pPr>
            <a:r>
              <a:t>Assumption-based Truth Maintenance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목적  |  해결 과제  |  방식  |  의의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AAC8"/>
                </a:solidFill>
                <a:latin typeface="Arial"/>
              </a:defRPr>
            </a:pPr>
            <a:r>
              <a:t>Building Problem Solvers</a:t>
            </a:r>
            <a:br/>
            <a:r>
              <a:t>Kenneth D. Forbus &amp; Johan de Kleer, 1993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 왜 ATMS가 필요한가?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3C32"/>
                </a:solidFill>
                <a:latin typeface="Arial"/>
              </a:defRPr>
            </a:pPr>
            <a:r>
              <a:t>기존 JTMS의 한계: 한 번에 하나의 세계만 볼 수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303520" cy="411480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82828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3C32"/>
                </a:solidFill>
                <a:latin typeface="Arial"/>
              </a:defRPr>
            </a:pPr>
            <a:r>
              <a:t>JTMS (기존)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82828"/>
                </a:solidFill>
              </a:defRPr>
            </a:pPr>
            <a:r>
              <a:t>노드.label = :IN 또는 :OUT</a:t>
            </a:r>
          </a:p>
          <a:p>
            <a:pPr>
              <a:spcAft>
                <a:spcPts val="400"/>
              </a:spcAft>
              <a:defRPr sz="1500" b="0">
                <a:solidFill>
                  <a:srgbClr val="282828"/>
                </a:solidFill>
              </a:defRPr>
            </a:pPr>
            <a:r>
              <a:t>한 시점에 하나의 세계만 유지</a:t>
            </a:r>
          </a:p>
          <a:p>
            <a:pPr>
              <a:spcAft>
                <a:spcPts val="400"/>
              </a:spcAft>
              <a:defRPr sz="1500" b="0">
                <a:solidFill>
                  <a:srgbClr val="282828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82828"/>
                </a:solidFill>
              </a:defRPr>
            </a:pPr>
            <a:r>
              <a:t>진단 문제 예시: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646464"/>
                </a:solidFill>
              </a:defRPr>
            </a:pPr>
            <a:r>
              <a:t>"질병1" 가정 → 추론 → 안 맞음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C83C32"/>
                </a:solidFill>
              </a:defRPr>
            </a:pPr>
            <a:r>
              <a:t>→ 철회 → 처음부터 다시!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646464"/>
                </a:solidFill>
              </a:defRPr>
            </a:pPr>
            <a:r>
              <a:t>"질병2" 가정 → 추론 → 또 안 맞음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C83C32"/>
                </a:solidFill>
              </a:defRPr>
            </a:pPr>
            <a:r>
              <a:t>→ 또 철회... 매번 재계산!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4114800"/>
          </a:xfrm>
          <a:prstGeom prst="roundRect">
            <a:avLst/>
          </a:prstGeom>
          <a:solidFill>
            <a:srgbClr val="E6F5E6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82828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8C3C"/>
                </a:solidFill>
                <a:latin typeface="Arial"/>
              </a:defRPr>
            </a:pPr>
            <a:r>
              <a:t>ATMS (혁신)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82828"/>
                </a:solidFill>
              </a:defRPr>
            </a:pPr>
            <a:r>
              <a:t>노드.label = [{A}, {B,C}]</a:t>
            </a:r>
          </a:p>
          <a:p>
            <a:pPr>
              <a:spcAft>
                <a:spcPts val="400"/>
              </a:spcAft>
              <a:defRPr sz="1500" b="0">
                <a:solidFill>
                  <a:srgbClr val="288C3C"/>
                </a:solidFill>
              </a:defRPr>
            </a:pPr>
            <a:r>
              <a:t>모든 가능한 세계를 동시에 추적!</a:t>
            </a:r>
          </a:p>
          <a:p>
            <a:pPr>
              <a:spcAft>
                <a:spcPts val="400"/>
              </a:spcAft>
              <a:defRPr sz="1500" b="0">
                <a:solidFill>
                  <a:srgbClr val="282828"/>
                </a:solidFill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82828"/>
                </a:solidFill>
              </a:defRPr>
            </a:pPr>
            <a:r>
              <a:t>같은 진단 문제: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646464"/>
                </a:solidFill>
              </a:defRPr>
            </a:pPr>
            <a:r>
              <a:t>질병1, 질병2, 질병3 가설 동시 유지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288C3C"/>
                </a:solidFill>
              </a:defRPr>
            </a:pPr>
            <a:r>
              <a:t>→ 검사 결과가 나오면 해당 가설만 제거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288C3C"/>
                </a:solidFill>
              </a:defRPr>
            </a:pPr>
            <a:r>
              <a:t>→ 나머지는 이미 계산되어 있음!</a:t>
            </a:r>
          </a:p>
          <a:p>
            <a:pPr lvl="1">
              <a:spcAft>
                <a:spcPts val="400"/>
              </a:spcAft>
              <a:defRPr sz="1500" b="0">
                <a:solidFill>
                  <a:srgbClr val="288C3C"/>
                </a:solidFill>
              </a:defRPr>
            </a:pPr>
            <a:r>
              <a:t>→ 재계산 없음, 자동 우회!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 ATMS 핵심 개념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1097280"/>
          </a:xfrm>
          <a:prstGeom prst="roundRect">
            <a:avLst/>
          </a:prstGeom>
          <a:solidFill>
            <a:srgbClr val="DCEB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가정</a:t>
            </a:r>
            <a:br/>
            <a:r>
              <a:t>(Assumption)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0604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646464"/>
                </a:solidFill>
              </a:defRPr>
            </a:pPr>
            <a:r>
              <a:t>독립적 선택지</a:t>
            </a:r>
            <a:br/>
            <a:r>
              <a:t>참/거짓 자유 설정</a:t>
            </a:r>
            <a:br/>
            <a:r>
              <a:t>예: A='질병1'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71600"/>
            <a:ext cx="2651760" cy="1097280"/>
          </a:xfrm>
          <a:prstGeom prst="roundRect">
            <a:avLst/>
          </a:prstGeom>
          <a:solidFill>
            <a:srgbClr val="DCF5DC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환경</a:t>
            </a:r>
            <a:br/>
            <a:r>
              <a:t>(Environment)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60604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646464"/>
                </a:solidFill>
              </a:defRPr>
            </a:pPr>
            <a:r>
              <a:t>가정들의 집합</a:t>
            </a:r>
            <a:br/>
            <a:r>
              <a:t>= 하나의 '가능한 세계'</a:t>
            </a:r>
            <a:br/>
            <a:r>
              <a:t>예: {A, C}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2651760" cy="1097280"/>
          </a:xfrm>
          <a:prstGeom prst="roundRect">
            <a:avLst/>
          </a:prstGeom>
          <a:solidFill>
            <a:srgbClr val="FFF0DC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레이블</a:t>
            </a:r>
            <a:br/>
            <a:r>
              <a:t>(Label)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60604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646464"/>
                </a:solidFill>
              </a:defRPr>
            </a:pPr>
            <a:r>
              <a:t>최소 환경들의 집합</a:t>
            </a:r>
            <a:br/>
            <a:r>
              <a:t>= antichain</a:t>
            </a:r>
            <a:br/>
            <a:r>
              <a:t>예: [{A}, {B,C}]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371600"/>
            <a:ext cx="2651760" cy="1097280"/>
          </a:xfrm>
          <a:prstGeom prst="roundRect">
            <a:avLst/>
          </a:prstGeom>
          <a:solidFill>
            <a:srgbClr val="FFE1E1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82828"/>
                </a:solidFill>
              </a:defRPr>
            </a:pPr>
            <a:r>
              <a:t>Nogood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60604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646464"/>
                </a:solidFill>
              </a:defRPr>
            </a:pPr>
            <a:r>
              <a:t>모순인 환경</a:t>
            </a:r>
            <a:br/>
            <a:r>
              <a:t>이 조합은 불가능!</a:t>
            </a:r>
            <a:br/>
            <a:r>
              <a:t>예: {A,B}*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11247120" cy="914400"/>
          </a:xfrm>
          <a:prstGeom prst="roundRect">
            <a:avLst/>
          </a:prstGeom>
          <a:solidFill>
            <a:srgbClr val="FFFAE6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8"/>
                </a:solidFill>
              </a:defRPr>
            </a:pPr>
            <a:r>
              <a:t>핵심 아이디어: "노드의 참/거짓을 묻지 말고,</a:t>
            </a:r>
            <a:br/>
            <a:r>
              <a:t>어떤 가정 하에서 참인지를 물어라"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3C32"/>
                </a:solidFill>
                <a:latin typeface="Arial"/>
              </a:defRPr>
            </a:pPr>
            <a:r>
              <a:t>JTMS: "X는 참인가?" (이진 답변)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8C3C"/>
                </a:solidFill>
                <a:latin typeface="Arial"/>
              </a:defRPr>
            </a:pPr>
            <a:r>
              <a:t>ATMS: "X는 어떤 가정 하에서 참인가?"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 JTMS vs ATMS 구조적 비교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286000" cy="54864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측면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463040"/>
            <a:ext cx="4114800" cy="54864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JTMS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463040"/>
            <a:ext cx="4846320" cy="54864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ATMS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286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노드 레이블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10312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:IN / :OUT (이진값)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103120"/>
            <a:ext cx="4846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환경 리스트 [{A}, {B,C}]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2286000" cy="548640"/>
          </a:xfrm>
          <a:prstGeom prst="roundRect">
            <a:avLst/>
          </a:prstGeom>
          <a:solidFill>
            <a:srgbClr val="F8F8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동시 세계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743200"/>
            <a:ext cx="4114800" cy="548640"/>
          </a:xfrm>
          <a:prstGeom prst="roundRect">
            <a:avLst/>
          </a:prstGeom>
          <a:solidFill>
            <a:srgbClr val="F8F8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1개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743200"/>
            <a:ext cx="4846320" cy="548640"/>
          </a:xfrm>
          <a:prstGeom prst="roundRect">
            <a:avLst/>
          </a:prstGeom>
          <a:solidFill>
            <a:srgbClr val="F8F8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모든 일관된 세계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79"/>
            <a:ext cx="2286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모순 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383279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멈추고 철회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383279"/>
            <a:ext cx="4846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nogood 표시 → 자동 격리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2286000" cy="548640"/>
          </a:xfrm>
          <a:prstGeom prst="roundRect">
            <a:avLst/>
          </a:prstGeom>
          <a:solidFill>
            <a:srgbClr val="F8F8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가정 변경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023360"/>
            <a:ext cx="4114800" cy="548640"/>
          </a:xfrm>
          <a:prstGeom prst="roundRect">
            <a:avLst/>
          </a:prstGeom>
          <a:solidFill>
            <a:srgbClr val="F8F8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철회 → 재추론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023360"/>
            <a:ext cx="4846320" cy="548640"/>
          </a:xfrm>
          <a:prstGeom prst="roundRect">
            <a:avLst/>
          </a:prstGeom>
          <a:solidFill>
            <a:srgbClr val="F8F8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이미 계산되어 있음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63440"/>
            <a:ext cx="2286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질문 방식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4663440"/>
            <a:ext cx="41148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"X는 참인가?"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4663440"/>
            <a:ext cx="4846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"어떤 가정 하에서 참인가?"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03519"/>
            <a:ext cx="2286000" cy="548640"/>
          </a:xfrm>
          <a:prstGeom prst="roundRect">
            <a:avLst/>
          </a:prstGeom>
          <a:solidFill>
            <a:srgbClr val="F8F8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핵심 연산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5303519"/>
            <a:ext cx="4114800" cy="548640"/>
          </a:xfrm>
          <a:prstGeom prst="roundRect">
            <a:avLst/>
          </a:prstGeom>
          <a:solidFill>
            <a:srgbClr val="F8F8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enable / retract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5303519"/>
            <a:ext cx="4846320" cy="548640"/>
          </a:xfrm>
          <a:prstGeom prst="roundRect">
            <a:avLst/>
          </a:prstGeom>
          <a:solidFill>
            <a:srgbClr val="F8F8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weave (교차곱 + 필터링)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 justify-node 파이프라인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① 구조체 생성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48840"/>
            <a:ext cx="3474720" cy="2103120"/>
          </a:xfrm>
          <a:prstGeom prst="roundRect">
            <a:avLst/>
          </a:prstGeom>
          <a:solidFill>
            <a:srgbClr val="DCEB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82828"/>
                </a:solidFill>
              </a:defRPr>
            </a:pPr>
            <a:r>
              <a:t>Justification</a:t>
            </a:r>
            <a:br/>
            <a:r>
              <a:t>(informant,</a:t>
            </a:r>
            <a:br/>
            <a:r>
              <a:t>consequence,</a:t>
            </a:r>
            <a:br/>
            <a:r>
              <a:t>antecedents)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7472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② 양방향 링크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48840"/>
            <a:ext cx="3474720" cy="2103120"/>
          </a:xfrm>
          <a:prstGeom prst="roundRect">
            <a:avLst/>
          </a:prstGeom>
          <a:solidFill>
            <a:srgbClr val="DCF5DC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82828"/>
                </a:solidFill>
              </a:defRPr>
            </a:pPr>
            <a:r>
              <a:t>consequence.justs</a:t>
            </a:r>
            <a:br/>
            <a:r>
              <a:t>← just</a:t>
            </a:r>
            <a:br/>
            <a:r>
              <a:t>antecedent.consequences</a:t>
            </a:r>
            <a:br/>
            <a:r>
              <a:t>← just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71600"/>
            <a:ext cx="347472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③ propagate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148840"/>
            <a:ext cx="3474720" cy="2103120"/>
          </a:xfrm>
          <a:prstGeom prst="roundRect">
            <a:avLst/>
          </a:prstGeom>
          <a:solidFill>
            <a:srgbClr val="FFF0DC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82828"/>
                </a:solidFill>
              </a:defRPr>
            </a:pPr>
            <a:r>
              <a:t>weave</a:t>
            </a:r>
            <a:br/>
            <a:r>
              <a:t>(교차곱)</a:t>
            </a:r>
            <a:br/>
            <a:r>
              <a:t>↓</a:t>
            </a:r>
            <a:br/>
            <a:r>
              <a:t>update</a:t>
            </a:r>
            <a:br/>
            <a:r>
              <a:t>(label 갱신)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C78"/>
                </a:solidFill>
                <a:latin typeface="Arial"/>
              </a:defRPr>
            </a:pPr>
            <a:r>
              <a:t>update의 분기: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20640"/>
            <a:ext cx="5303520" cy="1097280"/>
          </a:xfrm>
          <a:prstGeom prst="roundRect">
            <a:avLst/>
          </a:prstGeom>
          <a:solidFill>
            <a:srgbClr val="DCF5DC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82828"/>
                </a:solidFill>
              </a:defRPr>
            </a:pPr>
            <a:r>
              <a:t>일반 노드</a:t>
            </a:r>
            <a:br/>
            <a:r>
              <a:t>→ label 갱신</a:t>
            </a:r>
            <a:br/>
            <a:r>
              <a:t>→ 하류 justification 재전파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120640"/>
            <a:ext cx="5303520" cy="1097280"/>
          </a:xfrm>
          <a:prstGeom prst="roundRect">
            <a:avLst/>
          </a:prstGeom>
          <a:solidFill>
            <a:srgbClr val="FFE1E1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C83C32"/>
                </a:solidFill>
              </a:defRPr>
            </a:pPr>
            <a:r>
              <a:t>모순 노드 (contradictory)</a:t>
            </a:r>
            <a:br/>
            <a:r>
              <a:t>→ new-nogood 5단계 실행!</a:t>
            </a:r>
            <a:br/>
            <a:r>
              <a:t>→ 금지 도장 + label 제거 + 오염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 new-nogood: 금지 처리 5단계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19456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① 금지 도장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148840"/>
            <a:ext cx="2194560" cy="1371600"/>
          </a:xfrm>
          <a:prstGeom prst="roundRect">
            <a:avLst/>
          </a:prstGeom>
          <a:solidFill>
            <a:srgbClr val="FFE1E1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C83C32"/>
                </a:solidFill>
              </a:defRPr>
            </a:pPr>
            <a:r>
              <a:t>env.nogood = reason</a:t>
            </a:r>
            <a:br/>
            <a:r>
              <a:t>이 환경은 모순이다!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371600"/>
            <a:ext cx="219456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label 제거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2148840"/>
            <a:ext cx="2194560" cy="1371600"/>
          </a:xfrm>
          <a:prstGeom prst="roundRect">
            <a:avLst/>
          </a:prstGeom>
          <a:solidFill>
            <a:srgbClr val="FFF0DC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DC8C1E"/>
                </a:solidFill>
              </a:defRPr>
            </a:pPr>
            <a:r>
              <a:t>remove-env-from-labels</a:t>
            </a:r>
            <a:br/>
            <a:r>
              <a:t>모순 세계에서 참은 무의미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219456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③ 테이블 등록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148840"/>
            <a:ext cx="2194560" cy="1371600"/>
          </a:xfrm>
          <a:prstGeom prst="roundRect">
            <a:avLst/>
          </a:prstGeom>
          <a:solidFill>
            <a:srgbClr val="DCEB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E3C78"/>
                </a:solidFill>
              </a:defRPr>
            </a:pPr>
            <a:r>
              <a:t>nogood-table에 등록</a:t>
            </a:r>
            <a:br/>
            <a:r>
              <a:t>이후 검사 시 참조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219456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④ 상위 정리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48840"/>
            <a:ext cx="2194560" cy="1371600"/>
          </a:xfrm>
          <a:prstGeom prst="roundRect">
            <a:avLst/>
          </a:prstGeom>
          <a:solidFill>
            <a:srgbClr val="DCF5DC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88C3C"/>
                </a:solidFill>
              </a:defRPr>
            </a:pPr>
            <a:r>
              <a:t>{A,B} 등록 시</a:t>
            </a:r>
            <a:br/>
            <a:r>
              <a:t>{A,B,C} 제거 (최소성)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371600"/>
            <a:ext cx="219456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⑤ 상향 오염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2148840"/>
            <a:ext cx="2194560" cy="1371600"/>
          </a:xfrm>
          <a:prstGeom prst="roundRect">
            <a:avLst/>
          </a:prstGeom>
          <a:solidFill>
            <a:srgbClr val="F0DC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643296"/>
                </a:solidFill>
              </a:defRPr>
            </a:pPr>
            <a:r>
              <a:t>env-table의 상위집합</a:t>
            </a:r>
            <a:br/>
            <a:r>
              <a:t>전부 자동 오염!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FFAE6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82828"/>
                </a:solidFill>
              </a:defRPr>
            </a:pPr>
            <a:r>
              <a:t>비유: "금지 식재료 조합" 시스템</a:t>
            </a:r>
            <a:br/>
            <a:br/>
            <a:r>
              <a:t>셰프(ATMS)가 식재료(가정)를 조합해서 요리(결론)를 만든다.</a:t>
            </a:r>
            <a:br/>
            <a:r>
              <a:t>"땅콩 + 새우"가 독이라는 사실을 발견!</a:t>
            </a:r>
            <a:br/>
            <a:br/>
            <a:r>
              <a:t>① "땅콩+새우" 조합에 "독!" 딱지  ② 이 조합을 쓴 모든 요리를 메뉴에서 제거</a:t>
            </a:r>
            <a:br/>
            <a:r>
              <a:t>③ 금지 목록에 등록  ④ "땅콩+새우+우유"도 이미 금지? → 큰 건 제거</a:t>
            </a:r>
            <a:br/>
            <a:r>
              <a:t>⑤ "땅콩+새우+달걀" 같은 상위 조합도 자동 금지!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 실전 예제: step-1 (de Kleer 논문)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5669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82828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C78"/>
                </a:solidFill>
                <a:latin typeface="Arial"/>
              </a:defRPr>
            </a:pPr>
            <a:r>
              <a:t>추론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82828"/>
                </a:solidFill>
              </a:defRPr>
            </a:pPr>
            <a:r>
              <a:t>가정: A, B, C</a:t>
            </a:r>
          </a:p>
          <a:p>
            <a:pPr>
              <a:spcAft>
                <a:spcPts val="400"/>
              </a:spcAft>
              <a:defRPr sz="1300" b="0">
                <a:solidFill>
                  <a:srgbClr val="646464"/>
                </a:solidFill>
              </a:defRPr>
            </a:pPr>
            <a:r>
              <a:t>J1: A → x=1     x=1.label = [{A}]</a:t>
            </a:r>
          </a:p>
          <a:p>
            <a:pPr>
              <a:spcAft>
                <a:spcPts val="400"/>
              </a:spcAft>
              <a:defRPr sz="1300" b="0">
                <a:solidFill>
                  <a:srgbClr val="646464"/>
                </a:solidFill>
              </a:defRPr>
            </a:pPr>
            <a:r>
              <a:t>J2: B → y=x     y=x.label = [{B}]</a:t>
            </a:r>
          </a:p>
          <a:p>
            <a:pPr>
              <a:spcAft>
                <a:spcPts val="400"/>
              </a:spcAft>
              <a:defRPr sz="1300" b="0">
                <a:solidFill>
                  <a:srgbClr val="646464"/>
                </a:solidFill>
              </a:defRPr>
            </a:pPr>
            <a:r>
              <a:t>J3: C → x=z     x=z.label = [{C}]</a:t>
            </a:r>
          </a:p>
          <a:p>
            <a:pPr>
              <a:spcAft>
                <a:spcPts val="400"/>
              </a:spcAft>
              <a:defRPr sz="1300" b="0">
                <a:solidFill>
                  <a:srgbClr val="282828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C83C32"/>
                </a:solidFill>
              </a:defRPr>
            </a:pPr>
            <a:r>
              <a:t>nogood({A, B})  →  {A,B}* 금지!</a:t>
            </a:r>
          </a:p>
          <a:p>
            <a:pPr>
              <a:spcAft>
                <a:spcPts val="400"/>
              </a:spcAft>
              <a:defRPr sz="1300" b="0">
                <a:solidFill>
                  <a:srgbClr val="282828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82828"/>
                </a:solidFill>
              </a:defRPr>
            </a:pPr>
            <a:r>
              <a:t>J4: x=1 + y=x → y=1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C83C32"/>
                </a:solidFill>
              </a:defRPr>
            </a:pPr>
            <a:r>
              <a:t>  {A} x {B} = {A,B} → nogood! 차단!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646464"/>
                </a:solidFill>
              </a:defRPr>
            </a:pPr>
            <a:r>
              <a:t>  y=1.label = []  (증명 불가)</a:t>
            </a:r>
          </a:p>
          <a:p>
            <a:pPr>
              <a:spcAft>
                <a:spcPts val="400"/>
              </a:spcAft>
              <a:defRPr sz="1300" b="0">
                <a:solidFill>
                  <a:srgbClr val="282828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82828"/>
                </a:solidFill>
              </a:defRPr>
            </a:pPr>
            <a:r>
              <a:t>Premise: z=1  (무조건 참)</a:t>
            </a:r>
          </a:p>
          <a:p>
            <a:pPr>
              <a:spcAft>
                <a:spcPts val="400"/>
              </a:spcAft>
              <a:defRPr sz="1300" b="0">
                <a:solidFill>
                  <a:srgbClr val="288C3C"/>
                </a:solidFill>
              </a:defRPr>
            </a:pPr>
            <a:r>
              <a:t>J5: z=1 + x=z → x=1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288C3C"/>
                </a:solidFill>
              </a:defRPr>
            </a:pPr>
            <a:r>
              <a:t>  x=1.label = [{A}, {C}]  두 경로!</a:t>
            </a:r>
          </a:p>
          <a:p>
            <a:pPr>
              <a:spcAft>
                <a:spcPts val="400"/>
              </a:spcAft>
              <a:defRPr sz="1300" b="0">
                <a:solidFill>
                  <a:srgbClr val="282828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88C3C"/>
                </a:solidFill>
              </a:defRPr>
            </a:pPr>
            <a:r>
              <a:t>J4 재전파: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288C3C"/>
                </a:solidFill>
              </a:defRPr>
            </a:pPr>
            <a:r>
              <a:t>  {C} x {B} = {B,C} → 유효!</a:t>
            </a:r>
          </a:p>
          <a:p>
            <a:pPr lvl="1">
              <a:spcAft>
                <a:spcPts val="400"/>
              </a:spcAft>
              <a:defRPr sz="1300" b="1">
                <a:solidFill>
                  <a:srgbClr val="288C3C"/>
                </a:solidFill>
              </a:defRPr>
            </a:pPr>
            <a:r>
              <a:t>  y=1.label = [{B,C}]  우회 성공!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669280" cy="228600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C83C32"/>
                </a:solidFill>
              </a:defRPr>
            </a:pPr>
            <a:r>
              <a:t>JTMS였다면?</a:t>
            </a:r>
            <a:br/>
            <a:br/>
            <a:r>
              <a:t>  {A,B} 모순 발견</a:t>
            </a:r>
            <a:br/>
            <a:r>
              <a:t>  → A 철회</a:t>
            </a:r>
            <a:br/>
            <a:r>
              <a:t>  → 모든 추론 재시작</a:t>
            </a:r>
            <a:br/>
            <a:r>
              <a:t>  → C 경로 다시 탐색...</a:t>
            </a:r>
            <a:br/>
            <a:r>
              <a:t>  → 비용 큼!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669280" cy="2834640"/>
          </a:xfrm>
          <a:prstGeom prst="roundRect">
            <a:avLst/>
          </a:prstGeom>
          <a:solidFill>
            <a:srgbClr val="E6FFE6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88C3C"/>
                </a:solidFill>
              </a:defRPr>
            </a:pPr>
            <a:r>
              <a:t>ATMS는?</a:t>
            </a:r>
            <a:br/>
            <a:br/>
            <a:r>
              <a:t>  {A,B}만 격리 (나머지 유효)</a:t>
            </a:r>
            <a:br/>
            <a:r>
              <a:t>  x=1에 {C} 경로 자동 추가</a:t>
            </a:r>
            <a:br/>
            <a:r>
              <a:t>  J4가 자동 재전파</a:t>
            </a:r>
            <a:br/>
            <a:r>
              <a:t>  {B,C} 우회 경로 자동 발견!</a:t>
            </a:r>
            <a:br/>
            <a:br/>
            <a:r>
              <a:t>  재계산 없음!</a:t>
            </a:r>
            <a:br/>
            <a:r>
              <a:t>  이것이 ATMS의 진가!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 ATMS의 응용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73152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의료 진단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651760" cy="2286000"/>
          </a:xfrm>
          <a:prstGeom prst="roundRect">
            <a:avLst/>
          </a:prstGeom>
          <a:solidFill>
            <a:srgbClr val="FFE6E6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82828"/>
                </a:solidFill>
              </a:defRPr>
            </a:pPr>
            <a:r>
              <a:t>여러 질병 가설을</a:t>
            </a:r>
            <a:br/>
            <a:r>
              <a:t>동시에 추적</a:t>
            </a:r>
            <a:br/>
            <a:r>
              <a:t>검사 결과로</a:t>
            </a:r>
            <a:br/>
            <a:r>
              <a:t>가설 제거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71600"/>
            <a:ext cx="2651760" cy="73152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회로 진단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286000"/>
            <a:ext cx="2651760" cy="228600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82828"/>
                </a:solidFill>
              </a:defRPr>
            </a:pPr>
            <a:r>
              <a:t>고장 부품 후보를</a:t>
            </a:r>
            <a:br/>
            <a:r>
              <a:t>병렬 추적</a:t>
            </a:r>
            <a:br/>
            <a:r>
              <a:t>(de Kleer의</a:t>
            </a:r>
            <a:br/>
            <a:r>
              <a:t>원래 목적)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2651760" cy="73152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설계 탐색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2651760" cy="2286000"/>
          </a:xfrm>
          <a:prstGeom prst="roundRect">
            <a:avLst/>
          </a:prstGeom>
          <a:solidFill>
            <a:srgbClr val="E6FFE6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82828"/>
                </a:solidFill>
              </a:defRPr>
            </a:pPr>
            <a:r>
              <a:t>여러 설계 대안을</a:t>
            </a:r>
            <a:br/>
            <a:r>
              <a:t>동시에 유지</a:t>
            </a:r>
            <a:br/>
            <a:r>
              <a:t>제약 위반 시</a:t>
            </a:r>
            <a:br/>
            <a:r>
              <a:t>자동 격리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371600"/>
            <a:ext cx="2651760" cy="73152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계획 수립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286000"/>
            <a:ext cx="2651760" cy="2286000"/>
          </a:xfrm>
          <a:prstGeom prst="roundRect">
            <a:avLst/>
          </a:prstGeom>
          <a:solidFill>
            <a:srgbClr val="FFF5DC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82828"/>
                </a:solidFill>
              </a:defRPr>
            </a:pPr>
            <a:r>
              <a:t>여러 행동 계획을</a:t>
            </a:r>
            <a:br/>
            <a:r>
              <a:t>병렬 평가</a:t>
            </a:r>
            <a:br/>
            <a:r>
              <a:t>실패 시 대안</a:t>
            </a:r>
            <a:br/>
            <a:r>
              <a:t>자동 활성화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FFFAE6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8"/>
                </a:solidFill>
              </a:defRPr>
            </a:pPr>
            <a:r>
              <a:t>공통 패턴: 여러 가설/대안을 동시에 유지하다가</a:t>
            </a:r>
            <a:br/>
            <a:r>
              <a:t>모순이 발견되면 해당 가설만 제거하고 나머지는 계속 작동</a:t>
            </a:r>
            <a:br/>
            <a:r>
              <a:t>→ 백트래킹 없이 자동 우회!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 de Kleer의 핵심 설계 원칙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19456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발생 시점 처리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194560"/>
            <a:ext cx="2194560" cy="1280160"/>
          </a:xfrm>
          <a:prstGeom prst="roundRect">
            <a:avLst/>
          </a:prstGeom>
          <a:solidFill>
            <a:srgbClr val="DCEB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매번 전수검사 대신</a:t>
            </a:r>
            <a:br/>
            <a:r>
              <a:t>발생 시 한 번에 전파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371600"/>
            <a:ext cx="219456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최소성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2194560"/>
            <a:ext cx="2194560" cy="1280160"/>
          </a:xfrm>
          <a:prstGeom prst="roundRect">
            <a:avLst/>
          </a:prstGeom>
          <a:solidFill>
            <a:srgbClr val="DCF5DC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테이블에 최소 집합만</a:t>
            </a:r>
            <a:br/>
            <a:r>
              <a:t>메모리+속도 최적화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219456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부분집합 판정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194560"/>
            <a:ext cx="2194560" cy="1280160"/>
          </a:xfrm>
          <a:prstGeom prst="roundRect">
            <a:avLst/>
          </a:prstGeom>
          <a:solidFill>
            <a:srgbClr val="FFF0DC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{A,B} ⊆ X 관계로만</a:t>
            </a:r>
            <a:br/>
            <a:r>
              <a:t>오염 → 정확하고 안전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219456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역참조 활용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94560"/>
            <a:ext cx="2194560" cy="1280160"/>
          </a:xfrm>
          <a:prstGeom prst="roundRect">
            <a:avLst/>
          </a:prstGeom>
          <a:solidFill>
            <a:srgbClr val="F0DC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env.nodes로</a:t>
            </a:r>
            <a:br/>
            <a:r>
              <a:t>O(k) 빠른 label 정리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371600"/>
            <a:ext cx="2194560" cy="640080"/>
          </a:xfrm>
          <a:prstGeom prst="roundRect">
            <a:avLst/>
          </a:prstGeom>
          <a:solidFill>
            <a:srgbClr val="1E3C78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이유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2194560"/>
            <a:ext cx="2194560" cy="1280160"/>
          </a:xfrm>
          <a:prstGeom prst="roundRect">
            <a:avLst/>
          </a:prstGeom>
          <a:solidFill>
            <a:srgbClr val="FFE6E6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282828"/>
                </a:solidFill>
              </a:defRPr>
            </a:pPr>
            <a:r>
              <a:t>'왜 금지?'를 저장</a:t>
            </a:r>
            <a:br/>
            <a:r>
              <a:t>설명 생성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1E3C78"/>
                </a:solidFill>
              </a:defRPr>
            </a:pPr>
            <a:r>
              <a:t>Label의 Antichain 불변량 (de Kleer가 확립한 핵심 이론)</a:t>
            </a:r>
            <a:br/>
            <a:br/>
            <a:r>
              <a:t>어떤 노드의 label에 있는 임의의 두 환경 E1, E2에 대해,</a:t>
            </a:r>
            <a:br/>
            <a:r>
              <a:t>E1 ⊄ E2 이고 E2 ⊄ E1 이다.</a:t>
            </a:r>
            <a:br/>
            <a:r>
              <a:t>(어느 것도 다른 것의 부분집합이 아니다)</a:t>
            </a:r>
            <a:br/>
            <a:br/>
            <a:r>
              <a:t>효과: label이 항상 최소 크기로 유지됨</a:t>
            </a:r>
            <a:br/>
            <a:r>
              <a:t>       = "이 노드가 참이 되는 가장 약한 조건들"을 정확히 표현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C8F0"/>
                </a:solidFill>
                <a:latin typeface="Arial"/>
              </a:defRPr>
            </a:pPr>
            <a:r>
              <a:t>한 문장 정의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32720" cy="18288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E3C78"/>
                </a:solidFill>
              </a:defRPr>
            </a:pPr>
            <a:r>
              <a:t>ATMS는 "여러 가능한 세계를 동시에 추적하면서,</a:t>
            </a:r>
            <a:br/>
            <a:r>
              <a:t>모순이 발견되면 해당 세계만 격리하고</a:t>
            </a:r>
            <a:br/>
            <a:r>
              <a:t>나머지는 계속 작동하게 하는" 진리 유지 시스템이다.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C8F0"/>
                </a:solidFill>
                <a:latin typeface="Arial"/>
              </a:defRPr>
            </a:pPr>
            <a:r>
              <a:t>패러다임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3C32"/>
                </a:solidFill>
                <a:latin typeface="Arial"/>
              </a:defRPr>
            </a:pPr>
            <a:r>
              <a:t>JTMS: "X는 참이다"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754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DC78"/>
                </a:solidFill>
                <a:latin typeface="Arial"/>
              </a:defRPr>
            </a:pPr>
            <a:r>
              <a:t>ATMS: "X는 {A} 하에서 참이고,</a:t>
            </a:r>
            <a:br/>
            <a:r>
              <a:t>       {B,C} 하에서도 참이다"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AAC8"/>
                </a:solidFill>
                <a:latin typeface="Arial"/>
              </a:defRPr>
            </a:pPr>
            <a:r>
              <a:t>Building Problem Solvers — K.D. Forbus &amp; J. de Kleer, 1993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