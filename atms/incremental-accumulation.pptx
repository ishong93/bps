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9B4FA"/>
                </a:solidFill>
                <a:latin typeface="Malgun Gothic"/>
              </a:defRPr>
            </a:pPr>
            <a:r>
              <a:t>Incremental Accumulation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399B2"/>
                </a:solidFill>
                <a:latin typeface="Malgun Gothic"/>
              </a:defRPr>
            </a:pPr>
            <a:r>
              <a:t>변경분만 추적하는 프로그래밍 기법과 ATMS에서의 적용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108960"/>
            <a:ext cx="3931920" cy="381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10698480" cy="59436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332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0241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DD6F4"/>
                </a:solidFill>
                <a:latin typeface="Malgun Gothic"/>
              </a:defRPr>
            </a:pPr>
            <a:r>
              <a:t>Incremental Accumulation이란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075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99B2"/>
                </a:solidFill>
                <a:latin typeface="Malgun Gothic"/>
              </a:defRPr>
            </a:pPr>
            <a:r>
              <a:t>기법의 정의, 핵심 원리, 비유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36776"/>
            <a:ext cx="10698480" cy="59436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642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550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DD6F4"/>
                </a:solidFill>
                <a:latin typeface="Malgun Gothic"/>
              </a:defRPr>
            </a:pPr>
            <a:r>
              <a:t>전체 재계산 vs Incremental  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938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99B2"/>
                </a:solidFill>
                <a:latin typeface="Malgun Gothic"/>
              </a:defRPr>
            </a:pPr>
            <a:r>
              <a:t>두 접근법의 구체적 비교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267712"/>
            <a:ext cx="10698480" cy="59436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29514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86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DD6F4"/>
                </a:solidFill>
                <a:latin typeface="Malgun Gothic"/>
              </a:defRPr>
            </a:pPr>
            <a:r>
              <a:t>ATMS 전파 파이프라인 전체 흐름 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5694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99B2"/>
                </a:solidFill>
                <a:latin typeface="Malgun Gothic"/>
              </a:defRPr>
            </a:pPr>
            <a:r>
              <a:t>justify → propagate → weave → update-label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98648"/>
            <a:ext cx="10698480" cy="59436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26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9169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DD6F4"/>
                </a:solidFill>
                <a:latin typeface="Malgun Gothic"/>
              </a:defRPr>
            </a:pPr>
            <a:r>
              <a:t>propagate: Delta 전달          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20040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99B2"/>
                </a:solidFill>
                <a:latin typeface="Malgun Gothic"/>
              </a:defRPr>
            </a:pPr>
            <a:r>
              <a:t>변경분만 전달하는 전파 엔진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529584"/>
            <a:ext cx="10698480" cy="59436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5570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5478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DD6F4"/>
                </a:solidFill>
                <a:latin typeface="Malgun Gothic"/>
              </a:defRPr>
            </a:pPr>
            <a:r>
              <a:t>weave: 단계별 교차곱 누적       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831336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99B2"/>
                </a:solidFill>
                <a:latin typeface="Malgun Gothic"/>
              </a:defRPr>
            </a:pPr>
            <a:r>
              <a:t>전건별 순차 처리와 중간 필터링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160520"/>
            <a:ext cx="10698480" cy="59436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1879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1788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DD6F4"/>
                </a:solidFill>
                <a:latin typeface="Malgun Gothic"/>
              </a:defRPr>
            </a:pPr>
            <a:r>
              <a:t>update-label: Delta 필터링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46227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99B2"/>
                </a:solidFill>
                <a:latin typeface="Malgun Gothic"/>
              </a:defRPr>
            </a:pPr>
            <a:r>
              <a:t>Lazy Deletion과 최소성 유지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791456"/>
            <a:ext cx="10698480" cy="59436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818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  <a:latin typeface="Consolas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8097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DD6F4"/>
                </a:solidFill>
                <a:latin typeface="Malgun Gothic"/>
              </a:defRPr>
            </a:pPr>
            <a:r>
              <a:t>union-env / cons-env             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09320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99B2"/>
                </a:solidFill>
                <a:latin typeface="Malgun Gothic"/>
              </a:defRPr>
            </a:pPr>
            <a:r>
              <a:t>환경 합치기의 조기 종료와 구조적 공유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422392"/>
            <a:ext cx="10698480" cy="59436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4982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440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DD6F4"/>
                </a:solidFill>
                <a:latin typeface="Malgun Gothic"/>
              </a:defRPr>
            </a:pPr>
            <a:r>
              <a:t>nogood 역전파                    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72414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99B2"/>
                </a:solidFill>
                <a:latin typeface="Malgun Gothic"/>
              </a:defRPr>
            </a:pPr>
            <a:r>
              <a:t>new-nogood의 역방향 incremental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6053328"/>
            <a:ext cx="10698480" cy="59436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6080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  <a:latin typeface="Consolas"/>
              </a:defRPr>
            </a:pPr>
            <a: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607161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DD6F4"/>
                </a:solidFill>
                <a:latin typeface="Malgun Gothic"/>
              </a:defRPr>
            </a:pPr>
            <a:r>
              <a:t>5가지 구현 기법 종합             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3550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99B2"/>
                </a:solidFill>
                <a:latin typeface="Malgun Gothic"/>
              </a:defRPr>
            </a:pPr>
            <a:r>
              <a:t>Delta 추적, Lazy Deletion, 조기 종료, 구조적 공유, 단계별 필터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Incremental Accumulation이란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"전체를 다시 만들지 말고, 바뀐 것만 반영하라"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Incremental Accumulation의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137160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Malgun Gothic"/>
              </a:defRPr>
            </a:pPr>
            <a:r>
              <a:t>정의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9E2AF"/>
                </a:solidFill>
                <a:latin typeface="Malgun Gothic"/>
              </a:defRPr>
            </a:pPr>
            <a:r>
              <a:t>상태 전체를 매번 재계산하지 않고, 변경분(Delta, △)만 계산하여 기존 상태에 점진적으로 축적하는 기법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의존하는 다른 부분에도 변경분만 전달하여, 불필요한 재계산을 최소화합니다.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3474720" cy="365760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  <a:latin typeface="Malgun Gothic"/>
              </a:defRPr>
            </a:pPr>
            <a:r>
              <a:t>원리 1: Delta 추적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"무엇이 바뀌었는가?"만 식별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F9E2AF"/>
                </a:solidFill>
                <a:latin typeface="Malgun Gothic"/>
              </a:defRPr>
            </a:pPr>
            <a:r>
              <a:t>비유: 회계 장부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매일 모든 거래를 처음부터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다시 합산하지 않는다.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어제 잔고: 1,000원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A6E3A1"/>
                </a:solidFill>
                <a:latin typeface="Consolas"/>
              </a:defRPr>
            </a:pPr>
            <a:r>
              <a:t>오늘 입금: +500원  ← △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오늘 잔고: 1,500원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Malgun Gothic"/>
              </a:defRPr>
            </a:pPr>
            <a:r>
              <a:t>→ △(+500)만 반영하면 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743200"/>
            <a:ext cx="3657600" cy="365760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88036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8BA8"/>
                </a:solidFill>
                <a:latin typeface="Malgun Gothic"/>
              </a:defRPr>
            </a:pPr>
            <a:r>
              <a:t>원리 2: 선택적 전파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"영향받는 곳에만 알려라"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F9E2AF"/>
                </a:solidFill>
                <a:latin typeface="Malgun Gothic"/>
              </a:defRPr>
            </a:pPr>
            <a:r>
              <a:t>비유: 뉴스 알림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모든 사람에게 신문을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다시 배달하지 않는다.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38BA8"/>
                </a:solidFill>
                <a:latin typeface="Consolas"/>
              </a:defRPr>
            </a:pPr>
            <a:r>
              <a:t>변경: 속보 1건 추가 ← △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→ 구독자에게만 푸시 알림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Malgun Gothic"/>
              </a:defRPr>
            </a:pPr>
            <a:r>
              <a:t>→ △이 없으면 전파도 없음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743200"/>
            <a:ext cx="3566160" cy="365760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88036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BA6F7"/>
                </a:solidFill>
                <a:latin typeface="Malgun Gothic"/>
              </a:defRPr>
            </a:pPr>
            <a:r>
              <a:t>원리 3: 단계별 필터링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"불필요한 것은 즉시 제거"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F9E2AF"/>
                </a:solidFill>
                <a:latin typeface="Malgun Gothic"/>
              </a:defRPr>
            </a:pPr>
            <a:r>
              <a:t>비유: 공장 품질 검사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완제품을 다 만들고 나서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불량 검사를 하지 않는다.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CBA6F7"/>
                </a:solidFill>
                <a:latin typeface="Consolas"/>
              </a:defRPr>
            </a:pPr>
            <a:r>
              <a:t>각 공정마다 검사 ← 필터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→ 불량은 다음 공정 진입 X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Malgun Gothic"/>
              </a:defRPr>
            </a:pPr>
            <a:r>
              <a:t>→ 최종 단계의 부담 감소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전체 재계산 vs Incremental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두 접근법의 구체적 비교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전체 재계산 vs Incremental Accumulation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30352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8BA8"/>
                </a:solidFill>
                <a:latin typeface="Malgun Gothic"/>
              </a:defRPr>
            </a:pPr>
            <a:r>
              <a:t>X  전체 재계산 (Batch Recomputation)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매번 label 전체를 처음부터 계산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9399B2"/>
                </a:solidFill>
                <a:latin typeface="Malgun Gothic"/>
              </a:defRPr>
            </a:pPr>
            <a:r>
              <a:t>의사코드: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on_change(node):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  new_label = []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  for just in node.justs: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    envs = cross_product(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      all antecedent labels)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    new_label += filter(envs)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38BA8"/>
                </a:solidFill>
                <a:latin typeface="Consolas"/>
              </a:defRPr>
            </a:pPr>
            <a:r>
              <a:t>    node.label = minimize(new_label)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  for dep in dependents(node):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38BA8"/>
                </a:solidFill>
                <a:latin typeface="Consolas"/>
              </a:defRPr>
            </a:pPr>
            <a:r>
              <a:t>      on_change(dep)  # 전체 재귀!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F38BA8"/>
                </a:solidFill>
                <a:latin typeface="Malgun Gothic"/>
              </a:defRPr>
            </a:pPr>
            <a:r>
              <a:t>문제점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  1. 모든 정당화의 교차곱 재계산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  2. 변화 없어도 후속 노드에 전파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  3. O(m^n) 조합 폭발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  4. 최종 단계에서만 필터링 → 낭비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57784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344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  <a:latin typeface="Malgun Gothic"/>
              </a:defRPr>
            </a:pPr>
            <a:r>
              <a:t>O  Incremental Accumulation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변경분(△)만 계산하여 기존에 병합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9399B2"/>
                </a:solidFill>
                <a:latin typeface="Malgun Gothic"/>
              </a:defRPr>
            </a:pPr>
            <a:r>
              <a:t>의사코드 (ATMS 실제 방식):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propagate(just, changed, △):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  new = weave(changed,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A6E3A1"/>
                </a:solidFill>
                <a:latin typeface="Consolas"/>
              </a:defRPr>
            </a:pPr>
            <a:r>
              <a:t>       △, antecedents)  # △만!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  △' = update_label(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A6E3A1"/>
                </a:solidFill>
                <a:latin typeface="Consolas"/>
              </a:defRPr>
            </a:pPr>
            <a:r>
              <a:t>       node, new)  # 실제 추가분만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  if △' is empty: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A6E3A1"/>
                </a:solidFill>
                <a:latin typeface="Consolas"/>
              </a:defRPr>
            </a:pPr>
            <a:r>
              <a:t>      return  # 전파 중단!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  for dep in dependents: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    propagate(dep_just,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A6E3A1"/>
                </a:solidFill>
                <a:latin typeface="Consolas"/>
              </a:defRPr>
            </a:pPr>
            <a:r>
              <a:t>        node, △')  # △'만 전달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A6E3A1"/>
                </a:solidFill>
                <a:latin typeface="Malgun Gothic"/>
              </a:defRPr>
            </a:pPr>
            <a:r>
              <a:t>장점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  1. 변경분에 대한 교차곱만 계산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  2. 변화 없으면 전파 즉시 중단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  3. 각 단계에서 필터링 → 폭발 방지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  4. 구조적 공유로 메모리 절감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ATMS 전파 파이프라인 전체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justify → propagate → weave → update → update-label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△(Delta)가 흘러가는 전체 경로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89B4FA"/>
                </a:solidFill>
                <a:latin typeface="Malgun Gothic"/>
              </a:defRPr>
            </a:pPr>
            <a:r>
              <a:t>파이프라인: 각 단계에서 △만 전달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A6E3A1"/>
                </a:solidFill>
                <a:latin typeface="Consolas"/>
              </a:defRPr>
            </a:pPr>
            <a:r>
              <a:t>  justify-node("덧셈규칙", C, [A, B])               ▸ 사용자 호출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399B2"/>
                </a:solidFill>
                <a:latin typeface="Consolas"/>
              </a:defRPr>
            </a:pPr>
            <a:r>
              <a:t>     │  △₀ = [{}]                                      빈 환경 = 시작점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 ▼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propagate(just, nil, △₀=[{}])                      ▸ △₀를 weave에 전달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 │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 ▼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E2D5"/>
                </a:solidFill>
                <a:latin typeface="Consolas"/>
              </a:defRPr>
            </a:pPr>
            <a:r>
              <a:t>  weave(nil, △₀=[{}], [A, B])                        ▸ △₀ × A.label × B.label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399B2"/>
                </a:solidFill>
                <a:latin typeface="Consolas"/>
              </a:defRPr>
            </a:pPr>
            <a:r>
              <a:t>     │  A.label=[{A1}], B.label=[{A2}]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399B2"/>
                </a:solidFill>
                <a:latin typeface="Consolas"/>
              </a:defRPr>
            </a:pPr>
            <a:r>
              <a:t>     │  {} × {A1} × {A2} = {A1,A2}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4E2D5"/>
                </a:solidFill>
                <a:latin typeface="Consolas"/>
              </a:defRPr>
            </a:pPr>
            <a:r>
              <a:t>     │  △₁ = [{A1,A2}]                                 결과(후보)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 ▼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AB387"/>
                </a:solidFill>
                <a:latin typeface="Consolas"/>
              </a:defRPr>
            </a:pPr>
            <a:r>
              <a:t>  update(△₁=[{A1,A2}], C, just)                      ▸ 모순 체크 → label 갱신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 │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 ▼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38BA8"/>
                </a:solidFill>
                <a:latin typeface="Consolas"/>
              </a:defRPr>
            </a:pPr>
            <a:r>
              <a:t>  update-label(C, △₁=[{A1,A2}])                      ▸ 기존 label에 병합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38BA8"/>
                </a:solidFill>
                <a:latin typeface="Consolas"/>
              </a:defRPr>
            </a:pPr>
            <a:r>
              <a:t>     │  C.label: [] → [{A1,A2}]                        실제 변경 발생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38BA8"/>
                </a:solidFill>
                <a:latin typeface="Consolas"/>
              </a:defRPr>
            </a:pPr>
            <a:r>
              <a:t>     │  △₂ = [{A1,A2}]                                 새로 추가된 것만 반환!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 ▼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BA6F7"/>
                </a:solidFill>
                <a:latin typeface="Consolas"/>
              </a:defRPr>
            </a:pPr>
            <a:r>
              <a:t>  propagate(other_just, C, △₂=[{A1,A2}])             ▸ C의 후속 노드에 △₂만 전달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BA6F7"/>
                </a:solidFill>
                <a:latin typeface="Consolas"/>
              </a:defRPr>
            </a:pPr>
            <a:r>
              <a:t>     │  C의 전체 label이 아님! 새로 추가된 부분만!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 │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A6E3A1"/>
                </a:solidFill>
                <a:latin typeface="Consolas"/>
              </a:defRPr>
            </a:pPr>
            <a:r>
              <a:t>     └─ △₂가 비어있으면? → 전파 중단! (unless new-envs (return-from update nil))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propagate: Delta 전달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변경분만 전달하는 전파 엔진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propagate: 변경분만 전달하는 전파 엔진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9B4FA"/>
                </a:solidFill>
                <a:latin typeface="Malgun Gothic"/>
              </a:defRPr>
            </a:pPr>
            <a:r>
              <a:t>propagate 코드 (atms.lisp:415)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4937760" cy="1645920"/>
          </a:xfrm>
          <a:prstGeom prst="roundRect">
            <a:avLst>
              <a:gd name="adj" fmla="val 5000"/>
            </a:avLst>
          </a:prstGeom>
          <a:solidFill>
            <a:srgbClr val="313244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(defun propagate (just antecedent envs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    &amp;aux new-envs)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(if (setq new-envs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(weave antecedent envs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     (just-antecedents just)))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(update new-envs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(just-consequence just)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just)))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09728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6E3A1"/>
                </a:solidFill>
                <a:latin typeface="Malgun Gothic"/>
              </a:defRPr>
            </a:pPr>
            <a:r>
              <a:t>핵심: 매개변수가 곧 Delta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F9E2AF"/>
                </a:solidFill>
                <a:latin typeface="Malgun Gothic"/>
              </a:defRPr>
            </a:pPr>
            <a:r>
              <a:t>envs = 전체 label이 아닌, 변경분만!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94E2D5"/>
                </a:solidFill>
                <a:latin typeface="Consolas"/>
              </a:defRPr>
            </a:pPr>
            <a:r>
              <a:t>  초기: propagate(just, nil, [{}])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        → 빈 환경 1개 = 시작 신호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AB387"/>
                </a:solidFill>
                <a:latin typeface="Consolas"/>
              </a:defRPr>
            </a:pPr>
            <a:r>
              <a:t>  재귀: propagate(just, C, new-envs)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        → update-label이 반환한 △만 전달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38BA8"/>
                </a:solidFill>
                <a:latin typeface="Malgun Gothic"/>
              </a:defRPr>
            </a:pPr>
            <a:r>
              <a:t>weave가 nil 반환 → update 호출 안 함 = 전파 중단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11247120" cy="274320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94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94760"/>
            <a:ext cx="10789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94E2D5"/>
                </a:solidFill>
                <a:latin typeface="Malgun Gothic"/>
              </a:defRPr>
            </a:pPr>
            <a:r>
              <a:t>antecedent 매개변수의 역할 — 중복 계산 방지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상황: A와 B가 전건, C가 결론. A의 label이 변경됨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propagate(just, A, △_A)    ← A의 변경분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│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  └─ weave(A, △_A, [A, B])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     │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A6E3A1"/>
                </a:solidFill>
                <a:latin typeface="Consolas"/>
              </a:defRPr>
            </a:pPr>
            <a:r>
              <a:t>         ├─ node=A이면? (eq node antecedent) → 건너뜀!  △_A에 이미 A 반영됨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     │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AB387"/>
                </a:solidFill>
                <a:latin typeface="Consolas"/>
              </a:defRPr>
            </a:pPr>
            <a:r>
              <a:t>         └─ node=B이면? → B.label 전체와 교차곱  (B는 안 바뀌었으니 전체 사용)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F9E2AF"/>
                </a:solidFill>
                <a:latin typeface="Malgun Gothic"/>
              </a:defRPr>
            </a:pPr>
            <a:r>
              <a:t>  즉, △_A × B.label(전체) = 새 환경 후보들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38BA8"/>
                </a:solidFill>
                <a:latin typeface="Malgun Gothic"/>
              </a:defRPr>
            </a:pPr>
            <a:r>
              <a:t>  A.label(전체) × B.label(전체)가 아님! — 이것이 "incremental"의 핵심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weave: 단계별 교차곱 누적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전건별 순차 처리와 중간 필터링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weave: 교차곱을 단계별로 누적하며 필터링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30352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94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4E2D5"/>
                </a:solidFill>
                <a:latin typeface="Malgun Gothic"/>
              </a:defRPr>
            </a:pPr>
            <a:r>
              <a:t>weave 코드 (atms.lisp:520)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4937760" cy="4663440"/>
          </a:xfrm>
          <a:prstGeom prst="roundRect">
            <a:avLst>
              <a:gd name="adj" fmla="val 5000"/>
            </a:avLst>
          </a:prstGeom>
          <a:solidFill>
            <a:srgbClr val="313244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(defun weave (antecedent envs antecedents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&amp;aux new-envs new-env)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(setq envs (copy-list envs))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(dolist (node antecedents)  ; 전건 하나씩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(unless (eq node antecedent) ; 이미 반영된 것 건너뜀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(setq new-envs nil)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(dolist (env envs)      ; 현재 △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(if env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(dolist (node-env   ; × 이 전건의 label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     (tms-node-label node))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(setq new-env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(union-env env node-env))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(unless (env-nogood? new-env) ;필터1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(do ((nnew-envs new-envs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      (cdr nnew-envs)))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    ((null nnew-envs)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     (push new-env new-envs))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  (when (car nnew-envs)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    (case (compare-env new-env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            (car nnew-envs))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      ((:EQ :S21) (return nil))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      (:S12  ; 필터2: 최소성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       (rplaca nnew-envs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               nil)))))))))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(setq envs  ; △ 갱신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(delete nil new-envs :TEST #'eq))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(unless envs  ; △=[] → 전체 실패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(return-from weave nil))))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envs)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097280"/>
            <a:ext cx="557784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E2AF"/>
                </a:solidFill>
                <a:latin typeface="Malgun Gothic"/>
              </a:defRPr>
            </a:pPr>
            <a:r>
              <a:t>3개 필터의 역할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F38BA8"/>
                </a:solidFill>
                <a:latin typeface="Malgun Gothic"/>
              </a:defRPr>
            </a:pPr>
            <a:r>
              <a:t>필터 1  nogood 차단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(unless (env-nogood? new-env) ...)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  → 모순 환경은 즉시 탈락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CBA6F7"/>
                </a:solidFill>
                <a:latin typeface="Malgun Gothic"/>
              </a:defRPr>
            </a:pPr>
            <a:r>
              <a:t>필터 2  최소성 유지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:EQ/:S21 → 새것 탈락 (기존이 더 작음)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:S12    → 기존 것 제거 (새것이 더 작음)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  → 중간 결과도 항상 최소 유지!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A6E3A1"/>
                </a:solidFill>
                <a:latin typeface="Malgun Gothic"/>
              </a:defRPr>
            </a:pPr>
            <a:r>
              <a:t>필터 3  조기 종료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(unless envs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  (return-from weave nil))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  → 중간에 결과가 공집합이면 즉시 종료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700" b="1">
                <a:solidFill>
                  <a:srgbClr val="89B4FA"/>
                </a:solidFill>
                <a:latin typeface="Malgun Gothic"/>
              </a:defRPr>
            </a:pPr>
            <a:r>
              <a:t>단계별 누적 예시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Consolas"/>
              </a:defRPr>
            </a:pPr>
            <a:r>
              <a:t>  △₀ = [{}]       (시작점)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E2D5"/>
                </a:solidFill>
                <a:latin typeface="Consolas"/>
              </a:defRPr>
            </a:pPr>
            <a:r>
              <a:t>  × A.label=[{A1},{A2}]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Consolas"/>
              </a:defRPr>
            </a:pPr>
            <a:r>
              <a:t>  △₁ = [{A1},{A2}] (필터 적용 후)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E2D5"/>
                </a:solidFill>
                <a:latin typeface="Consolas"/>
              </a:defRPr>
            </a:pPr>
            <a:r>
              <a:t>  × B.label=[{A3}]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A6E3A1"/>
                </a:solidFill>
                <a:latin typeface="Consolas"/>
              </a:defRPr>
            </a:pPr>
            <a:r>
              <a:t>  △₂ = [{A1,A3},{A2,A3}] (최종)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F9E2AF"/>
                </a:solidFill>
                <a:latin typeface="Malgun Gothic"/>
              </a:defRPr>
            </a:pPr>
            <a:r>
              <a:t>  각 단계에서 필터링 → 조합 폭발 방지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update-label: Delta 필터링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Lazy Deletion과 최소성 유지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update-label: 실제로 추가된 것만 반환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30352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8BA8"/>
                </a:solidFill>
                <a:latin typeface="Malgun Gothic"/>
              </a:defRPr>
            </a:pPr>
            <a:r>
              <a:t>update-label 코드 (atms.lisp:474)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4937760" cy="4663440"/>
          </a:xfrm>
          <a:prstGeom prst="roundRect">
            <a:avLst>
              <a:gd name="adj" fmla="val 5000"/>
            </a:avLst>
          </a:prstGeom>
          <a:solidFill>
            <a:srgbClr val="313244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(defun update-label (node new-envs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       &amp;aux envs)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(setq envs (tms-node-label node))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;; 이중 루프: 새 환경 × 기존 label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(do ((new-envs new-envs (cdr new-envs)))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((null new-envs))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(do ((nenvs envs (cdr nenvs)))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((null nenvs)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(push (car new-envs) envs))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(cond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((null (car nenvs)))  ; 이미 제거됨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((null (car new-envs))) ; 이미 탈락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((case (compare-env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   (car new-envs)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   (car nenvs))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((:EQ :S21)  ; 새것 &gt;= 기존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(rplaca new-envs nil)) ;탈락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(:S12  ; 새것 &lt; 기존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(setf (env-nodes ...)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(delete node ...))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(rplaca nenvs nil)))))) ;기존제거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;; 최종: nil 정리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(setq new-envs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(delete nil new-envs :TEST #'eq))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(dolist (new-env new-envs)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(push node (env-nodes new-env)))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(setf (tms-node-label node)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(delete nil envs :TEST #'eq))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new-envs)  ; ← △만 반환!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097280"/>
            <a:ext cx="5577840" cy="237744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  <a:latin typeface="Malgun Gothic"/>
              </a:defRPr>
            </a:pPr>
            <a:r>
              <a:t>Lazy Deletion 패턴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단계 1: 제거할 것을 nil로 표시 (논리적 삭제)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(rplaca new-envs nil)   ; 새것 탈락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(rplaca nenvs nil)      ; 기존 것 제거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단계 2: 마지막에 한 번만 물리적 삭제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(delete nil new-envs :TEST #'eq)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(delete nil envs :TEST #'eq)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94E2D5"/>
                </a:solidFill>
                <a:latin typeface="Malgun Gothic"/>
              </a:defRPr>
            </a:pPr>
            <a:r>
              <a:t>→ 순회 중 리스트 구조 변경 X → 안전!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749039"/>
            <a:ext cx="5577840" cy="265176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88620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E2AF"/>
                </a:solidFill>
                <a:latin typeface="Malgun Gothic"/>
              </a:defRPr>
            </a:pPr>
            <a:r>
              <a:t>구체적 예시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Consolas"/>
              </a:defRPr>
            </a:pPr>
            <a:r>
              <a:t>기존 label = [{A1}, {A2,A3}]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Consolas"/>
              </a:defRPr>
            </a:pPr>
            <a:r>
              <a:t>새 후보    = [{A2}, {A1,A4}]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비교 1: {A2} vs {A1} → 독립 → 통과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38BA8"/>
                </a:solidFill>
                <a:latin typeface="Malgun Gothic"/>
              </a:defRPr>
            </a:pPr>
            <a:r>
              <a:t>비교 2: {A2} vs {A2,A3} → :S12 → {A2,A3} 제거!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38BA8"/>
                </a:solidFill>
                <a:latin typeface="Malgun Gothic"/>
              </a:defRPr>
            </a:pPr>
            <a:r>
              <a:t>비교 3: {A1,A4} vs {A1} → :S21 → {A1,A4} 탈락!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A6E3A1"/>
                </a:solidFill>
                <a:latin typeface="Consolas"/>
              </a:defRPr>
            </a:pPr>
            <a:r>
              <a:t>결과 label = [{A1}, {A2}]     (최소성 유지)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A6E3A1"/>
                </a:solidFill>
                <a:latin typeface="Consolas"/>
              </a:defRPr>
            </a:pPr>
            <a:r>
              <a:t>반환 △    = [{A2}]            (실제 추가분만!)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union-env / cons-env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환경 합치기의 조기 종료와 구조적 공유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union-env: 조기 종료 / cons-env: 구조적 공유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30352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AB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AB387"/>
                </a:solidFill>
                <a:latin typeface="Malgun Gothic"/>
              </a:defRPr>
            </a:pPr>
            <a:r>
              <a:t>union-env: 한 번에 하나씩, 조기 종료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4937760" cy="2011680"/>
          </a:xfrm>
          <a:prstGeom prst="roundRect">
            <a:avLst>
              <a:gd name="adj" fmla="val 5000"/>
            </a:avLst>
          </a:prstGeom>
          <a:solidFill>
            <a:srgbClr val="313244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(defun union-env (e1 e2)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(when (&gt; (env-count e1)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(env-count e2))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(psetq e1 e2 e2 e1))  ; 작은 쪽을 e1으로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(dolist (assume (env-assumptions e1))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(setq e2 (cons-env assume e2)) ;하나씩 추가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(if (env-nogood? e2)  ; 모순 발견?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(return nil)))   ; → 즉시 종료!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e2)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4754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9B4FA"/>
                </a:solidFill>
                <a:latin typeface="Malgun Gothic"/>
              </a:defRPr>
            </a:pPr>
            <a:r>
              <a:t>조기 종료 효과 (Incremental)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Consolas"/>
              </a:defRPr>
            </a:pPr>
            <a:r>
              <a:t>E1={A1,A2,A3}, E2={A4}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A6E3A1"/>
                </a:solidFill>
                <a:latin typeface="Consolas"/>
              </a:defRPr>
            </a:pPr>
            <a:r>
              <a:t>  Step 1: A1 추가 → {A1,A4}  일관 O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38BA8"/>
                </a:solidFill>
                <a:latin typeface="Consolas"/>
              </a:defRPr>
            </a:pPr>
            <a:r>
              <a:t>  Step 2: A2 추가 → {A1,A2,A4} 모순 X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38BA8"/>
                </a:solidFill>
                <a:latin typeface="Malgun Gothic"/>
              </a:defRPr>
            </a:pPr>
            <a:r>
              <a:t>  → nil 반환! (A3은 검사하지 않음)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전체를 합친 뒤 검사하면: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  {A1,A2,A3,A4} 생성 → 검사 → nogood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  → A3 추가까지 불필요하게 수행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F9E2AF"/>
                </a:solidFill>
                <a:latin typeface="Malgun Gothic"/>
              </a:defRPr>
            </a:pPr>
            <a:r>
              <a:t>→ 하나씩 추가하며 검사 = 낭비 최소화!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557784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BA6F7"/>
                </a:solidFill>
                <a:latin typeface="Malgun Gothic"/>
              </a:defRPr>
            </a:pPr>
            <a:r>
              <a:t>cons-env: 구조적 공유 (Structural Sharing)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0020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313244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(defun cons-env (assumption env &amp;aux nassumes)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(setq nassumes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(ordered-insert assumption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(env-assumptions env)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#'assumption-order))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(or (lookup-env nassumes)   ; 이미 있으면 재사용!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(create-env             ; 없으면 새로 생성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(tms-node-atms assumption)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nassumes)))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611880"/>
            <a:ext cx="5029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9B4FA"/>
                </a:solidFill>
                <a:latin typeface="Malgun Gothic"/>
              </a:defRPr>
            </a:pPr>
            <a:r>
              <a:t>구조적 공유 효과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(or (lookup-env ...) (create-env ...))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CBA6F7"/>
                </a:solidFill>
                <a:latin typeface="Malgun Gothic"/>
              </a:defRPr>
            </a:pPr>
            <a:r>
              <a:t>패턴: Memoization / Flyweight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  같은 가정 조합 {A1,A3}이 여러 경로에서 생성: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4E2D5"/>
                </a:solidFill>
                <a:latin typeface="Consolas"/>
              </a:defRPr>
            </a:pPr>
            <a:r>
              <a:t>    경로1: {A1} × {A3} → {A1,A3}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4E2D5"/>
                </a:solidFill>
                <a:latin typeface="Consolas"/>
              </a:defRPr>
            </a:pPr>
            <a:r>
              <a:t>    경로2: {A3} × {A1} → {A1,A3}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A6E3A1"/>
                </a:solidFill>
                <a:latin typeface="Malgun Gothic"/>
              </a:defRPr>
            </a:pPr>
            <a:r>
              <a:t>  lookup-env: 이미 있음 → 기존 객체 반환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A6E3A1"/>
                </a:solidFill>
                <a:latin typeface="Malgun Gothic"/>
              </a:defRPr>
            </a:pPr>
            <a:r>
              <a:t>  → 중복 생성 X, 동일 객체 공유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F9E2AF"/>
                </a:solidFill>
                <a:latin typeface="Malgun Gothic"/>
              </a:defRPr>
            </a:pPr>
            <a:r>
              <a:t>효과: 메모리 절감 + eq 비교 가능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(같은 환경 = 같은 포인터)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nogood 역전파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new-nogood의 역방향 Incremental 처리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new-nogood: 역방향 Incremental 전파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30352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8BA8"/>
                </a:solidFill>
                <a:latin typeface="Malgun Gothic"/>
              </a:defRPr>
            </a:pPr>
            <a:r>
              <a:t>new-nogood 코드 (atms.lisp:760)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4937760" cy="4572000"/>
          </a:xfrm>
          <a:prstGeom prst="roundRect">
            <a:avLst>
              <a:gd name="adj" fmla="val 5000"/>
            </a:avLst>
          </a:prstGeom>
          <a:solidFill>
            <a:srgbClr val="313244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(defun new-nogood (atms cenv just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     &amp;aux count)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(setf (env-nogood? cenv) just)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(remove-env-from-labels cenv atms)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;; nogood-table에 등록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(setf (atms-nogood-table atms)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(insert-in-table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(atms-nogood-table atms) cenv))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(setq count (env-count cenv))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;; 기존 nogood 중 상위집합 제거 (최소성)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(dolist (entry (atms-nogood-table atms))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(when (&gt; (car entry) count)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(dolist (old (cdr entry))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(if (subset-env? cenv old)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(setf (cdr entry)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(delete old (cdr entry)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     :COUNT 1))))))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;; env-table에서 상위집합 전부 nogood 표시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(dolist (entry (atms-env-table atms))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(when (&gt; (car entry) count)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(dolist (old (cdr entry))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(when (and (not (env-nogood? old))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     (subset-env? cenv old))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(setf (env-nogood? old) cenv)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(remove-env-from-labels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old atms))))))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097280"/>
            <a:ext cx="557784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94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4E2D5"/>
                </a:solidFill>
                <a:latin typeface="Malgun Gothic"/>
              </a:defRPr>
            </a:pPr>
            <a:r>
              <a:t>역방향 Incremental 패턴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A6E3A1"/>
                </a:solidFill>
                <a:latin typeface="Malgun Gothic"/>
              </a:defRPr>
            </a:pPr>
            <a:r>
              <a:t>정방향: justify → label에 env 추가</a:t>
            </a:r>
          </a:p>
          <a:p>
            <a:pPr algn="l">
              <a:spcBef>
                <a:spcPts val="600"/>
              </a:spcBef>
              <a:defRPr sz="1500" b="1">
                <a:solidFill>
                  <a:srgbClr val="F38BA8"/>
                </a:solidFill>
                <a:latin typeface="Malgun Gothic"/>
              </a:defRPr>
            </a:pPr>
            <a:r>
              <a:t>역방향: nogood → label에서 env 제거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F9E2AF"/>
                </a:solidFill>
                <a:latin typeface="Malgun Gothic"/>
              </a:defRPr>
            </a:pPr>
            <a:r>
              <a:t>△ = 새로 발견된 nogood 1개 (cenv)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89B4FA"/>
                </a:solidFill>
                <a:latin typeface="Malgun Gothic"/>
              </a:defRPr>
            </a:pPr>
            <a:r>
              <a:t>Step 1: cenv를 모든 label에서 제거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remove-env-from-labels(cenv)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  → cenv가 있는 노드들의 label에서만 제거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89B4FA"/>
                </a:solidFill>
                <a:latin typeface="Malgun Gothic"/>
              </a:defRPr>
            </a:pPr>
            <a:r>
              <a:t>Step 2: nogood-table 최소성 유지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{A1} 발견 → {A1,A2}, {A1,A3} 제거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  → 더 작은 nogood가 있으므로 큰 것은 중복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89B4FA"/>
                </a:solidFill>
                <a:latin typeface="Malgun Gothic"/>
              </a:defRPr>
            </a:pPr>
            <a:r>
              <a:t>Step 3: 상위집합도 자동 nogood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{A1} nogood → {A1,A4,A5}도 nogood!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  → 부분이 모순이면 전체도 모순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CBA6F7"/>
                </a:solidFill>
                <a:latin typeface="Malgun Gothic"/>
              </a:defRPr>
            </a:pPr>
            <a:r>
              <a:t>최적화: count 기반 조기 검색 범위 제한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  (when (&gt; (car entry) count) ...)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  → cenv보다 큰 환경만 검사 (작은 것은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    cenv의 상위집합이 될 수 없으므로)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5가지 구현 기법 종합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ATMS에서 Incremental Accumulation을 구현하는 방법들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ATMS의 Incremental Accumulation 5가지 구현 기법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47120" cy="1115568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6070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6E3A1"/>
                </a:solidFill>
                <a:latin typeface="Consolas"/>
              </a:defRPr>
            </a:pPr>
            <a:r>
              <a:t>#1 Delta 추적 및 전달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042416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propagate, update에서 △만 전달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9E2AF"/>
                </a:solidFill>
                <a:latin typeface="Consolas"/>
              </a:defRPr>
            </a:pPr>
            <a:r>
              <a:t>propagate(just, C, new-envs)  ← new-envs = 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727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99B2"/>
                </a:solidFill>
                <a:latin typeface="Malgun Gothic"/>
              </a:defRPr>
            </a:pPr>
            <a:r>
              <a:t>전체 label이 아닌 "새로 추가된 것"만 후속 노드에 전달. △이 []이면 전파 중단.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67128"/>
            <a:ext cx="11247120" cy="1115568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2199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8BA8"/>
                </a:solidFill>
                <a:latin typeface="Consolas"/>
              </a:defRPr>
            </a:pPr>
            <a:r>
              <a:t>#2 Lazy Deletion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203704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update-label, weave에서 rplaca nil 패턴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14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9E2AF"/>
                </a:solidFill>
                <a:latin typeface="Consolas"/>
              </a:defRPr>
            </a:pPr>
            <a:r>
              <a:t>(rplaca item nil) → 나중에 (delete nil list)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3405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99B2"/>
                </a:solidFill>
                <a:latin typeface="Malgun Gothic"/>
              </a:defRPr>
            </a:pPr>
            <a:r>
              <a:t>순회 중 리스트 구조를 변경하지 않고 논리적 삭제 후 한 번에 물리적 정리.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28416"/>
            <a:ext cx="11247120" cy="1115568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94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4E2D5"/>
                </a:solidFill>
                <a:latin typeface="Consolas"/>
              </a:defRPr>
            </a:pPr>
            <a:r>
              <a:t>#3 조기 종료 (Early Exit)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364992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union-env, weave, update에서 불필요한 계산 차단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7588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9E2AF"/>
                </a:solidFill>
                <a:latin typeface="Consolas"/>
              </a:defRPr>
            </a:pPr>
            <a:r>
              <a:t>(if (env-nogood? e2) (return nil))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9534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99B2"/>
                </a:solidFill>
                <a:latin typeface="Malgun Gothic"/>
              </a:defRPr>
            </a:pPr>
            <a:r>
              <a:t>모순 발견, 결과 공집합, 변화 없음 등의 조건에서 즉시 종료하여 낭비 방지.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89704"/>
            <a:ext cx="11247120" cy="1115568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5445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BA6F7"/>
                </a:solidFill>
                <a:latin typeface="Consolas"/>
              </a:defRPr>
            </a:pPr>
            <a:r>
              <a:t>#4 구조적 공유 (Memoization)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526280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cons-env의 lookup-env / create-env 패턴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3717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9E2AF"/>
                </a:solidFill>
                <a:latin typeface="Consolas"/>
              </a:defRPr>
            </a:pPr>
            <a:r>
              <a:t>(or (lookup-env nassumes) (create-env ...))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566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99B2"/>
                </a:solidFill>
                <a:latin typeface="Malgun Gothic"/>
              </a:defRPr>
            </a:pPr>
            <a:r>
              <a:t>같은 가정 조합은 같은 객체를 재사용. 중복 생성 방지 + eq 비교 가능 + 메모리 절감.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650992"/>
            <a:ext cx="11247120" cy="1115568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70585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9B4FA"/>
                </a:solidFill>
                <a:latin typeface="Consolas"/>
              </a:defRPr>
            </a:pPr>
            <a:r>
              <a:t>#5 단계별 필터링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687568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weave의 전건별 순차 처리 + 중간 최소성 검사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99846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9E2AF"/>
                </a:solidFill>
                <a:latin typeface="Consolas"/>
              </a:defRPr>
            </a:pPr>
            <a:r>
              <a:t>nogood 필터 → 최소성 필터 → 공집합 검사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2179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399B2"/>
                </a:solidFill>
                <a:latin typeface="Malgun Gothic"/>
              </a:defRPr>
            </a:pPr>
            <a:r>
              <a:t>각 전건 처리 시마다 3중 필터 적용. 최종 단계의 조합 폭발을 사전에 차단.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전체 재계산 vs Incremental: 성능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274320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9B4FA"/>
                </a:solidFill>
                <a:latin typeface="Malgun Gothic"/>
              </a:defRPr>
            </a:pPr>
            <a:r>
              <a:t>시나리오: 3개 전건, 각각 3개 환경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9399B2"/>
                </a:solidFill>
                <a:latin typeface="Consolas"/>
              </a:defRPr>
            </a:pPr>
            <a:r>
              <a:t>  전체 재계산                                     Incremental Accumulation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9399B2"/>
                </a:solidFill>
                <a:latin typeface="Consolas"/>
              </a:defRPr>
            </a:pPr>
            <a:r>
              <a:t>  ─────────────────────────────                   ─────────────────────────────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Consolas"/>
              </a:defRPr>
            </a:pPr>
            <a:r>
              <a:t>  모든 조합: 3 × 3 × 3 = 27개 생성               단계 1: 3개 (필터링 후 ≤3)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Consolas"/>
              </a:defRPr>
            </a:pPr>
            <a:r>
              <a:t>  → 전부 생성 후 필터링                           단계 2: ≤3 × 3 = ≤9 (필터링 후 ≤9)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Consolas"/>
              </a:defRPr>
            </a:pPr>
            <a:r>
              <a:t>  → 전체 label 비교 → 전체 전파                   단계 3: ≤9 × 3 = ≤27 (필터링 후 ≤27)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복잡도: O(m^n)                                  복잡도: O(n × m²) — 필터링 효과로 실제 더 적음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변화 없어도 후속 전체 전파                       △=[] → 전파 즉시 중단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11247120" cy="246888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51960"/>
            <a:ext cx="10789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6E3A1"/>
                </a:solidFill>
                <a:latin typeface="Malgun Gothic"/>
              </a:defRPr>
            </a:pPr>
            <a:r>
              <a:t>핵심 요약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700" b="0">
                <a:solidFill>
                  <a:srgbClr val="CDD6F4"/>
                </a:solidFill>
                <a:latin typeface="Malgun Gothic"/>
              </a:defRPr>
            </a:pPr>
            <a:r>
              <a:t>Incremental Accumulation은 "변경분 △만 계산하고 전달하는" 프로그래밍 기법입니다.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ATMS에서는 이 기법이 전파 파이프라인의 모든 단계에 적용되어 있습니다: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F9E2AF"/>
                </a:solidFill>
                <a:latin typeface="Consolas"/>
              </a:defRPr>
            </a:pPr>
            <a:r>
              <a:t>  propagate: △만 전달  →  weave: 단계별 필터링  →  update-label: 실제 추가분만 반환  →  재귀: △만 전파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94E2D5"/>
                </a:solidFill>
                <a:latin typeface="Malgun Gothic"/>
              </a:defRPr>
            </a:pPr>
            <a:r>
              <a:t>이 기법 덕분에 ATMS는 복잡한 추론 네트워크에서도 효율적으로 label을 유지할 수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