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89B4FA"/>
                </a:solidFill>
                <a:latin typeface="Malgun Gothic"/>
              </a:defRPr>
            </a:pPr>
            <a:r>
              <a:t>node.label의 성격과 특징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399B2"/>
                </a:solidFill>
                <a:latin typeface="Malgun Gothic"/>
              </a:defRPr>
            </a:pPr>
            <a:r>
              <a:t>ATMS에서 노드의 label이 의미하는 것, 유지하는 불변식, 그리고 활용 방식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108960"/>
            <a:ext cx="3931920" cy="381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9B4FA"/>
                </a:solidFill>
                <a:latin typeface="Malgun Gothic"/>
              </a:defRPr>
            </a:pPr>
            <a:r>
              <a:t>목차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399B2"/>
                </a:solidFill>
                <a:latin typeface="Consolas"/>
              </a:defRPr>
            </a:pPr>
            <a: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10698480" cy="658368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430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A6E3A1"/>
                </a:solidFill>
                <a:latin typeface="Consola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12471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DD6F4"/>
                </a:solidFill>
                <a:latin typeface="Malgun Gothic"/>
              </a:defRPr>
            </a:pPr>
            <a:r>
              <a:t>label이란 무엇인가             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3560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399B2"/>
                </a:solidFill>
                <a:latin typeface="Malgun Gothic"/>
              </a:defRPr>
            </a:pPr>
            <a:r>
              <a:t>정의와 직관적 의미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92224"/>
            <a:ext cx="10698480" cy="658368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3794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A6E3A1"/>
                </a:solidFill>
                <a:latin typeface="Consola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81965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DD6F4"/>
                </a:solidFill>
                <a:latin typeface="Malgun Gothic"/>
              </a:defRPr>
            </a:pPr>
            <a:r>
              <a:t>label의 구조                    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13055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399B2"/>
                </a:solidFill>
                <a:latin typeface="Malgun Gothic"/>
              </a:defRPr>
            </a:pPr>
            <a:r>
              <a:t>env 리스트, 가정 집합, 양방향 연결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487168"/>
            <a:ext cx="10698480" cy="658368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5328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A6E3A1"/>
                </a:solidFill>
                <a:latin typeface="Consola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514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DD6F4"/>
                </a:solidFill>
                <a:latin typeface="Malgun Gothic"/>
              </a:defRPr>
            </a:pPr>
            <a:r>
              <a:t>3가지 핵심 불변식                 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825496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399B2"/>
                </a:solidFill>
                <a:latin typeface="Malgun Gothic"/>
              </a:defRPr>
            </a:pPr>
            <a:r>
              <a:t>최소성, 무모순성, 양방향 일관성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182112"/>
            <a:ext cx="10698480" cy="658368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22783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A6E3A1"/>
                </a:solidFill>
                <a:latin typeface="Consola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20954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DD6F4"/>
                </a:solidFill>
                <a:latin typeface="Malgun Gothic"/>
              </a:defRPr>
            </a:pPr>
            <a:r>
              <a:t>노드 유형별 초기 label             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5204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399B2"/>
                </a:solidFill>
                <a:latin typeface="Malgun Gothic"/>
              </a:defRPr>
            </a:pPr>
            <a:r>
              <a:t>일반 노드, 가정 노드, 모순 노드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877056"/>
            <a:ext cx="10698480" cy="658368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9227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A6E3A1"/>
                </a:solidFill>
                <a:latin typeface="Consolas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390448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DD6F4"/>
                </a:solidFill>
                <a:latin typeface="Malgun Gothic"/>
              </a:defRPr>
            </a:pPr>
            <a:r>
              <a:t>label의 크기가 갖는 의미           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21538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399B2"/>
                </a:solidFill>
                <a:latin typeface="Malgun Gothic"/>
              </a:defRPr>
            </a:pPr>
            <a:r>
              <a:t>빈 리스트 / 빈 환경 / 다중 환경의 해석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572000"/>
            <a:ext cx="10698480" cy="658368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6177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A6E3A1"/>
                </a:solidFill>
                <a:latin typeface="Consolas"/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59943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DD6F4"/>
                </a:solidFill>
                <a:latin typeface="Malgun Gothic"/>
              </a:defRPr>
            </a:pPr>
            <a:r>
              <a:t>label로 판별하는 것들              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9103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399B2"/>
                </a:solidFill>
                <a:latin typeface="Malgun Gothic"/>
              </a:defRPr>
            </a:pPr>
            <a:r>
              <a:t>true-node?, in-node?, node-consistent-with?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266944"/>
            <a:ext cx="10698480" cy="658368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31266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A6E3A1"/>
                </a:solidFill>
                <a:latin typeface="Consolas"/>
              </a:defRPr>
            </a:pPr>
            <a: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29437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DD6F4"/>
                </a:solidFill>
                <a:latin typeface="Malgun Gothic"/>
              </a:defRPr>
            </a:pPr>
            <a:r>
              <a:t>label이 갱신되는 경로              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6052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399B2"/>
                </a:solidFill>
                <a:latin typeface="Malgun Gothic"/>
              </a:defRPr>
            </a:pPr>
            <a:r>
              <a:t>justify → propagate → weave → update-label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961888"/>
            <a:ext cx="10698480" cy="658368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600760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A6E3A1"/>
                </a:solidFill>
                <a:latin typeface="Consolas"/>
              </a:defRPr>
            </a:pPr>
            <a: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5989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DD6F4"/>
                </a:solidFill>
                <a:latin typeface="Malgun Gothic"/>
              </a:defRPr>
            </a:pPr>
            <a:r>
              <a:t>label의 5가지 핵심 성격            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6300216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399B2"/>
                </a:solidFill>
                <a:latin typeface="Malgun Gothic"/>
              </a:defRPr>
            </a:pPr>
            <a:r>
              <a:t>완전성, 최소성, 무모순성, 양방향, 전파 기반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A6E3A1"/>
                </a:solidFill>
                <a:latin typeface="Consolas"/>
              </a:defRPr>
            </a:pPr>
            <a:r>
              <a:t>#1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DD6F4"/>
                </a:solidFill>
                <a:latin typeface="Malgun Gothic"/>
              </a:defRPr>
            </a:pPr>
            <a:r>
              <a:t>label이란 무엇인가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399B2"/>
                </a:solidFill>
                <a:latin typeface="Malgun Gothic"/>
              </a:defRPr>
            </a:pPr>
            <a:r>
              <a:t>"이 노드를 참으로 만드는 최소 환경들의 리스트"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9B4FA"/>
                </a:solidFill>
                <a:latin typeface="Malgun Gothic"/>
              </a:defRPr>
            </a:pPr>
            <a:r>
              <a:t>label의 정의와 직관적 의미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399B2"/>
                </a:solidFill>
                <a:latin typeface="Consolas"/>
              </a:defRPr>
            </a:pPr>
            <a: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11247120" cy="128016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9B4FA"/>
                </a:solidFill>
                <a:latin typeface="Malgun Gothic"/>
              </a:defRPr>
            </a:pPr>
            <a:r>
              <a:t>정의</a:t>
            </a:r>
          </a:p>
          <a:p>
            <a:pPr algn="l">
              <a:spcBef>
                <a:spcPts val="600"/>
              </a:spcBef>
              <a:defRPr sz="4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F9E2AF"/>
                </a:solidFill>
                <a:latin typeface="Malgun Gothic"/>
              </a:defRPr>
            </a:pPr>
            <a:r>
              <a:t>label = 이 노드를 참(true)으로 만드는 최소 환경(environment)들의 리스트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9399B2"/>
                </a:solidFill>
                <a:latin typeface="Malgun Gothic"/>
              </a:defRPr>
            </a:pPr>
            <a:r>
              <a:t>각 환경은 "어떤 가정들을 참이라고 받아들이면 이 노드가 참이 되는가"를 나타냅니다.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303520" cy="384048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78892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6E3A1"/>
                </a:solidFill>
                <a:latin typeface="Malgun Gothic"/>
              </a:defRPr>
            </a:pPr>
            <a:r>
              <a:t>직관적 비유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CDD6F4"/>
                </a:solidFill>
                <a:latin typeface="Malgun Gothic"/>
              </a:defRPr>
            </a:pPr>
            <a:r>
              <a:t>node = 명제 ("환자가 기침한다")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CDD6F4"/>
                </a:solidFill>
                <a:latin typeface="Malgun Gothic"/>
              </a:defRPr>
            </a:pPr>
            <a:r>
              <a:t>label = 그 명제가 참이 되는 이유 목록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700" b="1">
                <a:solidFill>
                  <a:srgbClr val="F9E2AF"/>
                </a:solidFill>
                <a:latin typeface="Malgun Gothic"/>
              </a:defRPr>
            </a:pPr>
            <a:r>
              <a:t>비유: label은 법정의 "증거 목록"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Malgun Gothic"/>
              </a:defRPr>
            </a:pPr>
            <a:r>
              <a:t>  피고인이 유죄인 근거: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94E2D5"/>
                </a:solidFill>
                <a:latin typeface="Consolas"/>
              </a:defRPr>
            </a:pPr>
            <a:r>
              <a:t>    증거1: {목격자 증언}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94E2D5"/>
                </a:solidFill>
                <a:latin typeface="Consolas"/>
              </a:defRPr>
            </a:pPr>
            <a:r>
              <a:t>    증거2: {CCTV 영상, 지문}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500" b="0">
                <a:solidFill>
                  <a:srgbClr val="9399B2"/>
                </a:solidFill>
                <a:latin typeface="Malgun Gothic"/>
              </a:defRPr>
            </a:pPr>
            <a:r>
              <a:t>  → 어느 하나만으로도 유죄를 입증 가능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9399B2"/>
                </a:solidFill>
                <a:latin typeface="Malgun Gothic"/>
              </a:defRPr>
            </a:pPr>
            <a:r>
              <a:t>  → 각 증거는 독립적인 근거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F9E2AF"/>
                </a:solidFill>
                <a:latin typeface="Consolas"/>
              </a:defRPr>
            </a:pPr>
            <a:r>
              <a:t>  → 이것이 label = [{목격자}, {CCTV,지문}]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651760"/>
            <a:ext cx="5577840" cy="384048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788920"/>
            <a:ext cx="5029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8BA8"/>
                </a:solidFill>
                <a:latin typeface="Malgun Gothic"/>
              </a:defRPr>
            </a:pPr>
            <a:r>
              <a:t>ATMS에서의 구체적 예시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600" b="1">
                <a:solidFill>
                  <a:srgbClr val="A6E3A1"/>
                </a:solidFill>
                <a:latin typeface="Malgun Gothic"/>
              </a:defRPr>
            </a:pPr>
            <a:r>
              <a:t>가정 노드: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Malgun Gothic"/>
              </a:defRPr>
            </a:pPr>
            <a:r>
              <a:t>  A1 = "감기에 걸림"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Malgun Gothic"/>
              </a:defRPr>
            </a:pPr>
            <a:r>
              <a:t>  A2 = "알레르기 있음"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Malgun Gothic"/>
              </a:defRPr>
            </a:pPr>
            <a:r>
              <a:t>  A3 = "미세먼지 심함"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F9E2AF"/>
                </a:solidFill>
                <a:latin typeface="Consolas"/>
              </a:defRPr>
            </a:pPr>
            <a:r>
              <a:t>노드 "기침".label = [{A1}, {A2}]</a:t>
            </a:r>
          </a:p>
          <a:p>
            <a:pPr algn="l">
              <a:spcBef>
                <a:spcPts val="600"/>
              </a:spcBef>
              <a:defRPr sz="4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500" b="0">
                <a:solidFill>
                  <a:srgbClr val="9399B2"/>
                </a:solidFill>
                <a:latin typeface="Malgun Gothic"/>
              </a:defRPr>
            </a:pPr>
            <a:r>
              <a:t>  의미: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Malgun Gothic"/>
              </a:defRPr>
            </a:pPr>
            <a:r>
              <a:t>  "감기를 가정하면 기침이 참"  또는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Malgun Gothic"/>
              </a:defRPr>
            </a:pPr>
            <a:r>
              <a:t>  "알레르기를 가정하면 기침이 참"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F9E2AF"/>
                </a:solidFill>
                <a:latin typeface="Consolas"/>
              </a:defRPr>
            </a:pPr>
            <a:r>
              <a:t>노드 "재채기".label = [{A2,A3}]</a:t>
            </a:r>
          </a:p>
          <a:p>
            <a:pPr algn="l">
              <a:spcBef>
                <a:spcPts val="600"/>
              </a:spcBef>
              <a:defRPr sz="4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500" b="0">
                <a:solidFill>
                  <a:srgbClr val="9399B2"/>
                </a:solidFill>
                <a:latin typeface="Malgun Gothic"/>
              </a:defRPr>
            </a:pPr>
            <a:r>
              <a:t>  의미: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Malgun Gothic"/>
              </a:defRPr>
            </a:pPr>
            <a:r>
              <a:t>  "알레르기 + 미세먼지를 동시에 가정해야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Malgun Gothic"/>
              </a:defRPr>
            </a:pPr>
            <a:r>
              <a:t>   재채기가 참" (한 가지로는 부족)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A6E3A1"/>
                </a:solidFill>
                <a:latin typeface="Consolas"/>
              </a:defRPr>
            </a:pPr>
            <a:r>
              <a:t>#2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DD6F4"/>
                </a:solidFill>
                <a:latin typeface="Malgun Gothic"/>
              </a:defRPr>
            </a:pPr>
            <a:r>
              <a:t>label의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399B2"/>
                </a:solidFill>
                <a:latin typeface="Malgun Gothic"/>
              </a:defRPr>
            </a:pPr>
            <a:r>
              <a:t>env 리스트, 가정 집합, 양방향 참조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9B4FA"/>
                </a:solidFill>
                <a:latin typeface="Malgun Gothic"/>
              </a:defRPr>
            </a:pPr>
            <a:r>
              <a:t>label의 데이터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399B2"/>
                </a:solidFill>
                <a:latin typeface="Consolas"/>
              </a:defRPr>
            </a:pPr>
            <a: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11247120" cy="530352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9B4FA"/>
                </a:solidFill>
                <a:latin typeface="Malgun Gothic"/>
              </a:defRPr>
            </a:pPr>
            <a:r>
              <a:t>계층 구조: node → label → env → assumptions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600" b="1">
                <a:solidFill>
                  <a:srgbClr val="A6E3A1"/>
                </a:solidFill>
                <a:latin typeface="Consolas"/>
              </a:defRPr>
            </a:pPr>
            <a:r>
              <a:t>  tms-node  "X=6"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9399B2"/>
                </a:solidFill>
                <a:latin typeface="Consolas"/>
              </a:defRPr>
            </a:pPr>
            <a:r>
              <a:t>    │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CDD6F4"/>
                </a:solidFill>
                <a:latin typeface="Consolas"/>
              </a:defRPr>
            </a:pPr>
            <a:r>
              <a:t>    ├─ label ─────── [env₁,  env₂,  env₃]     ← env 구조체들의 리스트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9399B2"/>
                </a:solidFill>
                <a:latin typeface="Consolas"/>
              </a:defRPr>
            </a:pPr>
            <a:r>
              <a:t>    │                  │       │       │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Consolas"/>
              </a:defRPr>
            </a:pPr>
            <a:r>
              <a:t>    │         assumptions:  assumptions:  assumptions: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9E2AF"/>
                </a:solidFill>
                <a:latin typeface="Consolas"/>
              </a:defRPr>
            </a:pPr>
            <a:r>
              <a:t>    │            (A1)      (A2 A3)     (A4)         ← 가정 노드의 정렬된 리스트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9399B2"/>
                </a:solidFill>
                <a:latin typeface="Consolas"/>
              </a:defRPr>
            </a:pPr>
            <a:r>
              <a:t>    │                  │       │       │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Consolas"/>
              </a:defRPr>
            </a:pPr>
            <a:r>
              <a:t>    │            nodes:     nodes:     nodes: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AB387"/>
                </a:solidFill>
                <a:latin typeface="Consolas"/>
              </a:defRPr>
            </a:pPr>
            <a:r>
              <a:t>    │          (X=6 Y=3)  (X=6 Z=1) (X=6)          ← 이 환경에서 참인 노드들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9399B2"/>
                </a:solidFill>
                <a:latin typeface="Consolas"/>
              </a:defRPr>
            </a:pPr>
            <a:r>
              <a:t>    │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9399B2"/>
                </a:solidFill>
                <a:latin typeface="Consolas"/>
              </a:defRPr>
            </a:pPr>
            <a:r>
              <a:t>    ├─ justs ─────── 이 노드를 결론으로 하는 정당화들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9399B2"/>
                </a:solidFill>
                <a:latin typeface="Consolas"/>
              </a:defRPr>
            </a:pPr>
            <a:r>
              <a:t>    ├─ consequences ─ 이 노드를 전건으로 사용하는 정당화들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9399B2"/>
                </a:solidFill>
                <a:latin typeface="Consolas"/>
              </a:defRPr>
            </a:pPr>
            <a:r>
              <a:t>    └─ datum ─────── "X=6" (외부 데이터)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700" b="1">
                <a:solidFill>
                  <a:srgbClr val="94E2D5"/>
                </a:solidFill>
                <a:latin typeface="Malgun Gothic"/>
              </a:defRPr>
            </a:pPr>
            <a:r>
              <a:t>  양방향 참조: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94E2D5"/>
                </a:solidFill>
                <a:latin typeface="Consolas"/>
              </a:defRPr>
            </a:pPr>
            <a:r>
              <a:t>    node.label → [env₁, env₂, ...]    "이 노드가 참인 환경들"   (정방향)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FAB387"/>
                </a:solidFill>
                <a:latin typeface="Consolas"/>
              </a:defRPr>
            </a:pPr>
            <a:r>
              <a:t>    env.nodes  → [node₁, node₂, ...]  "이 환경에서 참인 노드들" (역방향)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Malgun Gothic"/>
              </a:defRPr>
            </a:pPr>
            <a:r>
              <a:t>  이 양방향 연결은 DB의 인덱스와 동일한 원리입니다.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A6E3A1"/>
                </a:solidFill>
                <a:latin typeface="Consolas"/>
              </a:defRPr>
            </a:pPr>
            <a:r>
              <a:t>#3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DD6F4"/>
                </a:solidFill>
                <a:latin typeface="Malgun Gothic"/>
              </a:defRPr>
            </a:pPr>
            <a:r>
              <a:t>3가지 핵심 불변식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399B2"/>
                </a:solidFill>
                <a:latin typeface="Malgun Gothic"/>
              </a:defRPr>
            </a:pPr>
            <a:r>
              <a:t>label이 항상 만족해야 하는 조건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9B4FA"/>
                </a:solidFill>
                <a:latin typeface="Malgun Gothic"/>
              </a:defRPr>
            </a:pPr>
            <a:r>
              <a:t>불변식 1: 최소성 (Minimality)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399B2"/>
                </a:solidFill>
                <a:latin typeface="Consolas"/>
              </a:defRPr>
            </a:pPr>
            <a: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11247120" cy="210312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F38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38BA8"/>
                </a:solidFill>
                <a:latin typeface="Malgun Gothic"/>
              </a:defRPr>
            </a:pPr>
            <a:r>
              <a:t>규칙: label 내의 어떤 두 환경도 부분집합 관계가 아니다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700" b="0">
                <a:solidFill>
                  <a:srgbClr val="F9E2AF"/>
                </a:solidFill>
                <a:latin typeface="Consolas"/>
              </a:defRPr>
            </a:pPr>
            <a:r>
              <a:t>만약 {A1} ∈ label 이면, {A1, A2} ∉ label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CDD6F4"/>
                </a:solidFill>
                <a:latin typeface="Malgun Gothic"/>
              </a:defRPr>
            </a:pPr>
            <a:r>
              <a:t>원리: "적은 가정으로 참이 되면, 더 많은 가정을 추가할 이유가 없다"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9399B2"/>
                </a:solidFill>
                <a:latin typeface="Malgun Gothic"/>
              </a:defRPr>
            </a:pPr>
            <a:r>
              <a:t>이것은 오컴의 면도날(Occam's Razor)의 형식화입니다.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566160"/>
            <a:ext cx="3566160" cy="292608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703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6E3A1"/>
                </a:solidFill>
                <a:latin typeface="Malgun Gothic"/>
              </a:defRPr>
            </a:pPr>
            <a:r>
              <a:t>O  올바른 label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4069080"/>
            <a:ext cx="3291840" cy="731520"/>
          </a:xfrm>
          <a:prstGeom prst="roundRect">
            <a:avLst>
              <a:gd name="adj" fmla="val 5000"/>
            </a:avLst>
          </a:prstGeom>
          <a:solidFill>
            <a:srgbClr val="313244"/>
          </a:solidFill>
          <a:ln w="19050">
            <a:solidFill>
              <a:srgbClr val="585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label = [{A1}, {A2}]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93776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DD6F4"/>
                </a:solidFill>
                <a:latin typeface="Malgun Gothic"/>
              </a:defRPr>
            </a:pPr>
            <a:r>
              <a:t>{A1}과 {A2}는 서로 부분집합이 아님</a:t>
            </a:r>
            <a:br/>
            <a:r>
              <a:t>(독립적인 두 근거)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3566160"/>
            <a:ext cx="3566160" cy="292608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F38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3703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8BA8"/>
                </a:solidFill>
                <a:latin typeface="Malgun Gothic"/>
              </a:defRPr>
            </a:pPr>
            <a:r>
              <a:t>X  위반 사례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4069080"/>
            <a:ext cx="3291840" cy="731520"/>
          </a:xfrm>
          <a:prstGeom prst="roundRect">
            <a:avLst>
              <a:gd name="adj" fmla="val 5000"/>
            </a:avLst>
          </a:prstGeom>
          <a:solidFill>
            <a:srgbClr val="313244"/>
          </a:solidFill>
          <a:ln w="19050">
            <a:solidFill>
              <a:srgbClr val="585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label = [{A1}, {A1,A2}]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493776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DD6F4"/>
                </a:solidFill>
                <a:latin typeface="Malgun Gothic"/>
              </a:defRPr>
            </a:pPr>
            <a:r>
              <a:t>{A1} ⊂ {A1,A2} → 위반!</a:t>
            </a:r>
            <a:br/>
            <a:r>
              <a:t>{A1}만으로 충분한데</a:t>
            </a:r>
            <a:br/>
            <a:r>
              <a:t>{A1,A2}를 유지할 이유 없음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566160"/>
            <a:ext cx="3566160" cy="292608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3703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9B4FA"/>
                </a:solidFill>
                <a:latin typeface="Malgun Gothic"/>
              </a:defRPr>
            </a:pPr>
            <a:r>
              <a:t>→  수정 결과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80" y="4069080"/>
            <a:ext cx="3291840" cy="731520"/>
          </a:xfrm>
          <a:prstGeom prst="roundRect">
            <a:avLst>
              <a:gd name="adj" fmla="val 5000"/>
            </a:avLst>
          </a:prstGeom>
          <a:solidFill>
            <a:srgbClr val="313244"/>
          </a:solidFill>
          <a:ln w="19050">
            <a:solidFill>
              <a:srgbClr val="585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label = [{A1}]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493776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DD6F4"/>
                </a:solidFill>
                <a:latin typeface="Malgun Gothic"/>
              </a:defRPr>
            </a:pPr>
            <a:r>
              <a:t>update-label이 자동으로</a:t>
            </a:r>
            <a:br/>
            <a:r>
              <a:t>{A1,A2}를 제거하고</a:t>
            </a:r>
            <a:br/>
            <a:r>
              <a:t>{A1}만 유지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9B4FA"/>
                </a:solidFill>
                <a:latin typeface="Malgun Gothic"/>
              </a:defRPr>
            </a:pPr>
            <a:r>
              <a:t>불변식 2, 3: 무모순성과 양방향 일관성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399B2"/>
                </a:solidFill>
                <a:latin typeface="Consolas"/>
              </a:defRPr>
            </a:pPr>
            <a: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5303520" cy="530352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4846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A6E3A1"/>
                </a:solidFill>
                <a:latin typeface="Malgun Gothic"/>
              </a:defRPr>
            </a:pPr>
            <a:r>
              <a:t>불변식 2: 무모순성 (No Nogood)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700" b="1">
                <a:solidFill>
                  <a:srgbClr val="89B4FA"/>
                </a:solidFill>
                <a:latin typeface="Malgun Gothic"/>
              </a:defRPr>
            </a:pPr>
            <a:r>
              <a:t>규칙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9E2AF"/>
                </a:solidFill>
                <a:latin typeface="Malgun Gothic"/>
              </a:defRPr>
            </a:pPr>
            <a:r>
              <a:t>label 내의 모든 환경은 nogood가 아니다.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700" b="1">
                <a:solidFill>
                  <a:srgbClr val="89B4FA"/>
                </a:solidFill>
                <a:latin typeface="Malgun Gothic"/>
              </a:defRPr>
            </a:pPr>
            <a:r>
              <a:t>의미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Malgun Gothic"/>
              </a:defRPr>
            </a:pPr>
            <a:r>
              <a:t>nogood = 내부 모순이 있는 환경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Malgun Gothic"/>
              </a:defRPr>
            </a:pPr>
            <a:r>
              <a:t>예: "감기 O"와 "감기 X"를 동시에 가정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Malgun Gothic"/>
              </a:defRPr>
            </a:pPr>
            <a:r>
              <a:t>→ 모순이므로 의미 없는 조합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700" b="1">
                <a:solidFill>
                  <a:srgbClr val="89B4FA"/>
                </a:solidFill>
                <a:latin typeface="Malgun Gothic"/>
              </a:defRPr>
            </a:pPr>
            <a:r>
              <a:t>유지 방법</a:t>
            </a:r>
          </a:p>
          <a:p>
            <a:pPr algn="l">
              <a:spcBef>
                <a:spcPts val="600"/>
              </a:spcBef>
              <a:defRPr sz="4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Malgun Gothic"/>
              </a:defRPr>
            </a:pPr>
            <a:r>
              <a:t>1) weave에서 nogood 필터로 사전 차단: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F9E2AF"/>
                </a:solidFill>
                <a:latin typeface="Consolas"/>
              </a:defRPr>
            </a:pPr>
            <a:r>
              <a:t>   (unless (env-nogood? new-env) ...)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Malgun Gothic"/>
              </a:defRPr>
            </a:pPr>
            <a:r>
              <a:t>2) 사후 발견 시 즉시 제거: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F9E2AF"/>
                </a:solidFill>
                <a:latin typeface="Consolas"/>
              </a:defRPr>
            </a:pPr>
            <a:r>
              <a:t>   remove-env-from-labels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9399B2"/>
                </a:solidFill>
                <a:latin typeface="Malgun Gothic"/>
              </a:defRPr>
            </a:pPr>
            <a:r>
              <a:t>   → 해당 env를 모든 노드의 label에서 삭제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Malgun Gothic"/>
              </a:defRPr>
            </a:pPr>
            <a:r>
              <a:t>3) 모순 노드의 label에 env 추가 시: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9399B2"/>
                </a:solidFill>
                <a:latin typeface="Malgun Gothic"/>
              </a:defRPr>
            </a:pPr>
            <a:r>
              <a:t>   → 그 env가 자동으로 nogood 등록됨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097280"/>
            <a:ext cx="5577840" cy="530352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94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2344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94E2D5"/>
                </a:solidFill>
                <a:latin typeface="Malgun Gothic"/>
              </a:defRPr>
            </a:pPr>
            <a:r>
              <a:t>불변식 3: 양방향 참조 일관성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700" b="1">
                <a:solidFill>
                  <a:srgbClr val="89B4FA"/>
                </a:solidFill>
                <a:latin typeface="Malgun Gothic"/>
              </a:defRPr>
            </a:pPr>
            <a:r>
              <a:t>규칙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9E2AF"/>
                </a:solidFill>
                <a:latin typeface="Consolas"/>
              </a:defRPr>
            </a:pPr>
            <a:r>
              <a:t>env ∈ node.label  ⟺  node ∈ env.nodes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700" b="1">
                <a:solidFill>
                  <a:srgbClr val="89B4FA"/>
                </a:solidFill>
                <a:latin typeface="Malgun Gothic"/>
              </a:defRPr>
            </a:pPr>
            <a:r>
              <a:t>의미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Malgun Gothic"/>
              </a:defRPr>
            </a:pPr>
            <a:r>
              <a:t>정방향과 역방향 참조가 항상 동기화되어야 합니다.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F38BA8"/>
                </a:solidFill>
                <a:latin typeface="Malgun Gothic"/>
              </a:defRPr>
            </a:pPr>
            <a:r>
              <a:t>한쪽만 수정하면 dangling reference 발생!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700" b="1">
                <a:solidFill>
                  <a:srgbClr val="89B4FA"/>
                </a:solidFill>
                <a:latin typeface="Malgun Gothic"/>
              </a:defRPr>
            </a:pPr>
            <a:r>
              <a:t>유지 방법</a:t>
            </a:r>
          </a:p>
          <a:p>
            <a:pPr algn="l">
              <a:spcBef>
                <a:spcPts val="600"/>
              </a:spcBef>
              <a:defRPr sz="4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500" b="1">
                <a:solidFill>
                  <a:srgbClr val="A6E3A1"/>
                </a:solidFill>
                <a:latin typeface="Malgun Gothic"/>
              </a:defRPr>
            </a:pPr>
            <a:r>
              <a:t>추가 시 (update-label):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F9E2AF"/>
                </a:solidFill>
                <a:latin typeface="Consolas"/>
              </a:defRPr>
            </a:pPr>
            <a:r>
              <a:t>  (push env envs)               ; node→env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F9E2AF"/>
                </a:solidFill>
                <a:latin typeface="Consolas"/>
              </a:defRPr>
            </a:pPr>
            <a:r>
              <a:t>  (push node (env-nodes env))    ; env→node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500" b="1">
                <a:solidFill>
                  <a:srgbClr val="F38BA8"/>
                </a:solidFill>
                <a:latin typeface="Malgun Gothic"/>
              </a:defRPr>
            </a:pPr>
            <a:r>
              <a:t>제거 시 (update-label):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F9E2AF"/>
                </a:solidFill>
                <a:latin typeface="Consolas"/>
              </a:defRPr>
            </a:pPr>
            <a:r>
              <a:t>  (rplaca nenvs nil)             ; node→env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F9E2AF"/>
                </a:solidFill>
                <a:latin typeface="Consolas"/>
              </a:defRPr>
            </a:pPr>
            <a:r>
              <a:t>  (delete node (env-nodes ...))  ; env→node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500" b="1">
                <a:solidFill>
                  <a:srgbClr val="9399B2"/>
                </a:solidFill>
                <a:latin typeface="Malgun Gothic"/>
              </a:defRPr>
            </a:pPr>
            <a:r>
              <a:t>노드 삭제 시 (remove-node):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F9E2AF"/>
                </a:solidFill>
                <a:latin typeface="Consolas"/>
              </a:defRPr>
            </a:pPr>
            <a:r>
              <a:t>  (dolist (env (tms-node-label node))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F9E2AF"/>
                </a:solidFill>
                <a:latin typeface="Consolas"/>
              </a:defRPr>
            </a:pPr>
            <a:r>
              <a:t>    (delete node (env-nodes env)))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A6E3A1"/>
                </a:solidFill>
                <a:latin typeface="Consolas"/>
              </a:defRPr>
            </a:pPr>
            <a:r>
              <a:t>#4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DD6F4"/>
                </a:solidFill>
                <a:latin typeface="Malgun Gothic"/>
              </a:defRPr>
            </a:pPr>
            <a:r>
              <a:t>노드 유형별 초기 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399B2"/>
                </a:solidFill>
                <a:latin typeface="Malgun Gothic"/>
              </a:defRPr>
            </a:pPr>
            <a:r>
              <a:t>일반 노드, 가정 노드, 모순 노드의 시작 상태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9B4FA"/>
                </a:solidFill>
                <a:latin typeface="Malgun Gothic"/>
              </a:defRPr>
            </a:pPr>
            <a:r>
              <a:t>노드 유형별 초기 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399B2"/>
                </a:solidFill>
                <a:latin typeface="Consolas"/>
              </a:defRPr>
            </a:pPr>
            <a: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3474720" cy="530352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3017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9B4FA"/>
                </a:solidFill>
                <a:latin typeface="Malgun Gothic"/>
              </a:defRPr>
            </a:pPr>
            <a:r>
              <a:t>일반 노드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600" b="1">
                <a:solidFill>
                  <a:srgbClr val="A6E3A1"/>
                </a:solidFill>
                <a:latin typeface="Malgun Gothic"/>
              </a:defRPr>
            </a:pPr>
            <a:r>
              <a:t>초기 label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9E2AF"/>
                </a:solidFill>
                <a:latin typeface="Consolas"/>
              </a:defRPr>
            </a:pPr>
            <a:r>
              <a:t>nil (빈 리스트)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600" b="1">
                <a:solidFill>
                  <a:srgbClr val="A6E3A1"/>
                </a:solidFill>
                <a:latin typeface="Malgun Gothic"/>
              </a:defRPr>
            </a:pPr>
            <a:r>
              <a:t>의미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Malgun Gothic"/>
              </a:defRPr>
            </a:pPr>
            <a:r>
              <a:t>아직 참인 근거가 없음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600" b="1">
                <a:solidFill>
                  <a:srgbClr val="A6E3A1"/>
                </a:solidFill>
                <a:latin typeface="Malgun Gothic"/>
              </a:defRPr>
            </a:pPr>
            <a:r>
              <a:t>예시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F9E2AF"/>
                </a:solidFill>
                <a:latin typeface="Consolas"/>
              </a:defRPr>
            </a:pPr>
            <a:r>
              <a:t>(tms-create-node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F9E2AF"/>
                </a:solidFill>
                <a:latin typeface="Consolas"/>
              </a:defRPr>
            </a:pPr>
            <a:r>
              <a:t>  atms "X=6")</a:t>
            </a:r>
          </a:p>
          <a:p>
            <a:pPr algn="l">
              <a:spcBef>
                <a:spcPts val="600"/>
              </a:spcBef>
              <a:defRPr sz="4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CDD6F4"/>
                </a:solidFill>
                <a:latin typeface="Consolas"/>
              </a:defRPr>
            </a:pPr>
            <a:r>
              <a:t>X=6.label = []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600" b="1">
                <a:solidFill>
                  <a:srgbClr val="A6E3A1"/>
                </a:solidFill>
                <a:latin typeface="Malgun Gothic"/>
              </a:defRPr>
            </a:pPr>
            <a:r>
              <a:t>이후 변화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DD6F4"/>
                </a:solidFill>
                <a:latin typeface="Malgun Gothic"/>
              </a:defRPr>
            </a:pPr>
            <a:r>
              <a:t>justify-node으로 정당화가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DD6F4"/>
                </a:solidFill>
                <a:latin typeface="Malgun Gothic"/>
              </a:defRPr>
            </a:pPr>
            <a:r>
              <a:t>등록되면 전파를 통해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DD6F4"/>
                </a:solidFill>
                <a:latin typeface="Malgun Gothic"/>
              </a:defRPr>
            </a:pPr>
            <a:r>
              <a:t>환경이 추가됨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097280"/>
            <a:ext cx="3657600" cy="530352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234440"/>
            <a:ext cx="3200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6E3A1"/>
                </a:solidFill>
                <a:latin typeface="Malgun Gothic"/>
              </a:defRPr>
            </a:pPr>
            <a:r>
              <a:t>가정 노드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600" b="1">
                <a:solidFill>
                  <a:srgbClr val="F38BA8"/>
                </a:solidFill>
                <a:latin typeface="Malgun Gothic"/>
              </a:defRPr>
            </a:pPr>
            <a:r>
              <a:t>초기 label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9E2AF"/>
                </a:solidFill>
                <a:latin typeface="Consolas"/>
              </a:defRPr>
            </a:pPr>
            <a:r>
              <a:t>[{자기자신}]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600" b="1">
                <a:solidFill>
                  <a:srgbClr val="F38BA8"/>
                </a:solidFill>
                <a:latin typeface="Malgun Gothic"/>
              </a:defRPr>
            </a:pPr>
            <a:r>
              <a:t>의미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Malgun Gothic"/>
              </a:defRPr>
            </a:pPr>
            <a:r>
              <a:t>"나를 가정하면 나는 참"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Malgun Gothic"/>
              </a:defRPr>
            </a:pPr>
            <a:r>
              <a:t>동어반복이지만 ATMS의 출발점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600" b="1">
                <a:solidFill>
                  <a:srgbClr val="F38BA8"/>
                </a:solidFill>
                <a:latin typeface="Malgun Gothic"/>
              </a:defRPr>
            </a:pPr>
            <a:r>
              <a:t>예시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F9E2AF"/>
                </a:solidFill>
                <a:latin typeface="Consolas"/>
              </a:defRPr>
            </a:pPr>
            <a:r>
              <a:t>(tms-create-node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F9E2AF"/>
                </a:solidFill>
                <a:latin typeface="Consolas"/>
              </a:defRPr>
            </a:pPr>
            <a:r>
              <a:t>  atms "M1정상"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F9E2AF"/>
                </a:solidFill>
                <a:latin typeface="Consolas"/>
              </a:defRPr>
            </a:pPr>
            <a:r>
              <a:t>  :assumptionp t)</a:t>
            </a:r>
          </a:p>
          <a:p>
            <a:pPr algn="l">
              <a:spcBef>
                <a:spcPts val="600"/>
              </a:spcBef>
              <a:defRPr sz="4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CDD6F4"/>
                </a:solidFill>
                <a:latin typeface="Consolas"/>
              </a:defRPr>
            </a:pPr>
            <a:r>
              <a:t>A1.label = [{A1}]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600" b="1">
                <a:solidFill>
                  <a:srgbClr val="F38BA8"/>
                </a:solidFill>
                <a:latin typeface="Malgun Gothic"/>
              </a:defRPr>
            </a:pPr>
            <a:r>
              <a:t>코드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F9E2AF"/>
                </a:solidFill>
                <a:latin typeface="Consolas"/>
              </a:defRPr>
            </a:pPr>
            <a:r>
              <a:t>(push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F9E2AF"/>
                </a:solidFill>
                <a:latin typeface="Consolas"/>
              </a:defRPr>
            </a:pPr>
            <a:r>
              <a:t>  (create-env atms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F9E2AF"/>
                </a:solidFill>
                <a:latin typeface="Consolas"/>
              </a:defRPr>
            </a:pPr>
            <a:r>
              <a:t>    (list node))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F9E2AF"/>
                </a:solidFill>
                <a:latin typeface="Consolas"/>
              </a:defRPr>
            </a:pPr>
            <a:r>
              <a:t>  (tms-node-label node))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097280"/>
            <a:ext cx="3566160" cy="530352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F38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1234440"/>
            <a:ext cx="3108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38BA8"/>
                </a:solidFill>
                <a:latin typeface="Malgun Gothic"/>
              </a:defRPr>
            </a:pPr>
            <a:r>
              <a:t>모순 노드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600" b="1">
                <a:solidFill>
                  <a:srgbClr val="CBA6F7"/>
                </a:solidFill>
                <a:latin typeface="Malgun Gothic"/>
              </a:defRPr>
            </a:pPr>
            <a:r>
              <a:t>초기 label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9E2AF"/>
                </a:solidFill>
                <a:latin typeface="Consolas"/>
              </a:defRPr>
            </a:pPr>
            <a:r>
              <a:t>nil (빈 리스트)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600" b="1">
                <a:solidFill>
                  <a:srgbClr val="CBA6F7"/>
                </a:solidFill>
                <a:latin typeface="Malgun Gothic"/>
              </a:defRPr>
            </a:pPr>
            <a:r>
              <a:t>의미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Malgun Gothic"/>
              </a:defRPr>
            </a:pPr>
            <a:r>
              <a:t>아직 모순이 발견되지 않음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600" b="1">
                <a:solidFill>
                  <a:srgbClr val="CBA6F7"/>
                </a:solidFill>
                <a:latin typeface="Malgun Gothic"/>
              </a:defRPr>
            </a:pPr>
            <a:r>
              <a:t>특수 행동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DD6F4"/>
                </a:solidFill>
                <a:latin typeface="Malgun Gothic"/>
              </a:defRPr>
            </a:pPr>
            <a:r>
              <a:t>label에 env가 추가되면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DD6F4"/>
                </a:solidFill>
                <a:latin typeface="Malgun Gothic"/>
              </a:defRPr>
            </a:pPr>
            <a:r>
              <a:t>그 env는 자동으로</a:t>
            </a:r>
          </a:p>
          <a:p>
            <a:pPr algn="l">
              <a:spcBef>
                <a:spcPts val="600"/>
              </a:spcBef>
              <a:defRPr sz="1400" b="1">
                <a:solidFill>
                  <a:srgbClr val="F38BA8"/>
                </a:solidFill>
                <a:latin typeface="Malgun Gothic"/>
              </a:defRPr>
            </a:pPr>
            <a:r>
              <a:t>nogood로 등록됨!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Malgun Gothic"/>
              </a:defRPr>
            </a:pPr>
            <a:r>
              <a:t>→ 모순이 참인 환경은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Malgun Gothic"/>
              </a:defRPr>
            </a:pPr>
            <a:r>
              <a:t>  불가능한 환경이므로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600" b="1">
                <a:solidFill>
                  <a:srgbClr val="CBA6F7"/>
                </a:solidFill>
                <a:latin typeface="Malgun Gothic"/>
              </a:defRPr>
            </a:pPr>
            <a:r>
              <a:t>코드 (update 함수)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F9E2AF"/>
                </a:solidFill>
                <a:latin typeface="Consolas"/>
              </a:defRPr>
            </a:pPr>
            <a:r>
              <a:t>(when (contradictory?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F9E2AF"/>
                </a:solidFill>
                <a:latin typeface="Consolas"/>
              </a:defRPr>
            </a:pPr>
            <a:r>
              <a:t>       consequence)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F9E2AF"/>
                </a:solidFill>
                <a:latin typeface="Consolas"/>
              </a:defRPr>
            </a:pPr>
            <a:r>
              <a:t>  (dolist (env new-envs)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F9E2AF"/>
                </a:solidFill>
                <a:latin typeface="Consolas"/>
              </a:defRPr>
            </a:pPr>
            <a:r>
              <a:t>    (new-nogood ..)))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A6E3A1"/>
                </a:solidFill>
                <a:latin typeface="Consolas"/>
              </a:defRPr>
            </a:pPr>
            <a:r>
              <a:t>#5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DD6F4"/>
                </a:solidFill>
                <a:latin typeface="Malgun Gothic"/>
              </a:defRPr>
            </a:pPr>
            <a:r>
              <a:t>label의 크기가 갖는 의미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399B2"/>
                </a:solidFill>
                <a:latin typeface="Malgun Gothic"/>
              </a:defRPr>
            </a:pPr>
            <a:r>
              <a:t>빈 리스트, 빈 환경, 단일/다중 환경의 해석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9B4FA"/>
                </a:solidFill>
                <a:latin typeface="Malgun Gothic"/>
              </a:defRPr>
            </a:pPr>
            <a:r>
              <a:t>label의 크기가 의미하는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399B2"/>
                </a:solidFill>
                <a:latin typeface="Consolas"/>
              </a:defRPr>
            </a:pPr>
            <a: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97280"/>
            <a:ext cx="2788920" cy="530352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F38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38BA8"/>
                </a:solidFill>
                <a:latin typeface="Consolas"/>
              </a:defRPr>
            </a:pPr>
            <a:r>
              <a:t>nil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60020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399B2"/>
                </a:solidFill>
                <a:latin typeface="Malgun Gothic"/>
              </a:defRPr>
            </a:pPr>
            <a:r>
              <a:t>빈 리스트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965960"/>
            <a:ext cx="2606040" cy="548640"/>
          </a:xfrm>
          <a:prstGeom prst="roundRect">
            <a:avLst>
              <a:gd name="adj" fmla="val 5000"/>
            </a:avLst>
          </a:prstGeom>
          <a:solidFill>
            <a:srgbClr val="313244"/>
          </a:solidFill>
          <a:ln w="19050">
            <a:solidFill>
              <a:srgbClr val="585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label = []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DD6F4"/>
                </a:solidFill>
                <a:latin typeface="Malgun Gothic"/>
              </a:defRPr>
            </a:pPr>
            <a:r>
              <a:t>어떤 가정하에서도</a:t>
            </a:r>
            <a:br/>
            <a:r>
              <a:t>이 노드가 참이 아님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40480"/>
            <a:ext cx="2423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399B2"/>
                </a:solidFill>
                <a:latin typeface="Malgun Gothic"/>
              </a:defRPr>
            </a:pPr>
            <a:r>
              <a:t>"근거 없음"</a:t>
            </a:r>
            <a:br/>
            <a:br/>
            <a:r>
              <a:t>아직 정당화가</a:t>
            </a:r>
            <a:br/>
            <a:r>
              <a:t>등록되지 않았거나,</a:t>
            </a:r>
            <a:br/>
            <a:r>
              <a:t>모든 근거가 nogood로</a:t>
            </a:r>
            <a:br/>
            <a:r>
              <a:t>사라진 상태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1097280"/>
            <a:ext cx="2788920" cy="530352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123444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6E3A1"/>
                </a:solidFill>
                <a:latin typeface="Consolas"/>
              </a:defRPr>
            </a:pPr>
            <a:r>
              <a:t>[{}]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160020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399B2"/>
                </a:solidFill>
                <a:latin typeface="Malgun Gothic"/>
              </a:defRPr>
            </a:pPr>
            <a:r>
              <a:t>빈 환경 1개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1965960"/>
            <a:ext cx="2606040" cy="548640"/>
          </a:xfrm>
          <a:prstGeom prst="roundRect">
            <a:avLst>
              <a:gd name="adj" fmla="val 5000"/>
            </a:avLst>
          </a:prstGeom>
          <a:solidFill>
            <a:srgbClr val="313244"/>
          </a:solidFill>
          <a:ln w="19050">
            <a:solidFill>
              <a:srgbClr val="585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label = [{}]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60604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DD6F4"/>
                </a:solidFill>
                <a:latin typeface="Malgun Gothic"/>
              </a:defRPr>
            </a:pPr>
            <a:r>
              <a:t>아무 가정 없이도</a:t>
            </a:r>
            <a:br/>
            <a:r>
              <a:t>무조건 참 (true-node?)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840480"/>
            <a:ext cx="2423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399B2"/>
                </a:solidFill>
                <a:latin typeface="Malgun Gothic"/>
              </a:defRPr>
            </a:pPr>
            <a:r>
              <a:t>"관측값, 공리"</a:t>
            </a:r>
            <a:br/>
            <a:br/>
            <a:r>
              <a:t>justify-node에서</a:t>
            </a:r>
            <a:br/>
            <a:r>
              <a:t>전건 없이 등록된 노드</a:t>
            </a:r>
            <a:br/>
            <a:r>
              <a:t>예: 측정값 F=10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097280"/>
            <a:ext cx="2788920" cy="530352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23444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9B4FA"/>
                </a:solidFill>
                <a:latin typeface="Consolas"/>
              </a:defRPr>
            </a:pPr>
            <a:r>
              <a:t>[{A1}]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60020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399B2"/>
                </a:solidFill>
                <a:latin typeface="Malgun Gothic"/>
              </a:defRPr>
            </a:pPr>
            <a:r>
              <a:t>단일 환경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965960"/>
            <a:ext cx="2606040" cy="548640"/>
          </a:xfrm>
          <a:prstGeom prst="roundRect">
            <a:avLst>
              <a:gd name="adj" fmla="val 5000"/>
            </a:avLst>
          </a:prstGeom>
          <a:solidFill>
            <a:srgbClr val="313244"/>
          </a:solidFill>
          <a:ln w="19050">
            <a:solidFill>
              <a:srgbClr val="585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label = [{A1}]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60604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DD6F4"/>
                </a:solidFill>
                <a:latin typeface="Malgun Gothic"/>
              </a:defRPr>
            </a:pPr>
            <a:r>
              <a:t>하나의 가정 조합으로만</a:t>
            </a:r>
            <a:br/>
            <a:r>
              <a:t>참이 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840480"/>
            <a:ext cx="2423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399B2"/>
                </a:solidFill>
                <a:latin typeface="Malgun Gothic"/>
              </a:defRPr>
            </a:pPr>
            <a:r>
              <a:t>"유일한 근거"</a:t>
            </a:r>
            <a:br/>
            <a:br/>
            <a:r>
              <a:t>이 가정이 무너지면</a:t>
            </a:r>
            <a:br/>
            <a:r>
              <a:t>노드도 거짓이 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52560" y="1097280"/>
            <a:ext cx="2788920" cy="530352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CBA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9720" y="123444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BA6F7"/>
                </a:solidFill>
                <a:latin typeface="Consolas"/>
              </a:defRPr>
            </a:pPr>
            <a:r>
              <a:t>[{A1},{A2}]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160020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399B2"/>
                </a:solidFill>
                <a:latin typeface="Malgun Gothic"/>
              </a:defRPr>
            </a:pPr>
            <a:r>
              <a:t>다중 환경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0" y="1965960"/>
            <a:ext cx="2606040" cy="548640"/>
          </a:xfrm>
          <a:prstGeom prst="roundRect">
            <a:avLst>
              <a:gd name="adj" fmla="val 5000"/>
            </a:avLst>
          </a:prstGeom>
          <a:solidFill>
            <a:srgbClr val="313244"/>
          </a:solidFill>
          <a:ln w="19050">
            <a:solidFill>
              <a:srgbClr val="585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label = [{A1}, {A2}]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60604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DD6F4"/>
                </a:solidFill>
                <a:latin typeface="Malgun Gothic"/>
              </a:defRPr>
            </a:pPr>
            <a:r>
              <a:t>독립적 근거가</a:t>
            </a:r>
            <a:br/>
            <a:r>
              <a:t>여러 개 존재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3840480"/>
            <a:ext cx="2423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399B2"/>
                </a:solidFill>
                <a:latin typeface="Malgun Gothic"/>
              </a:defRPr>
            </a:pPr>
            <a:r>
              <a:t>"복수의 근거"</a:t>
            </a:r>
            <a:br/>
            <a:br/>
            <a:r>
              <a:t>하나가 무너져도</a:t>
            </a:r>
            <a:br/>
            <a:r>
              <a:t>다른 근거가 유지됨</a:t>
            </a:r>
            <a:br/>
            <a:r>
              <a:t>→ 더 견고한 믿음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A6E3A1"/>
                </a:solidFill>
                <a:latin typeface="Consolas"/>
              </a:defRPr>
            </a:pPr>
            <a:r>
              <a:t>#6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DD6F4"/>
                </a:solidFill>
                <a:latin typeface="Malgun Gothic"/>
              </a:defRPr>
            </a:pPr>
            <a:r>
              <a:t>label로 판별하는 것들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399B2"/>
                </a:solidFill>
                <a:latin typeface="Malgun Gothic"/>
              </a:defRPr>
            </a:pPr>
            <a:r>
              <a:t>true-node?, in-node?, node-consistent-with?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9B4FA"/>
                </a:solidFill>
                <a:latin typeface="Malgun Gothic"/>
              </a:defRPr>
            </a:pPr>
            <a:r>
              <a:t>label 기반 질의 함수들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399B2"/>
                </a:solidFill>
                <a:latin typeface="Consolas"/>
              </a:defRPr>
            </a:pPr>
            <a: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3474720" cy="530352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3017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6E3A1"/>
                </a:solidFill>
                <a:latin typeface="Consolas"/>
              </a:defRPr>
            </a:pPr>
            <a:r>
              <a:t>true-node?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Malgun Gothic"/>
              </a:defRPr>
            </a:pPr>
            <a:r>
              <a:t>"무조건 참인가?"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600" b="1">
                <a:solidFill>
                  <a:srgbClr val="89B4FA"/>
                </a:solidFill>
                <a:latin typeface="Malgun Gothic"/>
              </a:defRPr>
            </a:pPr>
            <a:r>
              <a:t>검사 방법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Malgun Gothic"/>
              </a:defRPr>
            </a:pPr>
            <a:r>
              <a:t>label의 첫 원소가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Malgun Gothic"/>
              </a:defRPr>
            </a:pPr>
            <a:r>
              <a:t>빈 환경 {} 인지 확인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300" b="0">
                <a:solidFill>
                  <a:srgbClr val="F9E2AF"/>
                </a:solidFill>
                <a:latin typeface="Consolas"/>
              </a:defRPr>
            </a:pPr>
            <a:r>
              <a:t>(eq (car label)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F9E2AF"/>
                </a:solidFill>
                <a:latin typeface="Consolas"/>
              </a:defRPr>
            </a:pPr>
            <a:r>
              <a:t>    empty-env)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600" b="1">
                <a:solidFill>
                  <a:srgbClr val="89B4FA"/>
                </a:solidFill>
                <a:latin typeface="Malgun Gothic"/>
              </a:defRPr>
            </a:pPr>
            <a:r>
              <a:t>예시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9E2AF"/>
                </a:solidFill>
                <a:latin typeface="Consolas"/>
              </a:defRPr>
            </a:pPr>
            <a:r>
              <a:t>F=10.label = [{}]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A6E3A1"/>
                </a:solidFill>
                <a:latin typeface="Consolas"/>
              </a:defRPr>
            </a:pPr>
            <a:r>
              <a:t>→ true-node? = T</a:t>
            </a:r>
          </a:p>
          <a:p>
            <a:pPr algn="l">
              <a:spcBef>
                <a:spcPts val="600"/>
              </a:spcBef>
              <a:defRPr sz="4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F9E2AF"/>
                </a:solidFill>
                <a:latin typeface="Consolas"/>
              </a:defRPr>
            </a:pPr>
            <a:r>
              <a:t>X=6.label = [{A1}]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38BA8"/>
                </a:solidFill>
                <a:latin typeface="Consolas"/>
              </a:defRPr>
            </a:pPr>
            <a:r>
              <a:t>→ true-node? = NIL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600" b="1">
                <a:solidFill>
                  <a:srgbClr val="89B4FA"/>
                </a:solidFill>
                <a:latin typeface="Malgun Gothic"/>
              </a:defRPr>
            </a:pPr>
            <a:r>
              <a:t>의미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DD6F4"/>
                </a:solidFill>
                <a:latin typeface="Malgun Gothic"/>
              </a:defRPr>
            </a:pPr>
            <a:r>
              <a:t>가정이 필요 없는 확실한 사실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Malgun Gothic"/>
              </a:defRPr>
            </a:pPr>
            <a:r>
              <a:t>(관측값, 공리 등)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097280"/>
            <a:ext cx="3657600" cy="530352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F9E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234440"/>
            <a:ext cx="3200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9E2AF"/>
                </a:solidFill>
                <a:latin typeface="Consolas"/>
              </a:defRPr>
            </a:pPr>
            <a:r>
              <a:t>in-node?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Malgun Gothic"/>
              </a:defRPr>
            </a:pPr>
            <a:r>
              <a:t>"참인 상태인가?"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600" b="1">
                <a:solidFill>
                  <a:srgbClr val="89B4FA"/>
                </a:solidFill>
                <a:latin typeface="Malgun Gothic"/>
              </a:defRPr>
            </a:pPr>
            <a:r>
              <a:t>2가지 모드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500" b="1">
                <a:solidFill>
                  <a:srgbClr val="A6E3A1"/>
                </a:solidFill>
                <a:latin typeface="Malgun Gothic"/>
              </a:defRPr>
            </a:pPr>
            <a:r>
              <a:t>env 없이 호출: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DD6F4"/>
                </a:solidFill>
                <a:latin typeface="Malgun Gothic"/>
              </a:defRPr>
            </a:pPr>
            <a:r>
              <a:t>  label이 비어있지 않은가?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F9E2AF"/>
                </a:solidFill>
                <a:latin typeface="Consolas"/>
              </a:defRPr>
            </a:pPr>
            <a:r>
              <a:t>  (not (null label))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9399B2"/>
                </a:solidFill>
                <a:latin typeface="Malgun Gothic"/>
              </a:defRPr>
            </a:pPr>
            <a:r>
              <a:t>  → 어떤 가정하에서든 참?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500" b="1">
                <a:solidFill>
                  <a:srgbClr val="F38BA8"/>
                </a:solidFill>
                <a:latin typeface="Malgun Gothic"/>
              </a:defRPr>
            </a:pPr>
            <a:r>
              <a:t>env와 함께 호출: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DD6F4"/>
                </a:solidFill>
                <a:latin typeface="Malgun Gothic"/>
              </a:defRPr>
            </a:pPr>
            <a:r>
              <a:t>  label 중 env의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DD6F4"/>
                </a:solidFill>
                <a:latin typeface="Malgun Gothic"/>
              </a:defRPr>
            </a:pPr>
            <a:r>
              <a:t>  부분집합이 있는가?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F9E2AF"/>
                </a:solidFill>
                <a:latin typeface="Consolas"/>
              </a:defRPr>
            </a:pPr>
            <a:r>
              <a:t>  (some (subset-env?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F9E2AF"/>
                </a:solidFill>
                <a:latin typeface="Consolas"/>
              </a:defRPr>
            </a:pPr>
            <a:r>
              <a:t>         le env) label)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9399B2"/>
                </a:solidFill>
                <a:latin typeface="Malgun Gothic"/>
              </a:defRPr>
            </a:pPr>
            <a:r>
              <a:t>  → 이 환경에서 참?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300" b="0">
                <a:solidFill>
                  <a:srgbClr val="F9E2AF"/>
                </a:solidFill>
                <a:latin typeface="Consolas"/>
              </a:defRPr>
            </a:pPr>
            <a:r>
              <a:t>예: label=[{A1}], env={A1,A2}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A6E3A1"/>
                </a:solidFill>
                <a:latin typeface="Consolas"/>
              </a:defRPr>
            </a:pPr>
            <a:r>
              <a:t>  {A1} ⊂ {A1,A2} → 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097280"/>
            <a:ext cx="3566160" cy="530352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CBA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1234440"/>
            <a:ext cx="3108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BA6F7"/>
                </a:solidFill>
                <a:latin typeface="Consolas"/>
              </a:defRPr>
            </a:pPr>
            <a:r>
              <a:t>consistent-with?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Malgun Gothic"/>
              </a:defRPr>
            </a:pPr>
            <a:r>
              <a:t>"양립 가능한가?"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600" b="1">
                <a:solidFill>
                  <a:srgbClr val="89B4FA"/>
                </a:solidFill>
                <a:latin typeface="Malgun Gothic"/>
              </a:defRPr>
            </a:pPr>
            <a:r>
              <a:t>검사 방법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DD6F4"/>
                </a:solidFill>
                <a:latin typeface="Malgun Gothic"/>
              </a:defRPr>
            </a:pPr>
            <a:r>
              <a:t>label의 어떤 환경과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DD6F4"/>
                </a:solidFill>
                <a:latin typeface="Malgun Gothic"/>
              </a:defRPr>
            </a:pPr>
            <a:r>
              <a:t>env를 합쳤을 때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DD6F4"/>
                </a:solidFill>
                <a:latin typeface="Malgun Gothic"/>
              </a:defRPr>
            </a:pPr>
            <a:r>
              <a:t>nogood가 아닌 게 있는가?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300" b="0">
                <a:solidFill>
                  <a:srgbClr val="F9E2AF"/>
                </a:solidFill>
                <a:latin typeface="Consolas"/>
              </a:defRPr>
            </a:pPr>
            <a:r>
              <a:t>(some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F9E2AF"/>
                </a:solidFill>
                <a:latin typeface="Consolas"/>
              </a:defRPr>
            </a:pPr>
            <a:r>
              <a:t> (not (env-nogood?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F9E2AF"/>
                </a:solidFill>
                <a:latin typeface="Consolas"/>
              </a:defRPr>
            </a:pPr>
            <a:r>
              <a:t>   (union-env le env)))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F9E2AF"/>
                </a:solidFill>
                <a:latin typeface="Consolas"/>
              </a:defRPr>
            </a:pPr>
            <a:r>
              <a:t> label)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600" b="1">
                <a:solidFill>
                  <a:srgbClr val="89B4FA"/>
                </a:solidFill>
                <a:latin typeface="Malgun Gothic"/>
              </a:defRPr>
            </a:pPr>
            <a:r>
              <a:t>의미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DD6F4"/>
                </a:solidFill>
                <a:latin typeface="Malgun Gothic"/>
              </a:defRPr>
            </a:pPr>
            <a:r>
              <a:t>이 노드가 참이면서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DD6F4"/>
                </a:solidFill>
                <a:latin typeface="Malgun Gothic"/>
              </a:defRPr>
            </a:pPr>
            <a:r>
              <a:t>동시에 env도 유지할 수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DD6F4"/>
                </a:solidFill>
                <a:latin typeface="Malgun Gothic"/>
              </a:defRPr>
            </a:pPr>
            <a:r>
              <a:t>있는 가능성이 있는가?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Malgun Gothic"/>
              </a:defRPr>
            </a:pPr>
            <a:r>
              <a:t>→ 모순 없이 공존 가능?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A6E3A1"/>
                </a:solidFill>
                <a:latin typeface="Consolas"/>
              </a:defRPr>
            </a:pPr>
            <a:r>
              <a:t>#7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DD6F4"/>
                </a:solidFill>
                <a:latin typeface="Malgun Gothic"/>
              </a:defRPr>
            </a:pPr>
            <a:r>
              <a:t>label이 갱신되는 경로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399B2"/>
                </a:solidFill>
                <a:latin typeface="Malgun Gothic"/>
              </a:defRPr>
            </a:pPr>
            <a:r>
              <a:t>justify → propagate → weave → update-label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9B4FA"/>
                </a:solidFill>
                <a:latin typeface="Malgun Gothic"/>
              </a:defRPr>
            </a:pPr>
            <a:r>
              <a:t>label 갱신 전파 체인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399B2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11247120" cy="530352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9B4FA"/>
                </a:solidFill>
                <a:latin typeface="Malgun Gothic"/>
              </a:defRPr>
            </a:pPr>
            <a:r>
              <a:t>정당화 등록에서 label 갱신까지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500" b="0">
                <a:solidFill>
                  <a:srgbClr val="A6E3A1"/>
                </a:solidFill>
                <a:latin typeface="Consolas"/>
              </a:defRPr>
            </a:pPr>
            <a:r>
              <a:t>  1. justify-node("덧셈규칙", C, [A, B])              사용자가 정당화 등록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9399B2"/>
                </a:solidFill>
                <a:latin typeface="Consolas"/>
              </a:defRPr>
            </a:pPr>
            <a:r>
              <a:t>     │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9399B2"/>
                </a:solidFill>
                <a:latin typeface="Consolas"/>
              </a:defRPr>
            </a:pPr>
            <a:r>
              <a:t>     │  just 구조체 생성, 양방향 연결 등록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9399B2"/>
                </a:solidFill>
                <a:latin typeface="Consolas"/>
              </a:defRPr>
            </a:pPr>
            <a:r>
              <a:t>     ▼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F9E2AF"/>
                </a:solidFill>
                <a:latin typeface="Consolas"/>
              </a:defRPr>
            </a:pPr>
            <a:r>
              <a:t>  2. propagate(just, nil, [{}])                       빈 환경에서 출발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9399B2"/>
                </a:solidFill>
                <a:latin typeface="Consolas"/>
              </a:defRPr>
            </a:pPr>
            <a:r>
              <a:t>     │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9399B2"/>
                </a:solidFill>
                <a:latin typeface="Consolas"/>
              </a:defRPr>
            </a:pPr>
            <a:r>
              <a:t>     ▼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94E2D5"/>
                </a:solidFill>
                <a:latin typeface="Consolas"/>
              </a:defRPr>
            </a:pPr>
            <a:r>
              <a:t>  3. weave(nil, [{}], [A, B])                         전건들의 label 교차곱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9399B2"/>
                </a:solidFill>
                <a:latin typeface="Consolas"/>
              </a:defRPr>
            </a:pPr>
            <a:r>
              <a:t>     │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9399B2"/>
                </a:solidFill>
                <a:latin typeface="Consolas"/>
              </a:defRPr>
            </a:pPr>
            <a:r>
              <a:t>     │  A.label=[{A1}], B.label=[{A2}]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9399B2"/>
                </a:solidFill>
                <a:latin typeface="Consolas"/>
              </a:defRPr>
            </a:pPr>
            <a:r>
              <a:t>     │  {} x {A1} x {A2} = {A1,A2}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94E2D5"/>
                </a:solidFill>
                <a:latin typeface="Consolas"/>
              </a:defRPr>
            </a:pPr>
            <a:r>
              <a:t>     │  결과: [{A1,A2}]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9399B2"/>
                </a:solidFill>
                <a:latin typeface="Consolas"/>
              </a:defRPr>
            </a:pPr>
            <a:r>
              <a:t>     ▼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FAB387"/>
                </a:solidFill>
                <a:latin typeface="Consolas"/>
              </a:defRPr>
            </a:pPr>
            <a:r>
              <a:t>  4. update([{A1,A2}], C, just)                       결론 노드에 전달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9399B2"/>
                </a:solidFill>
                <a:latin typeface="Consolas"/>
              </a:defRPr>
            </a:pPr>
            <a:r>
              <a:t>     │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9399B2"/>
                </a:solidFill>
                <a:latin typeface="Consolas"/>
              </a:defRPr>
            </a:pPr>
            <a:r>
              <a:t>     ▼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F38BA8"/>
                </a:solidFill>
                <a:latin typeface="Consolas"/>
              </a:defRPr>
            </a:pPr>
            <a:r>
              <a:t>  5. update-label(C, [{A1,A2}])                       label에 병합 (최소성 유지)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9399B2"/>
                </a:solidFill>
                <a:latin typeface="Consolas"/>
              </a:defRPr>
            </a:pPr>
            <a:r>
              <a:t>     │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F38BA8"/>
                </a:solidFill>
                <a:latin typeface="Consolas"/>
              </a:defRPr>
            </a:pPr>
            <a:r>
              <a:t>     │  C.label = [] → [{A1,A2}]   (새로 추가됨)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9399B2"/>
                </a:solidFill>
                <a:latin typeface="Consolas"/>
              </a:defRPr>
            </a:pPr>
            <a:r>
              <a:t>     │  env-nodes({A1,A2})에 C 등록 (양방향)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9399B2"/>
                </a:solidFill>
                <a:latin typeface="Consolas"/>
              </a:defRPr>
            </a:pPr>
            <a:r>
              <a:t>     ▼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89B4FA"/>
                </a:solidFill>
                <a:latin typeface="Consolas"/>
              </a:defRPr>
            </a:pPr>
            <a:r>
              <a:t>  6. 반환: [{A1,A2}] (새로 추가된 것)                  후속 노드에 재귀 전파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9399B2"/>
                </a:solidFill>
                <a:latin typeface="Consolas"/>
              </a:defRPr>
            </a:pPr>
            <a:r>
              <a:t>     │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9399B2"/>
                </a:solidFill>
                <a:latin typeface="Consolas"/>
              </a:defRPr>
            </a:pPr>
            <a:r>
              <a:t>     └─ C를 전건으로 사용하는 정당화들에 propagate 재귀 호출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A6E3A1"/>
                </a:solidFill>
                <a:latin typeface="Consolas"/>
              </a:defRPr>
            </a:pPr>
            <a:r>
              <a:t>#8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DD6F4"/>
                </a:solidFill>
                <a:latin typeface="Malgun Gothic"/>
              </a:defRPr>
            </a:pPr>
            <a:r>
              <a:t>label의 5가지 핵심 성격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399B2"/>
                </a:solidFill>
                <a:latin typeface="Malgun Gothic"/>
              </a:defRPr>
            </a:pPr>
            <a:r>
              <a:t>완전성, 최소성, 무모순성, 양방향, 전파 기반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9B4FA"/>
                </a:solidFill>
                <a:latin typeface="Malgun Gothic"/>
              </a:defRPr>
            </a:pPr>
            <a:r>
              <a:t>label의 5가지 핵심 성격 종합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399B2"/>
                </a:solidFill>
                <a:latin typeface="Consolas"/>
              </a:defRPr>
            </a:pPr>
            <a: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51560"/>
            <a:ext cx="11247120" cy="105156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2471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6E3A1"/>
                </a:solidFill>
                <a:latin typeface="Consolas"/>
              </a:defRPr>
            </a:pPr>
            <a:r>
              <a:t>#1 의미적 완전성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097280"/>
            <a:ext cx="7406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DD6F4"/>
                </a:solidFill>
                <a:latin typeface="Malgun Gothic"/>
              </a:defRPr>
            </a:pPr>
            <a:r>
              <a:t>노드가 참이 되는 모든 최소 근거를 빠짐없이 담고 있음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435608"/>
            <a:ext cx="7406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399B2"/>
                </a:solidFill>
                <a:latin typeface="Malgun Gothic"/>
              </a:defRPr>
            </a:pPr>
            <a:r>
              <a:t>정당화가 추가될 때마다 전파 체인이 자동으로 모든 가능한 환경을 계산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67128"/>
            <a:ext cx="11247120" cy="105156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F38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402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38BA8"/>
                </a:solidFill>
                <a:latin typeface="Consolas"/>
              </a:defRPr>
            </a:pPr>
            <a:r>
              <a:t>#2 최소성 (Minimality)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212848"/>
            <a:ext cx="7406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DD6F4"/>
                </a:solidFill>
                <a:latin typeface="Malgun Gothic"/>
              </a:defRPr>
            </a:pPr>
            <a:r>
              <a:t>상위집합 환경을 허용하지 않아 공간/시간 효율 극대화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551176"/>
            <a:ext cx="7406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399B2"/>
                </a:solidFill>
                <a:latin typeface="Malgun Gothic"/>
              </a:defRPr>
            </a:pPr>
            <a:r>
              <a:t>update-label의 compare-env가 :S12/:S21/:EQ 비교로 강제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282696"/>
            <a:ext cx="11247120" cy="105156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CBA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35584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BA6F7"/>
                </a:solidFill>
                <a:latin typeface="Consolas"/>
              </a:defRPr>
            </a:pPr>
            <a:r>
              <a:t>#3 무모순성 (No Nogood)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328416"/>
            <a:ext cx="7406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DD6F4"/>
                </a:solidFill>
                <a:latin typeface="Malgun Gothic"/>
              </a:defRPr>
            </a:pPr>
            <a:r>
              <a:t>내부 모순이 있는 환경은 label에 존재할 수 없음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666744"/>
            <a:ext cx="7406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399B2"/>
                </a:solidFill>
                <a:latin typeface="Malgun Gothic"/>
              </a:defRPr>
            </a:pPr>
            <a:r>
              <a:t>weave의 nogood 필터 + remove-env-from-labels로 사전/사후 차단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398264"/>
            <a:ext cx="11247120" cy="105156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94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471416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94E2D5"/>
                </a:solidFill>
                <a:latin typeface="Consolas"/>
              </a:defRPr>
            </a:pPr>
            <a:r>
              <a:t>#4 양방향 연결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443984"/>
            <a:ext cx="7406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DD6F4"/>
                </a:solidFill>
                <a:latin typeface="Malgun Gothic"/>
              </a:defRPr>
            </a:pPr>
            <a:r>
              <a:t>node.label ↔ env.nodes가 항상 동기화되어 양방향 탐색 가능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782312"/>
            <a:ext cx="7406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399B2"/>
                </a:solidFill>
                <a:latin typeface="Malgun Gothic"/>
              </a:defRPr>
            </a:pPr>
            <a:r>
              <a:t>추가 시 push 쌍, 제거 시 delete+rplaca 쌍으로 일관성 유지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513832"/>
            <a:ext cx="11247120" cy="105156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86984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89B4FA"/>
                </a:solidFill>
                <a:latin typeface="Consolas"/>
              </a:defRPr>
            </a:pPr>
            <a:r>
              <a:t>#5 전파 기반 갱신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5559552"/>
            <a:ext cx="7406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DD6F4"/>
                </a:solidFill>
                <a:latin typeface="Malgun Gothic"/>
              </a:defRPr>
            </a:pPr>
            <a:r>
              <a:t>직접 설정이 아닌 정당화 체인을 통해 자동으로 계산됨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5897880"/>
            <a:ext cx="7406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399B2"/>
                </a:solidFill>
                <a:latin typeface="Malgun Gothic"/>
              </a:defRPr>
            </a:pPr>
            <a:r>
              <a:t>justify-node → propagate → weave → update-label 전파 파이프라인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89B4FA"/>
                </a:solidFill>
                <a:latin typeface="Malgun Gothic"/>
              </a:defRPr>
            </a:pPr>
            <a:r>
              <a:t>label은 ATMS의 핵심 데이터 — 이 5가지 성격이 전체 시스템의 정합성과 효율성을 보장합니다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