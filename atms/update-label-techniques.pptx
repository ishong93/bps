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Malgun Gothic"/>
              </a:defRPr>
            </a:pPr>
            <a:r>
              <a:t>update-label 함수의 프로그래밍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99B2"/>
                </a:solidFill>
                <a:latin typeface="Malgun Gothic"/>
              </a:defRPr>
            </a:pPr>
            <a:r>
              <a:t>ATMS(Assumption-based Truth Maintenance System)  |  Common Lisp 구현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Destructive Update (rplaca)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리스트를 제자리에서 수정하는 파괴적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Lazy Deletion (지연 삭제)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nil 마킹 후 일괄 정리 패턴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9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중첩 루프 + 조기 탈출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do-do-cond 구조의 탐색 패턴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역참조 (Reverse Index)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env → node 양방향 연결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반환값을 통한 흐름 제어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새로 추가된 환경만 반환하여 전파 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69848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  <a:latin typeface="Malgun Gothic"/>
              </a:defRPr>
            </a:pPr>
            <a:r>
              <a:t>집합 최소성 유지 (Subsumption)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부분집합 관계를 이용한 집합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전체 코드 개관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update-label (node new-envs &amp;aux 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(tms-node-label node))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 ((new-envs new-envs (cdr new-envs)))      ; 외부 루프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((null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(do ((nenvs envs (cdr nenvs)))               ; 내부 루프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nenvs) (push (car new-envs) 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(cond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(car nenvs)))           ; 삭제된 항목 건너뜀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(car new-envs)))        ; 무시된 환경 건너뜀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((case (compare-env (car new-envs) (car nenvs))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((:EQ :S21) (rplaca new-envs nil))    ; 새 환경 버림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(:S12                                  ; 기존 환경 제거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(setf (env-nodes (car nenvs))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(delete node (env-nodes (car nenvs)) :COUNT 1))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(rplaca nenvs nil)))))))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정리 단계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new-envs (delete nil new-envs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(new-env new-envs) (push node (env-nodes new-env)))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(setf (tms-node-label node) (delete nil 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new-envs)   ; 실제로 추가된 환경만 반환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6E3A1"/>
                </a:solidFill>
                <a:latin typeface="Consolas"/>
              </a:defRPr>
            </a:pPr>
            <a:r>
              <a:t>← 초기화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8BA8"/>
                </a:solidFill>
                <a:latin typeface="Consolas"/>
              </a:defRPr>
            </a:pPr>
            <a:r>
              <a:t>← 핵심 비교 로직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E2AF"/>
                </a:solidFill>
                <a:latin typeface="Consolas"/>
              </a:defRPr>
            </a:pPr>
            <a:r>
              <a:t>← 정리 + 반환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Destructive Update (파괴적 갱신)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rplaca로 리스트를 제자리에서 수정하기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1: Destructive Update (rplaca)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rplaca란?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cons cell의 car 부분을 직접 교체하는 함수입니다.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새 리스트를 만들지 않고 기존 리스트를 수정합니다.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update-label에서의 사용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• (rplaca new-envs nil)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 → 새 환경을 nil로 마킹 ("삭제 표시")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• (rplaca nenvs nil)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 → 기존 환경을 nil로 마킹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왜 사용하는가?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순회 중인 리스트를 안전하게 "삭제 예약"할 수 있음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O(1) 시간으로 즉시 표시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Destructive (실제 코드)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(rplaca new-envs nil)  ; 제자리 수정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결과: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({A1,A2} {A3}) → (nil {A3})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원래 리스트가 직접 변경됨!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Non-destructive (대안)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(setq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(remove (car new-envs)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새 리스트를 생성 → 메모리 할당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9496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8BA8"/>
                </a:solidFill>
                <a:latin typeface="Malgun Gothic"/>
              </a:defRPr>
            </a:pPr>
            <a:r>
              <a:t>핵심: 순회 중 구조를 직접 변경하되, nil 마킹으로 안전성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Lazy Deletion (지연 삭제)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"지금 표시하고, 나중에 정리한다"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2: Lazy Deletion (지연 삭제)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Phase 1: Mark (표시 단계)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순회 도중 삭제할 항목을 nil로 마킹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(rplaca new-envs nil)  ; 새 환경 삭제 표시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(rplaca nenvs nil)     ; 기존 환경 삭제 표시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리스트 구조 자체는 유지 → 순회가 안전하게 계속됨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23774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Phase 2: Sweep (정리 단계)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순회가 끝난 후 nil 항목 일괄 제거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(delete nil new-envs :TEST #'eq)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(delete nil envs :TEST #'eq)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깨끗한 최종 상태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25603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algun Gothic"/>
              </a:defRPr>
            </a:pPr>
            <a:r>
              <a:t>동작 시각화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초기 상태:    [{A1,A2},  {A3}]    ×    [{A1}]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                기존 label              새 환경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Mark 후:     [{A1,A2},  {A3}]    ×    [{A1}]       compare: {A1} ⊂ {A1,A2} → :S12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38BA8"/>
                </a:solidFill>
                <a:latin typeface="Consolas"/>
              </a:defRPr>
            </a:pPr>
            <a:r>
              <a:t>              → [nil,    {A3}]    ×    [{A1}]       기존 {A1,A2}를 nil로 마킹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A6E3A1"/>
                </a:solidFill>
                <a:latin typeface="Consolas"/>
              </a:defRPr>
            </a:pPr>
            <a:r>
              <a:t>Sweep 후:    [{A3}]               ×    [{A1}]       nil 제거 완료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89B4FA"/>
                </a:solidFill>
                <a:latin typeface="Consolas"/>
              </a:defRPr>
            </a:pPr>
            <a:r>
              <a:t>최종 label:  [{A3}, {A1}]                           두 환경 공존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중첩 루프 + 조기 탈출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do-do-cond 구조의 우아한 탐색 패턴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3: 중첩 do 루프와 조기 탈출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6928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패턴 구조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외부 do 루프: new-envs 순회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각 새 환경을 하나씩 처리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  내부 do 루프: envs (기존 label) 순회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    새 환경과 기존 환경을 하나씩 비교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조기 탈출 메커니즘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내부 루프의 종료 조건: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1. (null nenvs) → 모든 기존 환경과 비교 완료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Malgun Gothic"/>
              </a:defRPr>
            </a:pPr>
            <a:r>
              <a:t>   → push로 새 환경을 label에 추가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2. (null (car new-envs)) → 이미 nil로 마킹됨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Malgun Gothic"/>
              </a:defRPr>
            </a:pPr>
            <a:r>
              <a:t>   → cond 절이 아무것도 안 함 → 자연 종료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3. rplaca 실행 → 마킹 후 cond의 case가 값 반환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Malgun Gothic"/>
              </a:defRPr>
            </a:pPr>
            <a:r>
              <a:t>   → 내부 루프의 다음 반복으로 이동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# 의사코드 (pseudocode)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for new_env in new_envs: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found_superset = False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for existing_env in envs: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if existing_env is nil: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continue    # 건너뜀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if new_env is nil: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break       # 이미 처리됨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match compare(new_env, existing_env):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case EQ, S21:    # 새 것 ⊇ 기존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new_env = nil  # 새 것 버림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break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case S12:        # 새 것 ⊂ 기존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existing_env = nil  # 기존 제거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# 계속 순회 (더 제거할 것 있을 수도)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if new_env is not nil: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envs.add(new_env)  # 살아남으면 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역참조 (Reverse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env ↔ node 양방향 연결 관리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4: 역참조 (Reverse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1945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두 방향의 참조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A6E3A1"/>
                </a:solidFill>
                <a:latin typeface="Consolas"/>
              </a:defRPr>
            </a:pPr>
            <a:r>
              <a:t>node.label → [env1, env2, ...]         "이 노드가 참인 환경들"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env.nodes  → [node1, node2, ...]       "이 환경에서 참인 노드들"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양방향으로 연결하면 어느 쪽에서든 빠르게 탐색할 수 있습니다.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이는 관계형 DB의 인덱스, 그래프의 adjacency list와 같은 원리입니다.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환경 추가 시 (양방향 등록)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;; node → env 방향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(push (car new-envs) envs)  ; label에 추가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;; env → node 방향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(push node (env-nodes new-env))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→ 둘 다 등록해야 일관성 유지!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7947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환경 제거 시 (양방향 해제)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;; node → env 방향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(rplaca nenvs nil)  ; label에서 nil 마킹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;; env → node 방향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(delete node (env-nodes (car nenvs)))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→ 양쪽 모두 정리해야 dangling reference 방지!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반환값을 통한 흐름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"실제로 변한 것만 반환하여 전파 범위를 최소화"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5: 반환값을 통한 흐름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호출 흐름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9399B2"/>
                </a:solidFill>
                <a:latin typeface="Consolas"/>
              </a:defRPr>
            </a:pPr>
            <a:r>
              <a:t>propagate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└─ weave     → 교차곱 환경들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└─ update    → update-label 호출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Consolas"/>
              </a:defRPr>
            </a:pPr>
            <a:r>
              <a:t>       └─ update-label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Consolas"/>
              </a:defRPr>
            </a:pPr>
            <a:r>
              <a:t>            반환: 실제 추가된 환경만!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38BA8"/>
                </a:solidFill>
                <a:latin typeface="Malgun Gothic"/>
              </a:defRPr>
            </a:pPr>
            <a:r>
              <a:t>반환값의 의미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• 빈 리스트 () 반환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→ 새로 추가된 것이 없음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  → update가 전파를 멈춤 (불필요한 재귀 방지)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• 환경 리스트 반환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  → 실제로 label이 변경됨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Malgun Gothic"/>
              </a:defRPr>
            </a:pPr>
            <a:r>
              <a:t>  → 후속 정당화들에 재귀 전파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update-label의 반환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(setq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(delete nil new-envs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...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new-envs)  ; 살아남은 새 환경만 반환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update 함수에서의 활용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update (new-envs consequence just)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...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update-label이 빈 리스트 반환하면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new-envs가 nil → 아래 루프 실행 안 됨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(update-label consequence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(just (tms-node-consequences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consequence))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;; new-envs가 nil이면 전파 안 함!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(propagate just consequence new-envs)))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집합 최소성 유지 (Subsumption)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부분집합 관계를 이용한 효율적 집합 정리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기법 6: Subsumption (포섭 관계 활용)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최소성(Minimality) 원칙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label에는 항상 최소 환경만 유지합니다. {A1}이 있으면 {A1,A2}는 불필요합니다.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"적은 가정으로 참이 되면, 더 많은 가정을 추가할 필요가 없다"는 원리입니다.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이는 compare-env 함수로 두 환경의 부분집합 관계를 판별하여 구현합니다.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Case 1: :EQ / :S21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새 환경 ⊇ 기존 환경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605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[{A1}]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new  = {A1,A2}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→ {A1,A2} 버림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(이미 {A1}으로 충분)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Malgun Gothic"/>
              </a:defRPr>
            </a:pPr>
            <a:r>
              <a:t>새 환경이 기존보다</a:t>
            </a:r>
            <a:br/>
            <a:r>
              <a:t>크거나 같으면 불필요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91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Case 2: :S12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94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새 환경 ⊂ 기존 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605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[{A1,A2}]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new  = {A1}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→ {A1,A2} 제거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→ {A1}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Malgun Gothic"/>
              </a:defRPr>
            </a:pPr>
            <a:r>
              <a:t>더 작은 환경이</a:t>
            </a:r>
            <a:br/>
            <a:r>
              <a:t>발견되면 교체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9184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Case 3: nil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94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비교 불가 (독립적)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1605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label = [{A1}]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new  = {A2}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→ 둘 다 유지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label = [{A1},{A2}]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6F4"/>
                </a:solidFill>
                <a:latin typeface="Malgun Gothic"/>
              </a:defRPr>
            </a:pPr>
            <a:r>
              <a:t>독립적인 환경은</a:t>
            </a:r>
            <a:br/>
            <a:r>
              <a:t>모두 유지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종합: 기법들의 상호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update-label에 적용된 6가지 기법의 관계도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89B4FA"/>
                </a:solidFill>
                <a:latin typeface="Consolas"/>
              </a:defRPr>
            </a:pPr>
            <a:r>
              <a:t>    │  #6 Subsumption: 최소성 원칙이 전체 알고리즘의 목표를 결정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└─────────────────────────┬──────────────────────────────────────┘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│ 구현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│  #3 중첩 루프: 모든 (새 환경, 기존 환경) 쌍을 비교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│                          │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▼                          ▼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│  #1 rplaca: 즉시 마킹     #4 역참조: env↔node 동기화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│             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   ▼                    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│  #2 Lazy Delete: 순회 후 nil 일괄 정리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           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│  #5 반환값 제어: 실제 변경분만 반환 → 전파 범위 최소화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8BA8"/>
                </a:solidFill>
                <a:latin typeface="Consolas"/>
              </a:defRPr>
            </a:pPr>
            <a:r>
              <a:t>#1 Destructive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070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rplaca로 제자리 수정 → O(1) 마킹, 메모리 절약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Consolas"/>
              </a:defRPr>
            </a:pPr>
            <a:r>
              <a:t>#2 Lazy Deletion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7568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Mark-Sweep 패턴: 순회 중 안전하게 삭제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Consolas"/>
              </a:defRPr>
            </a:pPr>
            <a:r>
              <a:t>#3 중첩 루프 + 조기 탈출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4436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do-do-cond 구조로 전수 비교, nil 체크로 불필요한 반복 스킵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9B4FA"/>
                </a:solidFill>
                <a:latin typeface="Consolas"/>
              </a:defRPr>
            </a:pPr>
            <a:r>
              <a:t>#4 역참조 (Reverse Index)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1304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env ↔ node 양방향 연결로 빠른 탐색 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Consolas"/>
              </a:defRPr>
            </a:pPr>
            <a:r>
              <a:t>#5 반환값 흐름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8172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변경된 것만 반환하여 불필요한 재귀 전파 차단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13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9B4FA"/>
                </a:solidFill>
                <a:latin typeface="Consolas"/>
              </a:defRPr>
            </a:pPr>
            <a:r>
              <a:t>#6 Subsumption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5504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부분집합 관계로 최소 환경만 유지 → 공간/시간 효율 극대화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이 기법들은 1980-90년대 AI 추론 시스템에서 발전한 실전 패턴으로,</a:t>
            </a:r>
          </a:p>
          <a:p>
            <a:pPr algn="ctr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현대 프로그래밍의 GC, 인덱싱, 이벤트 전파 등의 기초가 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