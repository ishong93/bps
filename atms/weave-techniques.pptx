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89B4FA"/>
                </a:solidFill>
                <a:latin typeface="Malgun Gothic"/>
              </a:defRPr>
            </a:pPr>
            <a:r>
              <a:t>weave 함수의 프로그래밍 기법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3832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9399B2"/>
                </a:solidFill>
                <a:latin typeface="Malgun Gothic"/>
              </a:defRPr>
            </a:pPr>
            <a:r>
              <a:t>ATMS 환경 교차곱(Cross-Product) 알고리즘의 구현 기법 분석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3108960"/>
            <a:ext cx="3931920" cy="38100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89B4FA"/>
                </a:solidFill>
                <a:latin typeface="Malgun Gothic"/>
              </a:defRPr>
            </a:pPr>
            <a:r>
              <a:t>목차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3716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9399B2"/>
                </a:solidFill>
                <a:latin typeface="Consolas"/>
              </a:defRPr>
            </a:pPr>
            <a:r>
              <a:t>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10698480" cy="777240"/>
          </a:xfrm>
          <a:prstGeom prst="roundRect">
            <a:avLst>
              <a:gd name="adj" fmla="val 5000"/>
            </a:avLst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26187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A6E3A1"/>
                </a:solidFill>
                <a:latin typeface="Consolas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2344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DD6F4"/>
                </a:solidFill>
                <a:latin typeface="Malgun Gothic"/>
              </a:defRPr>
            </a:pPr>
            <a:r>
              <a:t>Defensive Copy (방어적 복사)      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6002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399B2"/>
                </a:solidFill>
                <a:latin typeface="Malgun Gothic"/>
              </a:defRPr>
            </a:pPr>
            <a:r>
              <a:t>copy-list로 원본 데이터를 보호하는 패턴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057400"/>
            <a:ext cx="10698480" cy="777240"/>
          </a:xfrm>
          <a:prstGeom prst="roundRect">
            <a:avLst>
              <a:gd name="adj" fmla="val 5000"/>
            </a:avLst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1305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A6E3A1"/>
                </a:solidFill>
                <a:latin typeface="Consolas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103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DD6F4"/>
                </a:solidFill>
                <a:latin typeface="Malgun Gothic"/>
              </a:defRPr>
            </a:pPr>
            <a:r>
              <a:t>3중 루프 교차곱 (Cross-Product)   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4688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399B2"/>
                </a:solidFill>
                <a:latin typeface="Malgun Gothic"/>
              </a:defRPr>
            </a:pPr>
            <a:r>
              <a:t>dolist-dolist-dolist 구조의 조합 생성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926080"/>
            <a:ext cx="10698480" cy="777240"/>
          </a:xfrm>
          <a:prstGeom prst="roundRect">
            <a:avLst>
              <a:gd name="adj" fmla="val 5000"/>
            </a:avLst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99923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A6E3A1"/>
                </a:solidFill>
                <a:latin typeface="Consolas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9718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DD6F4"/>
                </a:solidFill>
                <a:latin typeface="Malgun Gothic"/>
              </a:defRPr>
            </a:pPr>
            <a:r>
              <a:t>점진적 축적 (Incremental Fold)    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3375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399B2"/>
                </a:solidFill>
                <a:latin typeface="Malgun Gothic"/>
              </a:defRPr>
            </a:pPr>
            <a:r>
              <a:t>각 전건 처리 후 envs를 점진적으로 교체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794760"/>
            <a:ext cx="10698480" cy="777240"/>
          </a:xfrm>
          <a:prstGeom prst="roundRect">
            <a:avLst>
              <a:gd name="adj" fmla="val 5000"/>
            </a:avLst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86791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A6E3A1"/>
                </a:solidFill>
                <a:latin typeface="Consolas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840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DD6F4"/>
                </a:solidFill>
                <a:latin typeface="Malgun Gothic"/>
              </a:defRPr>
            </a:pPr>
            <a:r>
              <a:t>다단계 필터링 파이프라인           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206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399B2"/>
                </a:solidFill>
                <a:latin typeface="Malgun Gothic"/>
              </a:defRPr>
            </a:pPr>
            <a:r>
              <a:t>nogood 필터 → subsumption 필터의 2단 검증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663440"/>
            <a:ext cx="10698480" cy="777240"/>
          </a:xfrm>
          <a:prstGeom prst="roundRect">
            <a:avLst>
              <a:gd name="adj" fmla="val 5000"/>
            </a:avLst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73659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A6E3A1"/>
                </a:solidFill>
                <a:latin typeface="Consolas"/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4709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DD6F4"/>
                </a:solidFill>
                <a:latin typeface="Malgun Gothic"/>
              </a:defRPr>
            </a:pPr>
            <a:r>
              <a:t>Early Return (조기 반환)          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5074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399B2"/>
                </a:solidFill>
                <a:latin typeface="Malgun Gothic"/>
              </a:defRPr>
            </a:pPr>
            <a:r>
              <a:t>return-from으로 불필요한 계산 즉시 차단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532120"/>
            <a:ext cx="10698480" cy="777240"/>
          </a:xfrm>
          <a:prstGeom prst="roundRect">
            <a:avLst>
              <a:gd name="adj" fmla="val 5000"/>
            </a:avLst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560527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A6E3A1"/>
                </a:solidFill>
                <a:latin typeface="Consolas"/>
              </a:defRPr>
            </a:pPr>
            <a: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55778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DD6F4"/>
                </a:solidFill>
                <a:latin typeface="Malgun Gothic"/>
              </a:defRPr>
            </a:pPr>
            <a:r>
              <a:t>Lazy Deletion + rplaca            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9436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399B2"/>
                </a:solidFill>
                <a:latin typeface="Malgun Gothic"/>
              </a:defRPr>
            </a:pPr>
            <a:r>
              <a:t>순회 중 마킹, 순회 후 정리하는 패턴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89B4FA"/>
                </a:solidFill>
                <a:latin typeface="Malgun Gothic"/>
              </a:defRPr>
            </a:pPr>
            <a:r>
              <a:t>전체 코드 개관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3716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9399B2"/>
                </a:solidFill>
                <a:latin typeface="Consolas"/>
              </a:defRPr>
            </a:pPr>
            <a:r>
              <a:t>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05840"/>
            <a:ext cx="11247120" cy="5486400"/>
          </a:xfrm>
          <a:prstGeom prst="roundRect">
            <a:avLst>
              <a:gd name="adj" fmla="val 5000"/>
            </a:avLst>
          </a:prstGeom>
          <a:solidFill>
            <a:srgbClr val="313244"/>
          </a:solidFill>
          <a:ln w="19050">
            <a:solidFill>
              <a:srgbClr val="585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(defun weave (antecedent envs antecedents &amp;aux new-envs new-env)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  (setq envs (copy-list envs))                     ; #1 방어적 복사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  (dolist (node antecedents)                        ; #2 외부: 전건 순회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    (unless (eq node antecedent)                    ;    이미 반영된 것 건너뜀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      (setq new-envs nil)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      (dolist (env envs)                            ; #2 중간: 현재 envs 순회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        (if env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          (dolist (node-env (tms-node-label node))  ; #2 내부: 노드의 label 순회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            (setq new-env (union-env env node-env)) ;    합집합 계산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            (unless (env-nogood? new-env)           ; #4 필터1: nogood 제거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              (do ((nnew-envs new-envs              ; #4 필터2: 최소성 검사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                    (cdr nnew-envs)))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                  ((null nnew-envs)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                   (push new-env new-envs))         ;    살아남으면 추가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                (when (car nnew-envs)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                  (case (compare-env new-env (car nnew-envs))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                    ((:EQ :S21) (return nil))       ; #5 새것 탈락 → 즉시 탈출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                    (:S12                           ; #6 기존 것 제거 → rplaca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                     (rplaca nnew-envs nil)))))))))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      (setq envs                                   ; #3 점진적 축적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        (delete nil new-envs :TEST #'eq))           ; #6 nil 정리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      (unless envs (return-from weave nil))))       ; #5 빈 결과 → 조기 반환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  envs)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A6E3A1"/>
                </a:solidFill>
                <a:latin typeface="Consolas"/>
              </a:defRPr>
            </a:pPr>
            <a:r>
              <a:t>#1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CDD6F4"/>
                </a:solidFill>
                <a:latin typeface="Malgun Gothic"/>
              </a:defRPr>
            </a:pPr>
            <a:r>
              <a:t>Defensive Copy (방어적 복사)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399B2"/>
                </a:solidFill>
                <a:latin typeface="Malgun Gothic"/>
              </a:defRPr>
            </a:pPr>
            <a:r>
              <a:t>copy-list로 원본 데이터를 보호하기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89B4FA"/>
                </a:solidFill>
                <a:latin typeface="Malgun Gothic"/>
              </a:defRPr>
            </a:pPr>
            <a:r>
              <a:t>기법 1: Defensive Copy (방어적 복사)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3716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9399B2"/>
                </a:solidFill>
                <a:latin typeface="Consolas"/>
              </a:defRPr>
            </a:pPr>
            <a:r>
              <a:t>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5303520" cy="5303520"/>
          </a:xfrm>
          <a:prstGeom prst="roundRect">
            <a:avLst>
              <a:gd name="adj" fmla="val 5000"/>
            </a:avLst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48463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A6E3A1"/>
                </a:solidFill>
                <a:latin typeface="Malgun Gothic"/>
              </a:defRPr>
            </a:pPr>
            <a:r>
              <a:t>무엇을 복사하는가?</a:t>
            </a:r>
          </a:p>
          <a:p>
            <a:pPr algn="l">
              <a:spcBef>
                <a:spcPts val="600"/>
              </a:spcBef>
              <a:defRPr sz="6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500" b="0">
                <a:solidFill>
                  <a:srgbClr val="F9E2AF"/>
                </a:solidFill>
                <a:latin typeface="Consolas"/>
              </a:defRPr>
            </a:pPr>
            <a:r>
              <a:t>(setq envs (copy-list envs))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600" b="0">
                <a:solidFill>
                  <a:srgbClr val="CDD6F4"/>
                </a:solidFill>
                <a:latin typeface="Malgun Gothic"/>
              </a:defRPr>
            </a:pPr>
            <a:r>
              <a:t>함수에 전달된 envs 리스트를 복사합니다.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CDD6F4"/>
                </a:solidFill>
                <a:latin typeface="Malgun Gothic"/>
              </a:defRPr>
            </a:pPr>
            <a:r>
              <a:t>weave 내부에서 envs를 변형(delete, setq)하기 때문에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CDD6F4"/>
                </a:solidFill>
                <a:latin typeface="Malgun Gothic"/>
              </a:defRPr>
            </a:pPr>
            <a:r>
              <a:t>원본 리스트가 손상되지 않도록 보호합니다.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2000" b="1">
                <a:solidFill>
                  <a:srgbClr val="F38BA8"/>
                </a:solidFill>
                <a:latin typeface="Malgun Gothic"/>
              </a:defRPr>
            </a:pPr>
            <a:r>
              <a:t>왜 필요한가?</a:t>
            </a:r>
          </a:p>
          <a:p>
            <a:pPr algn="l">
              <a:spcBef>
                <a:spcPts val="600"/>
              </a:spcBef>
              <a:defRPr sz="6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600" b="0">
                <a:solidFill>
                  <a:srgbClr val="CDD6F4"/>
                </a:solidFill>
                <a:latin typeface="Malgun Gothic"/>
              </a:defRPr>
            </a:pPr>
            <a:r>
              <a:t>weave는 호출자(propagate)로부터 envs를 받습니다.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CDD6F4"/>
                </a:solidFill>
                <a:latin typeface="Malgun Gothic"/>
              </a:defRPr>
            </a:pPr>
            <a:r>
              <a:t>복사 없이 직접 수정하면:</a:t>
            </a:r>
          </a:p>
          <a:p>
            <a:pPr algn="l">
              <a:spcBef>
                <a:spcPts val="600"/>
              </a:spcBef>
              <a:defRPr sz="4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500" b="0">
                <a:solidFill>
                  <a:srgbClr val="F38BA8"/>
                </a:solidFill>
                <a:latin typeface="Malgun Gothic"/>
              </a:defRPr>
            </a:pPr>
            <a:r>
              <a:t>  1. 호출자의 데이터가 예기치 않게 변경됨</a:t>
            </a:r>
          </a:p>
          <a:p>
            <a:pPr algn="l">
              <a:spcBef>
                <a:spcPts val="600"/>
              </a:spcBef>
              <a:defRPr sz="1500" b="0">
                <a:solidFill>
                  <a:srgbClr val="F38BA8"/>
                </a:solidFill>
                <a:latin typeface="Malgun Gothic"/>
              </a:defRPr>
            </a:pPr>
            <a:r>
              <a:t>  2. 같은 envs를 다른 곳에서도 사용 중이면 버그 발생</a:t>
            </a:r>
          </a:p>
          <a:p>
            <a:pPr algn="l">
              <a:spcBef>
                <a:spcPts val="600"/>
              </a:spcBef>
              <a:defRPr sz="1500" b="0">
                <a:solidFill>
                  <a:srgbClr val="F38BA8"/>
                </a:solidFill>
                <a:latin typeface="Malgun Gothic"/>
              </a:defRPr>
            </a:pPr>
            <a:r>
              <a:t>  3. 디버깅이 매우 어려워짐 (원격 부작용)</a:t>
            </a:r>
          </a:p>
          <a:p>
            <a:pPr algn="l">
              <a:spcBef>
                <a:spcPts val="600"/>
              </a:spcBef>
              <a:defRPr sz="10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2000" b="1">
                <a:solidFill>
                  <a:srgbClr val="89B4FA"/>
                </a:solidFill>
                <a:latin typeface="Malgun Gothic"/>
              </a:defRPr>
            </a:pPr>
            <a:r>
              <a:t>원칙</a:t>
            </a:r>
          </a:p>
          <a:p>
            <a:pPr algn="l">
              <a:spcBef>
                <a:spcPts val="600"/>
              </a:spcBef>
              <a:defRPr sz="6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600" b="0">
                <a:solidFill>
                  <a:srgbClr val="F9E2AF"/>
                </a:solidFill>
                <a:latin typeface="Malgun Gothic"/>
              </a:defRPr>
            </a:pPr>
            <a:r>
              <a:t>"입력을 변형할 것이라면, 먼저 복사하라"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097280"/>
            <a:ext cx="5577840" cy="2286000"/>
          </a:xfrm>
          <a:prstGeom prst="roundRect">
            <a:avLst>
              <a:gd name="adj" fmla="val 5000"/>
            </a:avLst>
          </a:prstGeom>
          <a:solidFill>
            <a:srgbClr val="313244"/>
          </a:solidFill>
          <a:ln w="19050">
            <a:solidFill>
              <a:srgbClr val="585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;; weave: 복사 후 수정 (안전)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(defun weave (antecedent envs antecedents)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  (setq envs (copy-list envs))  ; 복사!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  ;; 이후 envs를 마음껏 변형 가능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  (setq envs (delete nil ...))  ; 안전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  ...)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3749039"/>
            <a:ext cx="5577840" cy="2286000"/>
          </a:xfrm>
          <a:prstGeom prst="roundRect">
            <a:avLst>
              <a:gd name="adj" fmla="val 5000"/>
            </a:avLst>
          </a:prstGeom>
          <a:solidFill>
            <a:srgbClr val="313244"/>
          </a:solidFill>
          <a:ln w="19050">
            <a:solidFill>
              <a:srgbClr val="585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;; update-label: 복사 없이 직접 수정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(defun update-label (node new-envs &amp;aux envs)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  (setq envs (tms-node-label node))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  ;; 내부 데이터를 직접 수정하고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  ;; 최종 결과를 다시 setf로 저장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  (setf (tms-node-label node) ...))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6217920"/>
            <a:ext cx="5577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399B2"/>
                </a:solidFill>
                <a:latin typeface="Malgun Gothic"/>
              </a:defRPr>
            </a:pPr>
            <a:r>
              <a:t>비교: update-label은 구조체 필드를 직접 갱신하므로 복사 불필요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A6E3A1"/>
                </a:solidFill>
                <a:latin typeface="Malgun Gothic"/>
              </a:defRPr>
            </a:pPr>
            <a:r>
              <a:t>weave는 호출자의 리스트를 받으므로 복사 필수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A6E3A1"/>
                </a:solidFill>
                <a:latin typeface="Consolas"/>
              </a:defRPr>
            </a:pPr>
            <a:r>
              <a:t>#2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CDD6F4"/>
                </a:solidFill>
                <a:latin typeface="Malgun Gothic"/>
              </a:defRPr>
            </a:pPr>
            <a:r>
              <a:t>3중 루프 교차곱 (Cross-Product)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399B2"/>
                </a:solidFill>
                <a:latin typeface="Malgun Gothic"/>
              </a:defRPr>
            </a:pPr>
            <a:r>
              <a:t>Cartesian Product를 생성하는 중첩 dolist 패턴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89B4FA"/>
                </a:solidFill>
                <a:latin typeface="Malgun Gothic"/>
              </a:defRPr>
            </a:pPr>
            <a:r>
              <a:t>기법 2: 3중 루프 교차곱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3716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9399B2"/>
                </a:solidFill>
                <a:latin typeface="Consolas"/>
              </a:defRPr>
            </a:pPr>
            <a:r>
              <a:t>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5669280" cy="5303520"/>
          </a:xfrm>
          <a:prstGeom prst="roundRect">
            <a:avLst>
              <a:gd name="adj" fmla="val 5000"/>
            </a:avLst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A6E3A1"/>
                </a:solidFill>
                <a:latin typeface="Malgun Gothic"/>
              </a:defRPr>
            </a:pPr>
            <a:r>
              <a:t>3중 dolist 구조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600" b="1">
                <a:solidFill>
                  <a:srgbClr val="89B4FA"/>
                </a:solidFill>
                <a:latin typeface="Malgun Gothic"/>
              </a:defRPr>
            </a:pPr>
            <a:r>
              <a:t>외부 (dolist node antecedents)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9399B2"/>
                </a:solidFill>
                <a:latin typeface="Malgun Gothic"/>
              </a:defRPr>
            </a:pPr>
            <a:r>
              <a:t>  "각 전건 노드를 하나씩 처리"</a:t>
            </a:r>
          </a:p>
          <a:p>
            <a:pPr algn="l">
              <a:spcBef>
                <a:spcPts val="600"/>
              </a:spcBef>
              <a:defRPr sz="6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600" b="1">
                <a:solidFill>
                  <a:srgbClr val="CBA6F7"/>
                </a:solidFill>
                <a:latin typeface="Malgun Gothic"/>
              </a:defRPr>
            </a:pPr>
            <a:r>
              <a:t>  중간 (dolist env envs)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9399B2"/>
                </a:solidFill>
                <a:latin typeface="Malgun Gothic"/>
              </a:defRPr>
            </a:pPr>
            <a:r>
              <a:t>    "현재까지 축적된 환경들을 하나씩 꺼냄"</a:t>
            </a:r>
          </a:p>
          <a:p>
            <a:pPr algn="l">
              <a:spcBef>
                <a:spcPts val="600"/>
              </a:spcBef>
              <a:defRPr sz="6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600" b="1">
                <a:solidFill>
                  <a:srgbClr val="F9E2AF"/>
                </a:solidFill>
                <a:latin typeface="Malgun Gothic"/>
              </a:defRPr>
            </a:pPr>
            <a:r>
              <a:t>    내부 (dolist node-env (label node))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9399B2"/>
                </a:solidFill>
                <a:latin typeface="Malgun Gothic"/>
              </a:defRPr>
            </a:pPr>
            <a:r>
              <a:t>      "이 노드의 가능한 환경들과 결합"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2000" b="1">
                <a:solidFill>
                  <a:srgbClr val="F38BA8"/>
                </a:solidFill>
                <a:latin typeface="Malgun Gothic"/>
              </a:defRPr>
            </a:pPr>
            <a:r>
              <a:t>수학적 의미</a:t>
            </a:r>
          </a:p>
          <a:p>
            <a:pPr algn="l">
              <a:spcBef>
                <a:spcPts val="600"/>
              </a:spcBef>
              <a:defRPr sz="6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600" b="0">
                <a:solidFill>
                  <a:srgbClr val="F9E2AF"/>
                </a:solidFill>
                <a:latin typeface="Consolas"/>
              </a:defRPr>
            </a:pPr>
            <a:r>
              <a:t>envs = envs  x  label(node)</a:t>
            </a:r>
          </a:p>
          <a:p>
            <a:pPr algn="l">
              <a:spcBef>
                <a:spcPts val="600"/>
              </a:spcBef>
              <a:defRPr sz="1500" b="0">
                <a:solidFill>
                  <a:srgbClr val="F9E2AF"/>
                </a:solidFill>
                <a:latin typeface="Consolas"/>
              </a:defRPr>
            </a:pPr>
            <a:r>
              <a:t>     = { e1 U e2 | e1 in envs, e2 in label(node) }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500" b="0">
                <a:solidFill>
                  <a:srgbClr val="CDD6F4"/>
                </a:solidFill>
                <a:latin typeface="Malgun Gothic"/>
              </a:defRPr>
            </a:pPr>
            <a:r>
              <a:t>이것은 집합의 Cartesian Product(데카르트 곱)에</a:t>
            </a:r>
          </a:p>
          <a:p>
            <a:pPr algn="l">
              <a:spcBef>
                <a:spcPts val="600"/>
              </a:spcBef>
              <a:defRPr sz="1500" b="0">
                <a:solidFill>
                  <a:srgbClr val="CDD6F4"/>
                </a:solidFill>
                <a:latin typeface="Malgun Gothic"/>
              </a:defRPr>
            </a:pPr>
            <a:r>
              <a:t>합집합(union) 연산을 결합한 형태입니다.</a:t>
            </a:r>
          </a:p>
          <a:p>
            <a:pPr algn="l">
              <a:spcBef>
                <a:spcPts val="600"/>
              </a:spcBef>
              <a:defRPr sz="6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500" b="0">
                <a:solidFill>
                  <a:srgbClr val="9399B2"/>
                </a:solidFill>
                <a:latin typeface="Malgun Gothic"/>
              </a:defRPr>
            </a:pPr>
            <a:r>
              <a:t>곱셈처럼 결합하되, 원소는 환경(가정 집합)이므로</a:t>
            </a:r>
          </a:p>
          <a:p>
            <a:pPr algn="l">
              <a:spcBef>
                <a:spcPts val="600"/>
              </a:spcBef>
              <a:defRPr sz="1500" b="0">
                <a:solidFill>
                  <a:srgbClr val="9399B2"/>
                </a:solidFill>
                <a:latin typeface="Malgun Gothic"/>
              </a:defRPr>
            </a:pPr>
            <a:r>
              <a:t>개별 원소를 곱하는 대신 합집합으로 병합합니다.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097280"/>
            <a:ext cx="5303520" cy="5303520"/>
          </a:xfrm>
          <a:prstGeom prst="roundRect">
            <a:avLst>
              <a:gd name="adj" fmla="val 5000"/>
            </a:avLst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280160"/>
            <a:ext cx="48463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9B4FA"/>
                </a:solidFill>
                <a:latin typeface="Malgun Gothic"/>
              </a:defRPr>
            </a:pPr>
            <a:r>
              <a:t>동작 예시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500" b="0">
                <a:solidFill>
                  <a:srgbClr val="A6E3A1"/>
                </a:solidFill>
                <a:latin typeface="Consolas"/>
              </a:defRPr>
            </a:pPr>
            <a:r>
              <a:t>A.label = [{A1}, {A2}]</a:t>
            </a:r>
          </a:p>
          <a:p>
            <a:pPr algn="l">
              <a:spcBef>
                <a:spcPts val="600"/>
              </a:spcBef>
              <a:defRPr sz="1500" b="0">
                <a:solidFill>
                  <a:srgbClr val="A6E3A1"/>
                </a:solidFill>
                <a:latin typeface="Consolas"/>
              </a:defRPr>
            </a:pPr>
            <a:r>
              <a:t>B.label = [{A3}]</a:t>
            </a:r>
          </a:p>
          <a:p>
            <a:pPr algn="l">
              <a:spcBef>
                <a:spcPts val="600"/>
              </a:spcBef>
              <a:defRPr sz="1500" b="0">
                <a:solidFill>
                  <a:srgbClr val="A6E3A1"/>
                </a:solidFill>
                <a:latin typeface="Consolas"/>
              </a:defRPr>
            </a:pPr>
            <a:r>
              <a:t>C.label = [{A4}, {A5}]</a:t>
            </a:r>
          </a:p>
          <a:p>
            <a:pPr algn="l">
              <a:spcBef>
                <a:spcPts val="600"/>
              </a:spcBef>
              <a:defRPr sz="10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500" b="0">
                <a:solidFill>
                  <a:srgbClr val="CDD6F4"/>
                </a:solidFill>
                <a:latin typeface="Consolas"/>
              </a:defRPr>
            </a:pPr>
            <a:r>
              <a:t>초기: envs = [{}]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600" b="1">
                <a:solidFill>
                  <a:srgbClr val="89B4FA"/>
                </a:solidFill>
                <a:latin typeface="Malgun Gothic"/>
              </a:defRPr>
            </a:pPr>
            <a:r>
              <a:t>A 처리: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F9E2AF"/>
                </a:solidFill>
                <a:latin typeface="Consolas"/>
              </a:defRPr>
            </a:pPr>
            <a:r>
              <a:t>  {} U {A1} = {A1}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F9E2AF"/>
                </a:solidFill>
                <a:latin typeface="Consolas"/>
              </a:defRPr>
            </a:pPr>
            <a:r>
              <a:t>  {} U {A2} = {A2}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CDD6F4"/>
                </a:solidFill>
                <a:latin typeface="Consolas"/>
              </a:defRPr>
            </a:pPr>
            <a:r>
              <a:t>  envs = [{A1}, {A2}]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600" b="1">
                <a:solidFill>
                  <a:srgbClr val="89B4FA"/>
                </a:solidFill>
                <a:latin typeface="Malgun Gothic"/>
              </a:defRPr>
            </a:pPr>
            <a:r>
              <a:t>B 처리: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F9E2AF"/>
                </a:solidFill>
                <a:latin typeface="Consolas"/>
              </a:defRPr>
            </a:pPr>
            <a:r>
              <a:t>  {A1} U {A3} = {A1,A3}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F9E2AF"/>
                </a:solidFill>
                <a:latin typeface="Consolas"/>
              </a:defRPr>
            </a:pPr>
            <a:r>
              <a:t>  {A2} U {A3} = {A2,A3}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CDD6F4"/>
                </a:solidFill>
                <a:latin typeface="Consolas"/>
              </a:defRPr>
            </a:pPr>
            <a:r>
              <a:t>  envs = [{A1,A3}, {A2,A3}]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600" b="1">
                <a:solidFill>
                  <a:srgbClr val="89B4FA"/>
                </a:solidFill>
                <a:latin typeface="Malgun Gothic"/>
              </a:defRPr>
            </a:pPr>
            <a:r>
              <a:t>C 처리: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F9E2AF"/>
                </a:solidFill>
                <a:latin typeface="Consolas"/>
              </a:defRPr>
            </a:pPr>
            <a:r>
              <a:t>  {A1,A3} U {A4} = {A1,A3,A4}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F9E2AF"/>
                </a:solidFill>
                <a:latin typeface="Consolas"/>
              </a:defRPr>
            </a:pPr>
            <a:r>
              <a:t>  {A1,A3} U {A5} = {A1,A3,A5}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F9E2AF"/>
                </a:solidFill>
                <a:latin typeface="Consolas"/>
              </a:defRPr>
            </a:pPr>
            <a:r>
              <a:t>  {A2,A3} U {A4} = {A2,A3,A4}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F9E2AF"/>
                </a:solidFill>
                <a:latin typeface="Consolas"/>
              </a:defRPr>
            </a:pPr>
            <a:r>
              <a:t>  {A2,A3} U {A5} = {A2,A3,A5}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CDD6F4"/>
                </a:solidFill>
                <a:latin typeface="Consolas"/>
              </a:defRPr>
            </a:pPr>
            <a:r>
              <a:t>  envs = [{A1,A3,A4}, {A1,A3,A5},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CDD6F4"/>
                </a:solidFill>
                <a:latin typeface="Consolas"/>
              </a:defRPr>
            </a:pPr>
            <a:r>
              <a:t>          {A2,A3,A4}, {A2,A3,A5}]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A6E3A1"/>
                </a:solidFill>
                <a:latin typeface="Consolas"/>
              </a:defRPr>
            </a:pPr>
            <a:r>
              <a:t>#3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CDD6F4"/>
                </a:solidFill>
                <a:latin typeface="Malgun Gothic"/>
              </a:defRPr>
            </a:pPr>
            <a:r>
              <a:t>점진적 축적 (Incremental Fold)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399B2"/>
                </a:solidFill>
                <a:latin typeface="Malgun Gothic"/>
              </a:defRPr>
            </a:pPr>
            <a:r>
              <a:t>각 전건 처리 후 envs를 교체하는 누적 패턴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89B4FA"/>
                </a:solidFill>
                <a:latin typeface="Malgun Gothic"/>
              </a:defRPr>
            </a:pPr>
            <a:r>
              <a:t>기법 3: 점진적 축적 (Incremental Fold)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3716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9399B2"/>
                </a:solidFill>
                <a:latin typeface="Consolas"/>
              </a:defRPr>
            </a:pPr>
            <a:r>
              <a:t>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11247120" cy="2286000"/>
          </a:xfrm>
          <a:prstGeom prst="roundRect">
            <a:avLst>
              <a:gd name="adj" fmla="val 5000"/>
            </a:avLst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7899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9B4FA"/>
                </a:solidFill>
                <a:latin typeface="Malgun Gothic"/>
              </a:defRPr>
            </a:pPr>
            <a:r>
              <a:t>Fold/Reduce 패턴</a:t>
            </a:r>
          </a:p>
          <a:p>
            <a:pPr algn="l">
              <a:spcBef>
                <a:spcPts val="600"/>
              </a:spcBef>
              <a:defRPr sz="6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600" b="0">
                <a:solidFill>
                  <a:srgbClr val="CDD6F4"/>
                </a:solidFill>
                <a:latin typeface="Malgun Gothic"/>
              </a:defRPr>
            </a:pPr>
            <a:r>
              <a:t>각 전건(antecedent)을 처리할 때마다 envs가 새로운 값으로 교체됩니다.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CDD6F4"/>
                </a:solidFill>
                <a:latin typeface="Malgun Gothic"/>
              </a:defRPr>
            </a:pPr>
            <a:r>
              <a:t>이것은 함수형 프로그래밍의 fold(reduce)와 동일한 패턴입니다.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500" b="0">
                <a:solidFill>
                  <a:srgbClr val="F9E2AF"/>
                </a:solidFill>
                <a:latin typeface="Consolas"/>
              </a:defRPr>
            </a:pPr>
            <a:r>
              <a:t>envs₀ = 초기값      →  (A와 교차곱)  →  envs₁  →  (B와 교차곱)  →  envs₂  →  ...  →  최종 envs</a:t>
            </a:r>
          </a:p>
          <a:p>
            <a:pPr algn="l">
              <a:spcBef>
                <a:spcPts val="600"/>
              </a:spcBef>
              <a:defRPr sz="6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400" b="0">
                <a:solidFill>
                  <a:srgbClr val="9399B2"/>
                </a:solidFill>
                <a:latin typeface="Malgun Gothic"/>
              </a:defRPr>
            </a:pPr>
            <a:r>
              <a:t>마치 숫자의 곱셈 누적과 같습니다: result = 1 * a * b * c  →  result = {} x A.label x B.label x C.label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749039"/>
            <a:ext cx="5303520" cy="2926080"/>
          </a:xfrm>
          <a:prstGeom prst="roundRect">
            <a:avLst>
              <a:gd name="adj" fmla="val 5000"/>
            </a:avLst>
          </a:prstGeom>
          <a:solidFill>
            <a:srgbClr val="313244"/>
          </a:solidFill>
          <a:ln w="19050">
            <a:solidFill>
              <a:srgbClr val="585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;; weave에서의 점진적 축적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(dolist (node antecedents)     ; 각 전건에 대해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  (setq new-envs nil)          ; 결과 초기화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  (dolist (env envs)           ; 현재 envs와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    (dolist (node-env ...)     ; 노드의 label을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      ...                      ;   결합하여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      (push new-env new-envs)));  new-envs에 축적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  ;; ★ 핵심: envs를 new-envs로 교체 ★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  (setq envs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    (delete nil new-envs ...)) ; envs ← new-envs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3749039"/>
            <a:ext cx="5577840" cy="1371600"/>
          </a:xfrm>
          <a:prstGeom prst="roundRect">
            <a:avLst>
              <a:gd name="adj" fmla="val 5000"/>
            </a:avLst>
          </a:prstGeom>
          <a:solidFill>
            <a:srgbClr val="313244"/>
          </a:solidFill>
          <a:ln w="19050">
            <a:solidFill>
              <a:srgbClr val="585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# 함수형 프로그래밍에서의 동일 패턴 (Python)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from functools import reduce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result = reduce(cross_product, antecedents, [{}])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5394960"/>
            <a:ext cx="5577840" cy="1280160"/>
          </a:xfrm>
          <a:prstGeom prst="roundRect">
            <a:avLst>
              <a:gd name="adj" fmla="val 5000"/>
            </a:avLst>
          </a:prstGeom>
          <a:solidFill>
            <a:srgbClr val="2A2A3C"/>
          </a:solidFill>
          <a:ln w="19050">
            <a:solidFill>
              <a:srgbClr val="A6E3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553212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A6E3A1"/>
                </a:solidFill>
                <a:latin typeface="Malgun Gothic"/>
              </a:defRPr>
            </a:pPr>
            <a:r>
              <a:t>이 패턴의 장점</a:t>
            </a:r>
          </a:p>
          <a:p>
            <a:pPr algn="l">
              <a:spcBef>
                <a:spcPts val="600"/>
              </a:spcBef>
              <a:defRPr sz="4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400" b="0">
                <a:solidFill>
                  <a:srgbClr val="CDD6F4"/>
                </a:solidFill>
                <a:latin typeface="Malgun Gothic"/>
              </a:defRPr>
            </a:pPr>
            <a:r>
              <a:t>각 단계의 중간 결과를 바로 다음 단계의 입력으로 사용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CDD6F4"/>
                </a:solidFill>
                <a:latin typeface="Malgun Gothic"/>
              </a:defRPr>
            </a:pPr>
            <a:r>
              <a:t>전건이 N개여도 동일한 2중 루프 구조로 처리 가능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CDD6F4"/>
                </a:solidFill>
                <a:latin typeface="Malgun Gothic"/>
              </a:defRPr>
            </a:pPr>
            <a:r>
              <a:t>중간 단계에서 환경이 비면 즉시 종료 가능 (Early Return)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A6E3A1"/>
                </a:solidFill>
                <a:latin typeface="Consolas"/>
              </a:defRPr>
            </a:pPr>
            <a:r>
              <a:t>#4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CDD6F4"/>
                </a:solidFill>
                <a:latin typeface="Malgun Gothic"/>
              </a:defRPr>
            </a:pPr>
            <a:r>
              <a:t>다단계 필터링 파이프라인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399B2"/>
                </a:solidFill>
                <a:latin typeface="Malgun Gothic"/>
              </a:defRPr>
            </a:pPr>
            <a:r>
              <a:t>nogood 필터 → subsumption 필터의 2단 검증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89B4FA"/>
                </a:solidFill>
                <a:latin typeface="Malgun Gothic"/>
              </a:defRPr>
            </a:pPr>
            <a:r>
              <a:t>기법 4: 다단계 필터링 파이프라인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3716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9399B2"/>
                </a:solidFill>
                <a:latin typeface="Consolas"/>
              </a:defRPr>
            </a:pPr>
            <a:r>
              <a:t>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11247120" cy="1645920"/>
          </a:xfrm>
          <a:prstGeom prst="roundRect">
            <a:avLst>
              <a:gd name="adj" fmla="val 5000"/>
            </a:avLst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789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9B4FA"/>
                </a:solidFill>
                <a:latin typeface="Malgun Gothic"/>
              </a:defRPr>
            </a:pPr>
            <a:r>
              <a:t>환경 생성 → 검증 파이프라인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600" b="0">
                <a:solidFill>
                  <a:srgbClr val="F9E2AF"/>
                </a:solidFill>
                <a:latin typeface="Consolas"/>
              </a:defRPr>
            </a:pPr>
            <a:r>
              <a:t>union-env(env, node-env)  ──→  nogood 검사  ──→  subsumption 검사  ──→  new-envs에 추가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9399B2"/>
                </a:solidFill>
                <a:latin typeface="Consolas"/>
              </a:defRPr>
            </a:pPr>
            <a:r>
              <a:t>      생성                    1차 필터            2차 필터               최종 축적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108960"/>
            <a:ext cx="5303520" cy="3474720"/>
          </a:xfrm>
          <a:prstGeom prst="roundRect">
            <a:avLst>
              <a:gd name="adj" fmla="val 5000"/>
            </a:avLst>
          </a:prstGeom>
          <a:solidFill>
            <a:srgbClr val="2A2A3C"/>
          </a:solidFill>
          <a:ln w="19050">
            <a:solidFill>
              <a:srgbClr val="F38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24612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F38BA8"/>
                </a:solidFill>
                <a:latin typeface="Malgun Gothic"/>
              </a:defRPr>
            </a:pPr>
            <a:r>
              <a:t>1차 필터: Nogood 검사</a:t>
            </a:r>
          </a:p>
          <a:p>
            <a:pPr algn="l">
              <a:spcBef>
                <a:spcPts val="600"/>
              </a:spcBef>
              <a:defRPr sz="6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400" b="0">
                <a:solidFill>
                  <a:srgbClr val="F9E2AF"/>
                </a:solidFill>
                <a:latin typeface="Consolas"/>
              </a:defRPr>
            </a:pPr>
            <a:r>
              <a:t>(unless (env-nogood? new-env) ...)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600" b="0">
                <a:solidFill>
                  <a:srgbClr val="CDD6F4"/>
                </a:solidFill>
                <a:latin typeface="Malgun Gothic"/>
              </a:defRPr>
            </a:pPr>
            <a:r>
              <a:t>환경이 모순(nogood)인지 확인합니다.</a:t>
            </a:r>
          </a:p>
          <a:p>
            <a:pPr algn="l">
              <a:spcBef>
                <a:spcPts val="600"/>
              </a:spcBef>
              <a:defRPr sz="6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500" b="0">
                <a:solidFill>
                  <a:srgbClr val="CDD6F4"/>
                </a:solidFill>
                <a:latin typeface="Malgun Gothic"/>
              </a:defRPr>
            </a:pPr>
            <a:r>
              <a:t>예: {A1, A2}가 서로 모순이면</a:t>
            </a:r>
          </a:p>
          <a:p>
            <a:pPr algn="l">
              <a:spcBef>
                <a:spcPts val="600"/>
              </a:spcBef>
              <a:defRPr sz="1500" b="0">
                <a:solidFill>
                  <a:srgbClr val="CDD6F4"/>
                </a:solidFill>
                <a:latin typeface="Malgun Gothic"/>
              </a:defRPr>
            </a:pPr>
            <a:r>
              <a:t>  이 환경은 절대 참이 될 수 없으므로 즉시 버립니다.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600" b="1">
                <a:solidFill>
                  <a:srgbClr val="A6E3A1"/>
                </a:solidFill>
                <a:latin typeface="Malgun Gothic"/>
              </a:defRPr>
            </a:pPr>
            <a:r>
              <a:t>특징:</a:t>
            </a:r>
          </a:p>
          <a:p>
            <a:pPr algn="l">
              <a:spcBef>
                <a:spcPts val="600"/>
              </a:spcBef>
              <a:defRPr sz="1500" b="0">
                <a:solidFill>
                  <a:srgbClr val="CDD6F4"/>
                </a:solidFill>
                <a:latin typeface="Malgun Gothic"/>
              </a:defRPr>
            </a:pPr>
            <a:r>
              <a:t>  O(1) 검사 (환경에 nogood 플래그가 있음)</a:t>
            </a:r>
          </a:p>
          <a:p>
            <a:pPr algn="l">
              <a:spcBef>
                <a:spcPts val="600"/>
              </a:spcBef>
              <a:defRPr sz="1500" b="0">
                <a:solidFill>
                  <a:srgbClr val="CDD6F4"/>
                </a:solidFill>
                <a:latin typeface="Malgun Gothic"/>
              </a:defRPr>
            </a:pPr>
            <a:r>
              <a:t>  가장 먼저 실행 → 비용이 큰 subsumption 검사 전에</a:t>
            </a:r>
          </a:p>
          <a:p>
            <a:pPr algn="l">
              <a:spcBef>
                <a:spcPts val="600"/>
              </a:spcBef>
              <a:defRPr sz="1500" b="0">
                <a:solidFill>
                  <a:srgbClr val="CDD6F4"/>
                </a:solidFill>
                <a:latin typeface="Malgun Gothic"/>
              </a:defRPr>
            </a:pPr>
            <a:r>
              <a:t>  불가능한 환경을 빠르게 제거하여 성능 최적화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3108960"/>
            <a:ext cx="5577840" cy="3474720"/>
          </a:xfrm>
          <a:prstGeom prst="roundRect">
            <a:avLst>
              <a:gd name="adj" fmla="val 5000"/>
            </a:avLst>
          </a:prstGeom>
          <a:solidFill>
            <a:srgbClr val="2A2A3C"/>
          </a:solidFill>
          <a:ln w="19050">
            <a:solidFill>
              <a:srgbClr val="A6E3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324612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A6E3A1"/>
                </a:solidFill>
                <a:latin typeface="Malgun Gothic"/>
              </a:defRPr>
            </a:pPr>
            <a:r>
              <a:t>2차 필터: Subsumption 검사</a:t>
            </a:r>
          </a:p>
          <a:p>
            <a:pPr algn="l">
              <a:spcBef>
                <a:spcPts val="600"/>
              </a:spcBef>
              <a:defRPr sz="6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400" b="0">
                <a:solidFill>
                  <a:srgbClr val="F9E2AF"/>
                </a:solidFill>
                <a:latin typeface="Consolas"/>
              </a:defRPr>
            </a:pPr>
            <a:r>
              <a:t>(do ((nnew-envs new-envs ...))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F9E2AF"/>
                </a:solidFill>
                <a:latin typeface="Consolas"/>
              </a:defRPr>
            </a:pPr>
            <a:r>
              <a:t>  (case (compare-env new-env (car nnew-envs))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F9E2AF"/>
                </a:solidFill>
                <a:latin typeface="Consolas"/>
              </a:defRPr>
            </a:pPr>
            <a:r>
              <a:t>    ...))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600" b="0">
                <a:solidFill>
                  <a:srgbClr val="CDD6F4"/>
                </a:solidFill>
                <a:latin typeface="Malgun Gothic"/>
              </a:defRPr>
            </a:pPr>
            <a:r>
              <a:t>이미 축적된 new-envs와 크기 비교:</a:t>
            </a:r>
          </a:p>
          <a:p>
            <a:pPr algn="l">
              <a:spcBef>
                <a:spcPts val="600"/>
              </a:spcBef>
              <a:defRPr sz="6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500" b="0">
                <a:solidFill>
                  <a:srgbClr val="F38BA8"/>
                </a:solidFill>
                <a:latin typeface="Consolas"/>
              </a:defRPr>
            </a:pPr>
            <a:r>
              <a:t>:EQ / :S21 → 새것 &gt;= 기존것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CDD6F4"/>
                </a:solidFill>
                <a:latin typeface="Malgun Gothic"/>
              </a:defRPr>
            </a:pPr>
            <a:r>
              <a:t>  새 환경이 불필요 → 탈락 (return nil)</a:t>
            </a:r>
          </a:p>
          <a:p>
            <a:pPr algn="l">
              <a:spcBef>
                <a:spcPts val="600"/>
              </a:spcBef>
              <a:defRPr sz="4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500" b="0">
                <a:solidFill>
                  <a:srgbClr val="A6E3A1"/>
                </a:solidFill>
                <a:latin typeface="Consolas"/>
              </a:defRPr>
            </a:pPr>
            <a:r>
              <a:t>:S12       → 새것 &lt; 기존것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CDD6F4"/>
                </a:solidFill>
                <a:latin typeface="Malgun Gothic"/>
              </a:defRPr>
            </a:pPr>
            <a:r>
              <a:t>  기존 환경이 불필요 → rplaca nil로 마킹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500" b="1">
                <a:solidFill>
                  <a:srgbClr val="89B4FA"/>
                </a:solidFill>
                <a:latin typeface="Malgun Gothic"/>
              </a:defRPr>
            </a:pPr>
            <a:r>
              <a:t>update-label과 동일한 최소성 유지 패턴!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A6E3A1"/>
                </a:solidFill>
                <a:latin typeface="Consolas"/>
              </a:defRPr>
            </a:pPr>
            <a:r>
              <a:t>#5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CDD6F4"/>
                </a:solidFill>
                <a:latin typeface="Malgun Gothic"/>
              </a:defRPr>
            </a:pPr>
            <a:r>
              <a:t>Early Return (조기 반환)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399B2"/>
                </a:solidFill>
                <a:latin typeface="Malgun Gothic"/>
              </a:defRPr>
            </a:pPr>
            <a:r>
              <a:t>"곱셈에서 0이 나오면 나머지는 계산할 필요 없다"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89B4FA"/>
                </a:solidFill>
                <a:latin typeface="Malgun Gothic"/>
              </a:defRPr>
            </a:pPr>
            <a:r>
              <a:t>기법 5: Early Return (조기 반환)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3716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9399B2"/>
                </a:solidFill>
                <a:latin typeface="Consolas"/>
              </a:defRPr>
            </a:pPr>
            <a:r>
              <a:t>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5669280" cy="5303520"/>
          </a:xfrm>
          <a:prstGeom prst="roundRect">
            <a:avLst>
              <a:gd name="adj" fmla="val 5000"/>
            </a:avLst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9B4FA"/>
                </a:solidFill>
                <a:latin typeface="Malgun Gothic"/>
              </a:defRPr>
            </a:pPr>
            <a:r>
              <a:t>weave에는 2종류의 조기 반환이 있다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800" b="1">
                <a:solidFill>
                  <a:srgbClr val="F38BA8"/>
                </a:solidFill>
                <a:latin typeface="Malgun Gothic"/>
              </a:defRPr>
            </a:pPr>
            <a:r>
              <a:t>Return Type A: return-from weave</a:t>
            </a:r>
          </a:p>
          <a:p>
            <a:pPr algn="l">
              <a:spcBef>
                <a:spcPts val="600"/>
              </a:spcBef>
              <a:defRPr sz="6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400" b="0">
                <a:solidFill>
                  <a:srgbClr val="F9E2AF"/>
                </a:solidFill>
                <a:latin typeface="Consolas"/>
              </a:defRPr>
            </a:pPr>
            <a:r>
              <a:t>(unless envs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F9E2AF"/>
                </a:solidFill>
                <a:latin typeface="Consolas"/>
              </a:defRPr>
            </a:pPr>
            <a:r>
              <a:t>  (return-from weave nil))</a:t>
            </a:r>
          </a:p>
          <a:p>
            <a:pPr algn="l">
              <a:spcBef>
                <a:spcPts val="600"/>
              </a:spcBef>
              <a:defRPr sz="6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500" b="0">
                <a:solidFill>
                  <a:srgbClr val="CDD6F4"/>
                </a:solidFill>
                <a:latin typeface="Malgun Gothic"/>
              </a:defRPr>
            </a:pPr>
            <a:r>
              <a:t>어떤 전건의 교차곱 결과가 빈 리스트이면</a:t>
            </a:r>
          </a:p>
          <a:p>
            <a:pPr algn="l">
              <a:spcBef>
                <a:spcPts val="600"/>
              </a:spcBef>
              <a:defRPr sz="1500" b="0">
                <a:solidFill>
                  <a:srgbClr val="CDD6F4"/>
                </a:solidFill>
                <a:latin typeface="Malgun Gothic"/>
              </a:defRPr>
            </a:pPr>
            <a:r>
              <a:t>전체 weave를 즉시 종료하고 nil 반환합니다.</a:t>
            </a:r>
          </a:p>
          <a:p>
            <a:pPr algn="l">
              <a:spcBef>
                <a:spcPts val="600"/>
              </a:spcBef>
              <a:defRPr sz="6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400" b="0">
                <a:solidFill>
                  <a:srgbClr val="9399B2"/>
                </a:solidFill>
                <a:latin typeface="Malgun Gothic"/>
              </a:defRPr>
            </a:pPr>
            <a:r>
              <a:t>이유: 빈 집합과의 교차곱은 항상 빈 집합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F9E2AF"/>
                </a:solidFill>
                <a:latin typeface="Consolas"/>
              </a:defRPr>
            </a:pPr>
            <a:r>
              <a:t>  {} x Anything = {} (곱셈의 0과 동일)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800" b="1">
                <a:solidFill>
                  <a:srgbClr val="A6E3A1"/>
                </a:solidFill>
                <a:latin typeface="Malgun Gothic"/>
              </a:defRPr>
            </a:pPr>
            <a:r>
              <a:t>Return Type B: return nil (do 루프)</a:t>
            </a:r>
          </a:p>
          <a:p>
            <a:pPr algn="l">
              <a:spcBef>
                <a:spcPts val="600"/>
              </a:spcBef>
              <a:defRPr sz="6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400" b="0">
                <a:solidFill>
                  <a:srgbClr val="F9E2AF"/>
                </a:solidFill>
                <a:latin typeface="Consolas"/>
              </a:defRPr>
            </a:pPr>
            <a:r>
              <a:t>((:EQ :S21) (return nil))</a:t>
            </a:r>
          </a:p>
          <a:p>
            <a:pPr algn="l">
              <a:spcBef>
                <a:spcPts val="600"/>
              </a:spcBef>
              <a:defRPr sz="6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500" b="0">
                <a:solidFill>
                  <a:srgbClr val="CDD6F4"/>
                </a:solidFill>
                <a:latin typeface="Malgun Gothic"/>
              </a:defRPr>
            </a:pPr>
            <a:r>
              <a:t>subsumption 검사에서 새 환경이 기존보다</a:t>
            </a:r>
          </a:p>
          <a:p>
            <a:pPr algn="l">
              <a:spcBef>
                <a:spcPts val="600"/>
              </a:spcBef>
              <a:defRPr sz="1500" b="0">
                <a:solidFill>
                  <a:srgbClr val="CDD6F4"/>
                </a:solidFill>
                <a:latin typeface="Malgun Gothic"/>
              </a:defRPr>
            </a:pPr>
            <a:r>
              <a:t>크거나 같으면 내부 do 루프를 즉시 탈출합니다.</a:t>
            </a:r>
          </a:p>
          <a:p>
            <a:pPr algn="l">
              <a:spcBef>
                <a:spcPts val="600"/>
              </a:spcBef>
              <a:defRPr sz="6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400" b="0">
                <a:solidFill>
                  <a:srgbClr val="9399B2"/>
                </a:solidFill>
                <a:latin typeface="Malgun Gothic"/>
              </a:defRPr>
            </a:pPr>
            <a:r>
              <a:t>이유: 이미 더 작은 환경이 있으므로 불필요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097280"/>
            <a:ext cx="5303520" cy="2560320"/>
          </a:xfrm>
          <a:prstGeom prst="roundRect">
            <a:avLst>
              <a:gd name="adj" fmla="val 5000"/>
            </a:avLst>
          </a:prstGeom>
          <a:solidFill>
            <a:srgbClr val="2A2A3C"/>
          </a:solidFill>
          <a:ln w="19050">
            <a:solidFill>
              <a:srgbClr val="F38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234440"/>
            <a:ext cx="4846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38BA8"/>
                </a:solidFill>
                <a:latin typeface="Malgun Gothic"/>
              </a:defRPr>
            </a:pPr>
            <a:r>
              <a:t>Type A: 빈 결과 → 전체 함수 탈출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400" b="0">
                <a:solidFill>
                  <a:srgbClr val="CDD6F4"/>
                </a:solidFill>
                <a:latin typeface="Consolas"/>
              </a:defRPr>
            </a:pPr>
            <a:r>
              <a:t>A.label = [{A1}]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F38BA8"/>
                </a:solidFill>
                <a:latin typeface="Consolas"/>
              </a:defRPr>
            </a:pPr>
            <a:r>
              <a:t>B.label = []          ← label이 비어있음!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CDD6F4"/>
                </a:solidFill>
                <a:latin typeface="Consolas"/>
              </a:defRPr>
            </a:pPr>
            <a:r>
              <a:t>C.label = [{A4}]</a:t>
            </a:r>
          </a:p>
          <a:p>
            <a:pPr algn="l">
              <a:spcBef>
                <a:spcPts val="600"/>
              </a:spcBef>
              <a:defRPr sz="6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400" b="0">
                <a:solidFill>
                  <a:srgbClr val="F9E2AF"/>
                </a:solidFill>
                <a:latin typeface="Consolas"/>
              </a:defRPr>
            </a:pPr>
            <a:r>
              <a:t>A 처리: envs = [{A1}]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F38BA8"/>
                </a:solidFill>
                <a:latin typeface="Consolas"/>
              </a:defRPr>
            </a:pPr>
            <a:r>
              <a:t>B 처리: {A1} x [] = []  → envs = nil!</a:t>
            </a:r>
          </a:p>
          <a:p>
            <a:pPr algn="l">
              <a:spcBef>
                <a:spcPts val="600"/>
              </a:spcBef>
              <a:defRPr sz="1400" b="1">
                <a:solidFill>
                  <a:srgbClr val="F38BA8"/>
                </a:solidFill>
                <a:latin typeface="Consolas"/>
              </a:defRPr>
            </a:pPr>
            <a:r>
              <a:t>  → return-from weave nil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9399B2"/>
                </a:solidFill>
                <a:latin typeface="Malgun Gothic"/>
              </a:defRPr>
            </a:pPr>
            <a:r>
              <a:t>C는 처리하지 않음 (불필요)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3931920"/>
            <a:ext cx="5303520" cy="2468880"/>
          </a:xfrm>
          <a:prstGeom prst="roundRect">
            <a:avLst>
              <a:gd name="adj" fmla="val 5000"/>
            </a:avLst>
          </a:prstGeom>
          <a:solidFill>
            <a:srgbClr val="2A2A3C"/>
          </a:solidFill>
          <a:ln w="19050">
            <a:solidFill>
              <a:srgbClr val="A6E3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4069080"/>
            <a:ext cx="48463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A6E3A1"/>
                </a:solidFill>
                <a:latin typeface="Malgun Gothic"/>
              </a:defRPr>
            </a:pPr>
            <a:r>
              <a:t>Type B: 상위집합 → 내부 루프 탈출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400" b="0">
                <a:solidFill>
                  <a:srgbClr val="CDD6F4"/>
                </a:solidFill>
                <a:latin typeface="Consolas"/>
              </a:defRPr>
            </a:pPr>
            <a:r>
              <a:t>new-envs = [{A1}]    (이미 축적됨)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CDD6F4"/>
                </a:solidFill>
                <a:latin typeface="Consolas"/>
              </a:defRPr>
            </a:pPr>
            <a:r>
              <a:t>new-env  = {A1,A2}   (새로 생성됨)</a:t>
            </a:r>
          </a:p>
          <a:p>
            <a:pPr algn="l">
              <a:spcBef>
                <a:spcPts val="600"/>
              </a:spcBef>
              <a:defRPr sz="6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400" b="0">
                <a:solidFill>
                  <a:srgbClr val="F9E2AF"/>
                </a:solidFill>
                <a:latin typeface="Consolas"/>
              </a:defRPr>
            </a:pPr>
            <a:r>
              <a:t>compare: {A1,A2} vs {A1} → :S21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A6E3A1"/>
                </a:solidFill>
                <a:latin typeface="Consolas"/>
              </a:defRPr>
            </a:pPr>
            <a:r>
              <a:t>  {A1,A2} ⊇ {A1} → 새것이 더 큼 → 탈락!</a:t>
            </a:r>
          </a:p>
          <a:p>
            <a:pPr algn="l">
              <a:spcBef>
                <a:spcPts val="600"/>
              </a:spcBef>
              <a:defRPr sz="1400" b="1">
                <a:solidFill>
                  <a:srgbClr val="A6E3A1"/>
                </a:solidFill>
                <a:latin typeface="Consolas"/>
              </a:defRPr>
            </a:pPr>
            <a:r>
              <a:t>  → (return nil) → do 루프만 탈출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9399B2"/>
                </a:solidFill>
                <a:latin typeface="Malgun Gothic"/>
              </a:defRPr>
            </a:pPr>
            <a:r>
              <a:t>  나머지 node-env와의 결합은 계속됨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A6E3A1"/>
                </a:solidFill>
                <a:latin typeface="Consolas"/>
              </a:defRPr>
            </a:pPr>
            <a:r>
              <a:t>#6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CDD6F4"/>
                </a:solidFill>
                <a:latin typeface="Malgun Gothic"/>
              </a:defRPr>
            </a:pPr>
            <a:r>
              <a:t>Lazy Deletion + rplaca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399B2"/>
                </a:solidFill>
                <a:latin typeface="Malgun Gothic"/>
              </a:defRPr>
            </a:pPr>
            <a:r>
              <a:t>순회 중 마킹, 순회 후 정리하는 패턴 (update-label과 공유)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89B4FA"/>
                </a:solidFill>
                <a:latin typeface="Malgun Gothic"/>
              </a:defRPr>
            </a:pPr>
            <a:r>
              <a:t>기법 6: Lazy Deletion + rplaca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3716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9399B2"/>
                </a:solidFill>
                <a:latin typeface="Consolas"/>
              </a:defRPr>
            </a:pPr>
            <a:r>
              <a:t>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11247120" cy="2011680"/>
          </a:xfrm>
          <a:prstGeom prst="roundRect">
            <a:avLst>
              <a:gd name="adj" fmla="val 5000"/>
            </a:avLst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7899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9B4FA"/>
                </a:solidFill>
                <a:latin typeface="Malgun Gothic"/>
              </a:defRPr>
            </a:pPr>
            <a:r>
              <a:t>update-label과 동일한 Mark-Sweep 패턴</a:t>
            </a:r>
          </a:p>
          <a:p>
            <a:pPr algn="l">
              <a:spcBef>
                <a:spcPts val="600"/>
              </a:spcBef>
              <a:defRPr sz="6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600" b="0">
                <a:solidFill>
                  <a:srgbClr val="CDD6F4"/>
                </a:solidFill>
                <a:latin typeface="Malgun Gothic"/>
              </a:defRPr>
            </a:pPr>
            <a:r>
              <a:t>weave와 update-label은 동일한 Lazy Deletion 기법을 공유합니다.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CDD6F4"/>
                </a:solidFill>
                <a:latin typeface="Malgun Gothic"/>
              </a:defRPr>
            </a:pPr>
            <a:r>
              <a:t>순회 중인 리스트를 직접 수정하면 순회가 깨질 수 있기 때문에,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CDD6F4"/>
                </a:solidFill>
                <a:latin typeface="Malgun Gothic"/>
              </a:defRPr>
            </a:pPr>
            <a:r>
              <a:t>먼저 nil로 마킹(mark)하고 순회 후 한꺼번에 정리(sweep)합니다.</a:t>
            </a:r>
          </a:p>
          <a:p>
            <a:pPr algn="l">
              <a:spcBef>
                <a:spcPts val="600"/>
              </a:spcBef>
              <a:defRPr sz="6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500" b="0">
                <a:solidFill>
                  <a:srgbClr val="9399B2"/>
                </a:solidFill>
                <a:latin typeface="Malgun Gothic"/>
              </a:defRPr>
            </a:pPr>
            <a:r>
              <a:t>이 패턴은 BPS 코드베이스 전체에서 반복적으로 사용되는 관용구(idiom)입니다.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474720"/>
            <a:ext cx="5303520" cy="3108960"/>
          </a:xfrm>
          <a:prstGeom prst="roundRect">
            <a:avLst>
              <a:gd name="adj" fmla="val 5000"/>
            </a:avLst>
          </a:prstGeom>
          <a:solidFill>
            <a:srgbClr val="2A2A3C"/>
          </a:solidFill>
          <a:ln w="19050">
            <a:solidFill>
              <a:srgbClr val="CBA6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611880"/>
            <a:ext cx="48463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BA6F7"/>
                </a:solidFill>
                <a:latin typeface="Malgun Gothic"/>
              </a:defRPr>
            </a:pPr>
            <a:r>
              <a:t>weave에서의 rplaca + delete</a:t>
            </a:r>
          </a:p>
          <a:p>
            <a:pPr algn="l">
              <a:spcBef>
                <a:spcPts val="600"/>
              </a:spcBef>
              <a:defRPr sz="6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600" b="1">
                <a:solidFill>
                  <a:srgbClr val="F38BA8"/>
                </a:solidFill>
                <a:latin typeface="Malgun Gothic"/>
              </a:defRPr>
            </a:pPr>
            <a:r>
              <a:t>Mark: 기존 환경 제거 표시</a:t>
            </a:r>
          </a:p>
          <a:p>
            <a:pPr algn="l">
              <a:spcBef>
                <a:spcPts val="600"/>
              </a:spcBef>
              <a:defRPr sz="4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400" b="0">
                <a:solidFill>
                  <a:srgbClr val="F9E2AF"/>
                </a:solidFill>
                <a:latin typeface="Consolas"/>
              </a:defRPr>
            </a:pPr>
            <a:r>
              <a:t>(:S12 (rplaca nnew-envs nil))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CDD6F4"/>
                </a:solidFill>
                <a:latin typeface="Malgun Gothic"/>
              </a:defRPr>
            </a:pPr>
            <a:r>
              <a:t>  → new-envs 리스트 내의 항목을 nil로 마킹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CDD6F4"/>
                </a:solidFill>
                <a:latin typeface="Malgun Gothic"/>
              </a:defRPr>
            </a:pPr>
            <a:r>
              <a:t>  → 더 작은 환경이 발견되면 기존 큰 것 표시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600" b="1">
                <a:solidFill>
                  <a:srgbClr val="A6E3A1"/>
                </a:solidFill>
                <a:latin typeface="Malgun Gothic"/>
              </a:defRPr>
            </a:pPr>
            <a:r>
              <a:t>Sweep: nil 항목 일괄 제거</a:t>
            </a:r>
          </a:p>
          <a:p>
            <a:pPr algn="l">
              <a:spcBef>
                <a:spcPts val="600"/>
              </a:spcBef>
              <a:defRPr sz="4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400" b="0">
                <a:solidFill>
                  <a:srgbClr val="F9E2AF"/>
                </a:solidFill>
                <a:latin typeface="Consolas"/>
              </a:defRPr>
            </a:pPr>
            <a:r>
              <a:t>(setq envs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F9E2AF"/>
                </a:solidFill>
                <a:latin typeface="Consolas"/>
              </a:defRPr>
            </a:pPr>
            <a:r>
              <a:t>  (delete nil new-envs :TEST #'eq))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CDD6F4"/>
                </a:solidFill>
                <a:latin typeface="Malgun Gothic"/>
              </a:defRPr>
            </a:pPr>
            <a:r>
              <a:t>  → 각 전건 처리 후 nil을 한꺼번에 제거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CDD6F4"/>
                </a:solidFill>
                <a:latin typeface="Malgun Gothic"/>
              </a:defRPr>
            </a:pPr>
            <a:r>
              <a:t>  → 깨끗한 envs를 다음 전건 처리에 전달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3474720"/>
            <a:ext cx="5577840" cy="3108960"/>
          </a:xfrm>
          <a:prstGeom prst="roundRect">
            <a:avLst>
              <a:gd name="adj" fmla="val 5000"/>
            </a:avLst>
          </a:prstGeom>
          <a:solidFill>
            <a:srgbClr val="2A2A3C"/>
          </a:solidFill>
          <a:ln w="19050">
            <a:solidFill>
              <a:srgbClr val="F9E2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3611880"/>
            <a:ext cx="50292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9E2AF"/>
                </a:solidFill>
                <a:latin typeface="Malgun Gothic"/>
              </a:defRPr>
            </a:pPr>
            <a:r>
              <a:t>Sentinel Skip 패턴</a:t>
            </a:r>
          </a:p>
          <a:p>
            <a:pPr algn="l">
              <a:spcBef>
                <a:spcPts val="600"/>
              </a:spcBef>
              <a:defRPr sz="6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600" b="0">
                <a:solidFill>
                  <a:srgbClr val="CDD6F4"/>
                </a:solidFill>
                <a:latin typeface="Malgun Gothic"/>
              </a:defRPr>
            </a:pPr>
            <a:r>
              <a:t>nil로 마킹된 항목을 건너뛰는 가드 코드:</a:t>
            </a:r>
          </a:p>
          <a:p>
            <a:pPr algn="l">
              <a:spcBef>
                <a:spcPts val="600"/>
              </a:spcBef>
              <a:defRPr sz="6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400" b="0">
                <a:solidFill>
                  <a:srgbClr val="F9E2AF"/>
                </a:solidFill>
                <a:latin typeface="Consolas"/>
              </a:defRPr>
            </a:pPr>
            <a:r>
              <a:t>(dolist (env envs)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F9E2AF"/>
                </a:solidFill>
                <a:latin typeface="Consolas"/>
              </a:defRPr>
            </a:pPr>
            <a:r>
              <a:t>  (if env          ; nil이면 건너뜀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F9E2AF"/>
                </a:solidFill>
                <a:latin typeface="Consolas"/>
              </a:defRPr>
            </a:pPr>
            <a:r>
              <a:t>    (dolist ...))</a:t>
            </a:r>
          </a:p>
          <a:p>
            <a:pPr algn="l">
              <a:spcBef>
                <a:spcPts val="600"/>
              </a:spcBef>
              <a:defRPr sz="6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400" b="0">
                <a:solidFill>
                  <a:srgbClr val="F9E2AF"/>
                </a:solidFill>
                <a:latin typeface="Consolas"/>
              </a:defRPr>
            </a:pPr>
            <a:r>
              <a:t>(when (car nnew-envs)  ; nil이면 건너뜀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F9E2AF"/>
                </a:solidFill>
                <a:latin typeface="Consolas"/>
              </a:defRPr>
            </a:pPr>
            <a:r>
              <a:t>  (case ...))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500" b="0">
                <a:solidFill>
                  <a:srgbClr val="CDD6F4"/>
                </a:solidFill>
                <a:latin typeface="Malgun Gothic"/>
              </a:defRPr>
            </a:pPr>
            <a:r>
              <a:t>delete로 정리하기 전에도 nil 항목이</a:t>
            </a:r>
          </a:p>
          <a:p>
            <a:pPr algn="l">
              <a:spcBef>
                <a:spcPts val="600"/>
              </a:spcBef>
              <a:defRPr sz="1500" b="0">
                <a:solidFill>
                  <a:srgbClr val="CDD6F4"/>
                </a:solidFill>
                <a:latin typeface="Malgun Gothic"/>
              </a:defRPr>
            </a:pPr>
            <a:r>
              <a:t>순회에 영향을 주지 않도록 보호합니다.</a:t>
            </a:r>
          </a:p>
          <a:p>
            <a:pPr algn="l">
              <a:spcBef>
                <a:spcPts val="600"/>
              </a:spcBef>
              <a:defRPr sz="6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400" b="0">
                <a:solidFill>
                  <a:srgbClr val="9399B2"/>
                </a:solidFill>
                <a:latin typeface="Malgun Gothic"/>
              </a:defRPr>
            </a:pPr>
            <a:r>
              <a:t>이것은 lazy deletion의 필수 동반 패턴입니다.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89B4FA"/>
                </a:solidFill>
                <a:latin typeface="Malgun Gothic"/>
              </a:defRPr>
            </a:pPr>
            <a:r>
              <a:t>비교: update-label vs weave 기법 공유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3716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9399B2"/>
                </a:solidFill>
                <a:latin typeface="Consolas"/>
              </a:defRPr>
            </a:pPr>
            <a:r>
              <a:t>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11247120" cy="5303520"/>
          </a:xfrm>
          <a:prstGeom prst="roundRect">
            <a:avLst>
              <a:gd name="adj" fmla="val 5000"/>
            </a:avLst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9B4FA"/>
                </a:solidFill>
                <a:latin typeface="Malgun Gothic"/>
              </a:defRPr>
            </a:pPr>
            <a:r>
              <a:t>두 함수의 기법 비교표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600" b="1">
                <a:solidFill>
                  <a:srgbClr val="A6E3A1"/>
                </a:solidFill>
                <a:latin typeface="Consolas"/>
              </a:defRPr>
            </a:pPr>
            <a:r>
              <a:t>  프로그래밍 기법                update-label       weave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9399B2"/>
                </a:solidFill>
                <a:latin typeface="Consolas"/>
              </a:defRPr>
            </a:pPr>
            <a:r>
              <a:t>  ──────────────────────────────────────────────────────────────</a:t>
            </a:r>
          </a:p>
          <a:p>
            <a:pPr algn="l">
              <a:spcBef>
                <a:spcPts val="600"/>
              </a:spcBef>
              <a:defRPr sz="1500" b="0">
                <a:solidFill>
                  <a:srgbClr val="CDD6F4"/>
                </a:solidFill>
                <a:latin typeface="Consolas"/>
              </a:defRPr>
            </a:pPr>
            <a:r>
              <a:t>  Defensive Copy (방어적 복사)       X               O (copy-list)</a:t>
            </a:r>
          </a:p>
          <a:p>
            <a:pPr algn="l">
              <a:spcBef>
                <a:spcPts val="600"/>
              </a:spcBef>
              <a:defRPr sz="1500" b="0">
                <a:solidFill>
                  <a:srgbClr val="CDD6F4"/>
                </a:solidFill>
                <a:latin typeface="Consolas"/>
              </a:defRPr>
            </a:pPr>
            <a:r>
              <a:t>  rplaca (파괴적 갱신)               O               O</a:t>
            </a:r>
          </a:p>
          <a:p>
            <a:pPr algn="l">
              <a:spcBef>
                <a:spcPts val="600"/>
              </a:spcBef>
              <a:defRPr sz="1500" b="0">
                <a:solidFill>
                  <a:srgbClr val="CDD6F4"/>
                </a:solidFill>
                <a:latin typeface="Consolas"/>
              </a:defRPr>
            </a:pPr>
            <a:r>
              <a:t>  Lazy Deletion (지연 삭제)          O               O</a:t>
            </a:r>
          </a:p>
          <a:p>
            <a:pPr algn="l">
              <a:spcBef>
                <a:spcPts val="600"/>
              </a:spcBef>
              <a:defRPr sz="1500" b="0">
                <a:solidFill>
                  <a:srgbClr val="CDD6F4"/>
                </a:solidFill>
                <a:latin typeface="Consolas"/>
              </a:defRPr>
            </a:pPr>
            <a:r>
              <a:t>  Subsumption (최소성 검사)          O               O</a:t>
            </a:r>
          </a:p>
          <a:p>
            <a:pPr algn="l">
              <a:spcBef>
                <a:spcPts val="600"/>
              </a:spcBef>
              <a:defRPr sz="1500" b="0">
                <a:solidFill>
                  <a:srgbClr val="CDD6F4"/>
                </a:solidFill>
                <a:latin typeface="Consolas"/>
              </a:defRPr>
            </a:pPr>
            <a:r>
              <a:t>  중첩 루프 탐색                     2중 (do-do)     3중 (dolist x3) + do</a:t>
            </a:r>
          </a:p>
          <a:p>
            <a:pPr algn="l">
              <a:spcBef>
                <a:spcPts val="600"/>
              </a:spcBef>
              <a:defRPr sz="1500" b="0">
                <a:solidFill>
                  <a:srgbClr val="CDD6F4"/>
                </a:solidFill>
                <a:latin typeface="Consolas"/>
              </a:defRPr>
            </a:pPr>
            <a:r>
              <a:t>  역참조 관리 (env-nodes)            O               X</a:t>
            </a:r>
          </a:p>
          <a:p>
            <a:pPr algn="l">
              <a:spcBef>
                <a:spcPts val="600"/>
              </a:spcBef>
              <a:defRPr sz="1500" b="0">
                <a:solidFill>
                  <a:srgbClr val="CDD6F4"/>
                </a:solidFill>
                <a:latin typeface="Consolas"/>
              </a:defRPr>
            </a:pPr>
            <a:r>
              <a:t>  점진적 축적 (Fold)                 X               O (envs 교체)</a:t>
            </a:r>
          </a:p>
          <a:p>
            <a:pPr algn="l">
              <a:spcBef>
                <a:spcPts val="600"/>
              </a:spcBef>
              <a:defRPr sz="1500" b="0">
                <a:solidFill>
                  <a:srgbClr val="CDD6F4"/>
                </a:solidFill>
                <a:latin typeface="Consolas"/>
              </a:defRPr>
            </a:pPr>
            <a:r>
              <a:t>  다단계 필터링                      X               O (nogood + subsumption)</a:t>
            </a:r>
          </a:p>
          <a:p>
            <a:pPr algn="l">
              <a:spcBef>
                <a:spcPts val="600"/>
              </a:spcBef>
              <a:defRPr sz="1500" b="0">
                <a:solidFill>
                  <a:srgbClr val="CDD6F4"/>
                </a:solidFill>
                <a:latin typeface="Consolas"/>
              </a:defRPr>
            </a:pPr>
            <a:r>
              <a:t>  반환값 흐름 제어                   O               O (nil → 전파 중단)</a:t>
            </a:r>
          </a:p>
          <a:p>
            <a:pPr algn="l">
              <a:spcBef>
                <a:spcPts val="600"/>
              </a:spcBef>
              <a:defRPr sz="1500" b="0">
                <a:solidFill>
                  <a:srgbClr val="CDD6F4"/>
                </a:solidFill>
                <a:latin typeface="Consolas"/>
              </a:defRPr>
            </a:pPr>
            <a:r>
              <a:t>  return-from (함수 조기 반환)       X               O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9399B2"/>
                </a:solidFill>
                <a:latin typeface="Consolas"/>
              </a:defRPr>
            </a:pPr>
            <a:r>
              <a:t>  ──────────────────────────────────────────────────────────────</a:t>
            </a:r>
          </a:p>
          <a:p>
            <a:pPr algn="l">
              <a:spcBef>
                <a:spcPts val="600"/>
              </a:spcBef>
              <a:defRPr sz="10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600" b="0">
                <a:solidFill>
                  <a:srgbClr val="A6E3A1"/>
                </a:solidFill>
                <a:latin typeface="Malgun Gothic"/>
              </a:defRPr>
            </a:pPr>
            <a:r>
              <a:t>  공유 기법: rplaca, Lazy Deletion, Subsumption → ATMS 코드베이스의 핵심 관용구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CBA6F7"/>
                </a:solidFill>
                <a:latin typeface="Malgun Gothic"/>
              </a:defRPr>
            </a:pPr>
            <a:r>
              <a:t>  고유 기법: Defensive Copy, 3중 루프 교차곱, 점진적 축적, 다단계 필터링 → weave의 특수성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89B4FA"/>
                </a:solidFill>
                <a:latin typeface="Malgun Gothic"/>
              </a:defRPr>
            </a:pPr>
            <a:r>
              <a:t>종합: 기법들의 상호 관계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3716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9399B2"/>
                </a:solidFill>
                <a:latin typeface="Consolas"/>
              </a:defRPr>
            </a:pPr>
            <a:r>
              <a:t>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11247120" cy="5303520"/>
          </a:xfrm>
          <a:prstGeom prst="roundRect">
            <a:avLst>
              <a:gd name="adj" fmla="val 5000"/>
            </a:avLst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9B4FA"/>
                </a:solidFill>
                <a:latin typeface="Malgun Gothic"/>
              </a:defRPr>
            </a:pPr>
            <a:r>
              <a:t>weave에 적용된 6가지 기법의 관계도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400" b="0">
                <a:solidFill>
                  <a:srgbClr val="9399B2"/>
                </a:solidFill>
                <a:latin typeface="Consolas"/>
              </a:defRPr>
            </a:pPr>
            <a:r>
              <a:t>    ┌────────────────────────────────────────────────────────────────┐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A6E3A1"/>
                </a:solidFill>
                <a:latin typeface="Consolas"/>
              </a:defRPr>
            </a:pPr>
            <a:r>
              <a:t>    │  #1 Defensive Copy: 원본 envs를 보호 (copy-list)               │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9399B2"/>
                </a:solidFill>
                <a:latin typeface="Consolas"/>
              </a:defRPr>
            </a:pPr>
            <a:r>
              <a:t>    └─────────────────────────┬──────────────────────────────────────┘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9399B2"/>
                </a:solidFill>
                <a:latin typeface="Consolas"/>
              </a:defRPr>
            </a:pPr>
            <a:r>
              <a:t>                              ▼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9399B2"/>
                </a:solidFill>
                <a:latin typeface="Consolas"/>
              </a:defRPr>
            </a:pPr>
            <a:r>
              <a:t>    ┌────────────────────────────────────────────────────────────────┐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CBA6F7"/>
                </a:solidFill>
                <a:latin typeface="Consolas"/>
              </a:defRPr>
            </a:pPr>
            <a:r>
              <a:t>    │  #2 3중 루프: 전건 x envs x label → 모든 조합 생성            │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9399B2"/>
                </a:solidFill>
                <a:latin typeface="Consolas"/>
              </a:defRPr>
            </a:pPr>
            <a:r>
              <a:t>    │       │                                                        │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9399B2"/>
                </a:solidFill>
                <a:latin typeface="Consolas"/>
              </a:defRPr>
            </a:pPr>
            <a:r>
              <a:t>    │       ▼                                                        │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F38BA8"/>
                </a:solidFill>
                <a:latin typeface="Consolas"/>
              </a:defRPr>
            </a:pPr>
            <a:r>
              <a:t>    │  #4 다단계 필터: nogood 필터 → subsumption 필터                │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9399B2"/>
                </a:solidFill>
                <a:latin typeface="Consolas"/>
              </a:defRPr>
            </a:pPr>
            <a:r>
              <a:t>    │       │                  │                                     │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F9E2AF"/>
                </a:solidFill>
                <a:latin typeface="Consolas"/>
              </a:defRPr>
            </a:pPr>
            <a:r>
              <a:t>    │       │            #6 rplaca + Lazy Delete: 마킹 후 일괄 정리  │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9399B2"/>
                </a:solidFill>
                <a:latin typeface="Consolas"/>
              </a:defRPr>
            </a:pPr>
            <a:r>
              <a:t>    │       │                  │                                     │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9399B2"/>
                </a:solidFill>
                <a:latin typeface="Consolas"/>
              </a:defRPr>
            </a:pPr>
            <a:r>
              <a:t>    │       ▼                  ▼                                     │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89B4FA"/>
                </a:solidFill>
                <a:latin typeface="Consolas"/>
              </a:defRPr>
            </a:pPr>
            <a:r>
              <a:t>    │  #3 점진적 축적: envs ← new-envs (각 전건 처리 후 교체)        │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9399B2"/>
                </a:solidFill>
                <a:latin typeface="Consolas"/>
              </a:defRPr>
            </a:pPr>
            <a:r>
              <a:t>    └─────────────────────────┬──────────────────────────────────────┘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9399B2"/>
                </a:solidFill>
                <a:latin typeface="Consolas"/>
              </a:defRPr>
            </a:pPr>
            <a:r>
              <a:t>                              ▼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9399B2"/>
                </a:solidFill>
                <a:latin typeface="Consolas"/>
              </a:defRPr>
            </a:pPr>
            <a:r>
              <a:t>    ┌────────────────────────────────────────────────────────────────┐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F38BA8"/>
                </a:solidFill>
                <a:latin typeface="Consolas"/>
              </a:defRPr>
            </a:pPr>
            <a:r>
              <a:t>    │  #5 Early Return: envs가 비면 즉시 nil 반환 (곱셈의 0 원리)   │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9399B2"/>
                </a:solidFill>
                <a:latin typeface="Consolas"/>
              </a:defRPr>
            </a:pPr>
            <a:r>
              <a:t>    └────────────────────────────────────────────────────────────────┘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89B4FA"/>
                </a:solidFill>
                <a:latin typeface="Malgun Gothic"/>
              </a:defRPr>
            </a:pPr>
            <a:r>
              <a:t>핵심 요약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3716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9399B2"/>
                </a:solidFill>
                <a:latin typeface="Consolas"/>
              </a:defRPr>
            </a:pPr>
            <a:r>
              <a:t>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11247120" cy="777240"/>
          </a:xfrm>
          <a:prstGeom prst="roundRect">
            <a:avLst>
              <a:gd name="adj" fmla="val 5000"/>
            </a:avLst>
          </a:prstGeom>
          <a:solidFill>
            <a:srgbClr val="2A2A3C"/>
          </a:solidFill>
          <a:ln w="19050">
            <a:solidFill>
              <a:srgbClr val="A6E3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17043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A6E3A1"/>
                </a:solidFill>
                <a:latin typeface="Consolas"/>
              </a:defRPr>
            </a:pPr>
            <a:r>
              <a:t>#1 Defensive Copy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1207008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DD6F4"/>
                </a:solidFill>
                <a:latin typeface="Malgun Gothic"/>
              </a:defRPr>
            </a:pPr>
            <a:r>
              <a:t>copy-list로 호출자의 데이터 보호 → 예기치 않은 부작용 방지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965960"/>
            <a:ext cx="11247120" cy="777240"/>
          </a:xfrm>
          <a:prstGeom prst="roundRect">
            <a:avLst>
              <a:gd name="adj" fmla="val 5000"/>
            </a:avLst>
          </a:prstGeom>
          <a:solidFill>
            <a:srgbClr val="2A2A3C"/>
          </a:solidFill>
          <a:ln w="19050">
            <a:solidFill>
              <a:srgbClr val="CBA6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03911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CBA6F7"/>
                </a:solidFill>
                <a:latin typeface="Consolas"/>
              </a:defRPr>
            </a:pPr>
            <a:r>
              <a:t>#2 3중 루프 교차곱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2075688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DD6F4"/>
                </a:solidFill>
                <a:latin typeface="Malgun Gothic"/>
              </a:defRPr>
            </a:pPr>
            <a:r>
              <a:t>dolist x3 구조로 Cartesian Product + union 조합 생성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834640"/>
            <a:ext cx="11247120" cy="777240"/>
          </a:xfrm>
          <a:prstGeom prst="roundRect">
            <a:avLst>
              <a:gd name="adj" fmla="val 5000"/>
            </a:avLst>
          </a:prstGeom>
          <a:solidFill>
            <a:srgbClr val="2A2A3C"/>
          </a:solidFill>
          <a:ln w="19050">
            <a:solidFill>
              <a:srgbClr val="89B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90779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89B4FA"/>
                </a:solidFill>
                <a:latin typeface="Consolas"/>
              </a:defRPr>
            </a:pPr>
            <a:r>
              <a:t>#3 점진적 축적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2944368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DD6F4"/>
                </a:solidFill>
                <a:latin typeface="Malgun Gothic"/>
              </a:defRPr>
            </a:pPr>
            <a:r>
              <a:t>Fold/Reduce 패턴: 각 전건 처리 후 envs를 교체하며 누적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703320"/>
            <a:ext cx="11247120" cy="777240"/>
          </a:xfrm>
          <a:prstGeom prst="roundRect">
            <a:avLst>
              <a:gd name="adj" fmla="val 5000"/>
            </a:avLst>
          </a:prstGeom>
          <a:solidFill>
            <a:srgbClr val="2A2A3C"/>
          </a:solidFill>
          <a:ln w="19050">
            <a:solidFill>
              <a:srgbClr val="F38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77647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38BA8"/>
                </a:solidFill>
                <a:latin typeface="Consolas"/>
              </a:defRPr>
            </a:pPr>
            <a:r>
              <a:t>#4 다단계 필터링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0" y="3813048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DD6F4"/>
                </a:solidFill>
                <a:latin typeface="Malgun Gothic"/>
              </a:defRPr>
            </a:pPr>
            <a:r>
              <a:t>nogood(O(1)) → subsumption(비교) 순서로 비용 최적화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5000"/>
            </a:avLst>
          </a:prstGeom>
          <a:solidFill>
            <a:srgbClr val="2A2A3C"/>
          </a:solidFill>
          <a:ln w="19050">
            <a:solidFill>
              <a:srgbClr val="F38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64515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38BA8"/>
                </a:solidFill>
                <a:latin typeface="Consolas"/>
              </a:defRPr>
            </a:pPr>
            <a:r>
              <a:t>#5 Early Return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6240" y="4681728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DD6F4"/>
                </a:solidFill>
                <a:latin typeface="Malgun Gothic"/>
              </a:defRPr>
            </a:pPr>
            <a:r>
              <a:t>빈 결과 즉시 탈출 (곱셈의 0 원리) + 상위집합 탈락 즉시 탈출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5440680"/>
            <a:ext cx="11247120" cy="777240"/>
          </a:xfrm>
          <a:prstGeom prst="roundRect">
            <a:avLst>
              <a:gd name="adj" fmla="val 5000"/>
            </a:avLst>
          </a:prstGeom>
          <a:solidFill>
            <a:srgbClr val="2A2A3C"/>
          </a:solidFill>
          <a:ln w="19050">
            <a:solidFill>
              <a:srgbClr val="F9E2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51383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9E2AF"/>
                </a:solidFill>
                <a:latin typeface="Consolas"/>
              </a:defRPr>
            </a:pPr>
            <a:r>
              <a:t>#6 Lazy Deletion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06240" y="5550408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DD6F4"/>
                </a:solidFill>
                <a:latin typeface="Malgun Gothic"/>
              </a:defRPr>
            </a:pPr>
            <a:r>
              <a:t>rplaca nil 마킹 + delete nil 정리 → 순회 안전한 삭제 패턴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66928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9399B2"/>
                </a:solidFill>
                <a:latin typeface="Malgun Gothic"/>
              </a:defRPr>
            </a:pPr>
            <a:r>
              <a:t>weave는 update-label의 기법(rplaca, lazy deletion, subsumption)을 재사용하면서,</a:t>
            </a:r>
          </a:p>
          <a:p>
            <a:pPr algn="ctr">
              <a:spcBef>
                <a:spcPts val="600"/>
              </a:spcBef>
              <a:defRPr sz="1500" b="0">
                <a:solidFill>
                  <a:srgbClr val="9399B2"/>
                </a:solidFill>
                <a:latin typeface="Malgun Gothic"/>
              </a:defRPr>
            </a:pPr>
            <a:r>
              <a:t>교차곱(cross-product)이라는 새로운 차원의 알고리즘을 그 위에 구축합니다.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