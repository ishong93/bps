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9B4FA"/>
                </a:solidFill>
                <a:latin typeface="Malgun Gothic"/>
              </a:defRPr>
            </a:pPr>
            <a:r>
              <a:t>weave vs update-label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99B2"/>
                </a:solidFill>
                <a:latin typeface="Malgun Gothic"/>
              </a:defRPr>
            </a:pPr>
            <a:r>
              <a:t>ATMS 핵심 함수의 기능적 차이와 공통점 비교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108960"/>
            <a:ext cx="393192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698480" cy="576072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789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69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한눈에 보는 비교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533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역할, 입출력, 수학적 의미의 대비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73352"/>
            <a:ext cx="10698480" cy="576072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007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호출 흐름에서의 위치   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75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propagate → weave → update → update-label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95144"/>
            <a:ext cx="10698480" cy="576072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22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134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기능적 차이 1: 역할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59689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교차곱 생성 vs label 병합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16936"/>
            <a:ext cx="10698480" cy="576072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443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35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기능적 차이 2: 비교 대상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186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같은 라운드 결과 vs 기존 label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38728"/>
            <a:ext cx="10698480" cy="576072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570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기능적 차이 3: 부수 효과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40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순수 계산 vs 상태 변형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160520"/>
            <a:ext cx="10698480" cy="576072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87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178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기능적 차이 4: 루프 구조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4622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3중 dolist + do vs 2중 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82312"/>
            <a:ext cx="10698480" cy="576072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097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기능적 차이 5: 조기 종료     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8406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return-from weave vs 없음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404104"/>
            <a:ext cx="10698480" cy="576072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3153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422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공통점: 공유하는 핵심 관용구    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70585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rplaca, lazy deletion, subsumption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025896"/>
            <a:ext cx="10698480" cy="576072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0533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0441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D6F4"/>
                </a:solidFill>
                <a:latin typeface="Malgun Gothic"/>
              </a:defRPr>
            </a:pPr>
            <a:r>
              <a:t>종합 비교표                 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3276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399B2"/>
                </a:solidFill>
                <a:latin typeface="Malgun Gothic"/>
              </a:defRPr>
            </a:pPr>
            <a:r>
              <a:t>전체 기법 비교 매트릭스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한눈에 보는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74C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4C7EC"/>
                </a:solidFill>
                <a:latin typeface="Consolas"/>
              </a:defRPr>
            </a:pPr>
            <a:r>
              <a:t>weave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Malgun Gothic"/>
              </a:defRPr>
            </a:pPr>
            <a:r>
              <a:t>환경 교차곱 (Cross-Product)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한 줄 요약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여러 전건 노드의 label을 교차곱하여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"모든 전건이 동시에 참인 환경 조합"을 계산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비유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Malgun Gothic"/>
              </a:defRPr>
            </a:pPr>
            <a:r>
              <a:t>여러 서랍의 물건을 조합하기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옷장에서 상의 x 하의 x 신발 조합 만들기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수학적 의미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envs = envs x label(A) x label(B) x ...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(합집합 연산이 결합된 데카르트 곱)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성격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74C7EC"/>
                </a:solidFill>
                <a:latin typeface="Malgun Gothic"/>
              </a:defRPr>
            </a:pPr>
            <a:r>
              <a:t>순수 계산 (Pure Computation)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ATMS 상태를 변경하지 않음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B387"/>
                </a:solidFill>
                <a:latin typeface="Consolas"/>
              </a:defRPr>
            </a:pPr>
            <a:r>
              <a:t>update-label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Malgun Gothic"/>
              </a:defRPr>
            </a:pPr>
            <a:r>
              <a:t>Label 병합 (Merge)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한 줄 요약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새 환경들을 노드의 label에 병합하되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최소성(minimality)을 유지하며 추가/제거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비유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9E2AF"/>
                </a:solidFill>
                <a:latin typeface="Malgun Gothic"/>
              </a:defRPr>
            </a:pPr>
            <a:r>
              <a:t>서랍에 새 물건 넣기 (중복 정리)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더 작은 것이 들어오면 큰 것을 빼기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수학적 의미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label = minimal(label U new-envs)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(합집합 후 상위집합 제거)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성격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FAB387"/>
                </a:solidFill>
                <a:latin typeface="Malgun Gothic"/>
              </a:defRPr>
            </a:pPr>
            <a:r>
              <a:t>상태 변형 (State Mutation)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node.label, env-nodes를 직접 수정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호출 흐름에서의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propagate → weave → update → update-label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호출 흐름: Producer → Consumer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292608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ATMS 전파 파이프라인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propagate(just, antecedent, envs)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  │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74C7EC"/>
                </a:solidFill>
                <a:latin typeface="Consolas"/>
              </a:defRPr>
            </a:pPr>
            <a:r>
              <a:t>    ├─ weave(antecedent, envs, antecedents)        ← 생산자 (Producer)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│    "전건들의 환경을 조합하여 가능한 환경 리스트 생성"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74C7EC"/>
                </a:solidFill>
                <a:latin typeface="Consolas"/>
              </a:defRPr>
            </a:pPr>
            <a:r>
              <a:t>    │    반환: 교차곱 결과 환경 리스트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  │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  └─ update(new-envs, consequence, just)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399B2"/>
                </a:solidFill>
                <a:latin typeface="Consolas"/>
              </a:defRPr>
            </a:pPr>
            <a:r>
              <a:t>         │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AB387"/>
                </a:solidFill>
                <a:latin typeface="Consolas"/>
              </a:defRPr>
            </a:pPr>
            <a:r>
              <a:t>         └─ update-label(consequence, new-envs)    ← 소비자 (Consumer)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            "받은 환경을 노드의 label에 실제로 반영"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AB387"/>
                </a:solidFill>
                <a:latin typeface="Consolas"/>
              </a:defRPr>
            </a:pPr>
            <a:r>
              <a:t>              반환: 실제로 추가된 환경만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74C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  <a:latin typeface="Malgun Gothic"/>
              </a:defRPr>
            </a:pPr>
            <a:r>
              <a:t>weave가 nil을 반환하면?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(if (setq new-envs (weave ...))  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(update new-envs ...))        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weave가 nil → update 자체가 호출되지 않음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38BA8"/>
                </a:solidFill>
                <a:latin typeface="Malgun Gothic"/>
              </a:defRPr>
            </a:pPr>
            <a:r>
              <a:t>→ update-label도 실행되지 않음 (전파 차단)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389120"/>
            <a:ext cx="5577840" cy="21031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5262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387"/>
                </a:solidFill>
                <a:latin typeface="Malgun Gothic"/>
              </a:defRPr>
            </a:pPr>
            <a:r>
              <a:t>update-label이 nil을 반환하면?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(setq new-envs (update-label ...)) 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(unless new-envs                    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(return-from update nil))         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update-label이 nil → 후속 전파(propagate) 중단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38BA8"/>
                </a:solidFill>
                <a:latin typeface="Malgun Gothic"/>
              </a:defRPr>
            </a:pPr>
            <a:r>
              <a:t>→ 이미 알려진 환경이면 재전파 불필요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기능적 차이 1: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교차곱 생성 vs Label 병합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차이 1: 역할 — 무엇을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74C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4C7EC"/>
                </a:solidFill>
                <a:latin typeface="Malgun Gothic"/>
              </a:defRPr>
            </a:pPr>
            <a:r>
              <a:t>weave: 조합 생성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입력: 여러 전건 노드 + 출발 환경들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처리: 각 전건의 label을 교차곱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출력: 모든 전건이 동시에 참인 환경 조합들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Malgun Gothic"/>
              </a:defRPr>
            </a:pPr>
            <a:r>
              <a:t>핵심 질문: "어떤 가정 조합이면 모두 참인가?"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Malgun Gothic"/>
              </a:defRPr>
            </a:pPr>
            <a:r>
              <a:t>update-label: 병합 갱신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입력: 하나의 노드 + 후보 환경들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처리: 기존 label과 비교하며 병합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출력: 실제로 새로 추가된 환경들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Malgun Gothic"/>
              </a:defRPr>
            </a:pPr>
            <a:r>
              <a:t>핵심 질문: "이 환경이 정말 새로운 정보인가?"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11247120" cy="292608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구체적 예시: justification A,B → C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Consolas"/>
              </a:defRPr>
            </a:pPr>
            <a:r>
              <a:t>A.label = [{A1}, {A2}],  B.label = [{A3}]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74C7EC"/>
                </a:solidFill>
                <a:latin typeface="Malgun Gothic"/>
              </a:defRPr>
            </a:pPr>
            <a:r>
              <a:t>1단계 weave: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74C7EC"/>
                </a:solidFill>
                <a:latin typeface="Consolas"/>
              </a:defRPr>
            </a:pPr>
            <a:r>
              <a:t>   {} x {A1} = {A1},  {} x {A2} = {A2}     (A의 label과 교차곱)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74C7EC"/>
                </a:solidFill>
                <a:latin typeface="Consolas"/>
              </a:defRPr>
            </a:pPr>
            <a:r>
              <a:t>   {A1} x {A3} = {A1,A3},  {A2} x {A3} = {A2,A3}   (B의 label과 교차곱)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   결과: [{A1,A3}, {A2,A3}]                 → "이 조합이면 A,B 모두 참"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FAB387"/>
                </a:solidFill>
                <a:latin typeface="Malgun Gothic"/>
              </a:defRPr>
            </a:pPr>
            <a:r>
              <a:t>2단계 update-label(C, [{A1,A3}, {A2,A3}]):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AB387"/>
                </a:solidFill>
                <a:latin typeface="Consolas"/>
              </a:defRPr>
            </a:pPr>
            <a:r>
              <a:t>   기존 C.label = [{A1,A3}] (이미 있다면)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38BA8"/>
                </a:solidFill>
                <a:latin typeface="Consolas"/>
              </a:defRPr>
            </a:pPr>
            <a:r>
              <a:t>   {A1,A3} vs {A1,A3} → :EQ → 새것 탈락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A6E3A1"/>
                </a:solidFill>
                <a:latin typeface="Consolas"/>
              </a:defRPr>
            </a:pPr>
            <a:r>
              <a:t>   {A2,A3} vs {A1,A3} → 독립 → 추가!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   결과: [{A2,A3}]                           → "이것만 진짜 새 정보"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기능적 차이 2: 비교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같은 라운드 결과끼리 vs 기존 label과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차이 2: 비교 대상이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74C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4C7EC"/>
                </a:solidFill>
                <a:latin typeface="Malgun Gothic"/>
              </a:defRPr>
            </a:pPr>
            <a:r>
              <a:t>weave: 새것 vs 같은 라운드 결과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비교 대상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방금 생성한 환경(new-env)을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이번 라운드에서 축적된 new-envs와 비교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(do ((nnew-envs new-envs ...))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(compare-env new-env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(car nnew-envs)))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74C7EC"/>
                </a:solidFill>
                <a:latin typeface="Consolas"/>
              </a:defRPr>
            </a:pPr>
            <a:r>
              <a:t>           new-env        (방금 생성)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            vs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74C7EC"/>
                </a:solidFill>
                <a:latin typeface="Consolas"/>
              </a:defRPr>
            </a:pPr>
            <a:r>
              <a:t>         (car nnew-envs)  (이번 라운드 축적)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F38BA8"/>
                </a:solidFill>
                <a:latin typeface="Malgun Gothic"/>
              </a:defRPr>
            </a:pPr>
            <a:r>
              <a:t>이유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교차곱 과정에서 중복/상위집합이 생길 수 있음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예: {A1}x{A3}={A1,A3}와 {A1,A2}x{A3}={A1,A2,A3}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→ {A1,A2,A3}은 {A1,A3}의 상위집합 → 탈락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B387"/>
                </a:solidFill>
                <a:latin typeface="Malgun Gothic"/>
              </a:defRPr>
            </a:pPr>
            <a:r>
              <a:t>update-label: 새것 vs 기존 label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비교 대상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후보 환경(car new-envs)을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노드의 기존 label(envs)과 비교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(do ((nenvs envs ...))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(compare-env (car new-envs)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(car nenvs)))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AB387"/>
                </a:solidFill>
                <a:latin typeface="Consolas"/>
              </a:defRPr>
            </a:pPr>
            <a:r>
              <a:t>        (car new-envs)   (후보 환경)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Consolas"/>
              </a:defRPr>
            </a:pPr>
            <a:r>
              <a:t>              vs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AB387"/>
                </a:solidFill>
                <a:latin typeface="Consolas"/>
              </a:defRPr>
            </a:pPr>
            <a:r>
              <a:t>         (car nenvs)     (기존 label 항목)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F38BA8"/>
                </a:solidFill>
                <a:latin typeface="Malgun Gothic"/>
              </a:defRPr>
            </a:pPr>
            <a:r>
              <a:t>이유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이미 label에 있는 환경과 중복/포함 관계를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확인해야 최소성을 유지할 수 있음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예: label=[{A1}], new={A1,A2}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→ {A1,A2} ⊇ {A1} → 새것 불필요 → 탈락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기능적 차이 3: 부수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순수 계산 vs 상태 변형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차이 3: 부수 효과 (Side Effects)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74C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4C7EC"/>
                </a:solidFill>
                <a:latin typeface="Malgun Gothic"/>
              </a:defRPr>
            </a:pPr>
            <a:r>
              <a:t>weave: 순수 계산 (거의 부수 효과 없음)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ATMS 상태 변경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Consolas"/>
              </a:defRPr>
            </a:pPr>
            <a:r>
              <a:t>  node.label 수정      X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Consolas"/>
              </a:defRPr>
            </a:pPr>
            <a:r>
              <a:t>  env-nodes 수정       X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입력 보호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A6E3A1"/>
                </a:solidFill>
                <a:latin typeface="Consolas"/>
              </a:defRPr>
            </a:pPr>
            <a:r>
              <a:t>  (copy-list envs)     O  방어적 복사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내부 변형 (로컬)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  rplaca nnew-envs nil   (new-envs 내부만)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Consolas"/>
              </a:defRPr>
            </a:pPr>
            <a:r>
              <a:t>  delete nil new-envs    (new-envs 정리)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→ 모두 함수 내부의 지역 데이터에만 적용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→ 외부에서 관찰 가능한 변형 없음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74C7EC"/>
                </a:solidFill>
                <a:latin typeface="Malgun Gothic"/>
              </a:defRPr>
            </a:pPr>
            <a:r>
              <a:t>함수형 프로그래밍 원칙에 가까움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Malgun Gothic"/>
              </a:defRPr>
            </a:pPr>
            <a:r>
              <a:t>"같은 입력 → 같은 출력"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AB387"/>
                </a:solidFill>
                <a:latin typeface="Malgun Gothic"/>
              </a:defRPr>
            </a:pPr>
            <a:r>
              <a:t>update-label: 상태 변형 (부수 효과 있음)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ATMS 상태 변경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38BA8"/>
                </a:solidFill>
                <a:latin typeface="Consolas"/>
              </a:defRPr>
            </a:pPr>
            <a:r>
              <a:t>  node.label 수정      O  setf로 직접 갱신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F38BA8"/>
                </a:solidFill>
                <a:latin typeface="Consolas"/>
              </a:defRPr>
            </a:pPr>
            <a:r>
              <a:t>  env-nodes 수정       O  양방향 참조 관리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입력 보호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Consolas"/>
              </a:defRPr>
            </a:pPr>
            <a:r>
              <a:t>  copy-list            X  복사 불필요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1">
                <a:solidFill>
                  <a:srgbClr val="A6E3A1"/>
                </a:solidFill>
                <a:latin typeface="Malgun Gothic"/>
              </a:defRPr>
            </a:pPr>
            <a:r>
              <a:t>외부 변형 (글로벌)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;; node → env 방향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(setf (tms-node-label node) ...)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;; env → node 방향 (추가)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(push node (env-nodes new-env))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  ;; env → node 방향 (제거)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(delete node (env-nodes ...))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FAB387"/>
                </a:solidFill>
                <a:latin typeface="Malgun Gothic"/>
              </a:defRPr>
            </a:pPr>
            <a:r>
              <a:t>명령형 프로그래밍 스타일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9E2AF"/>
                </a:solidFill>
                <a:latin typeface="Malgun Gothic"/>
              </a:defRPr>
            </a:pPr>
            <a:r>
              <a:t>"상태를 직접 변경하여 시스템 갱신"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기능적 차이 4: 루프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3중 dolist + do vs 2중 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차이 4: 루프 구조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weave: 3중 dolist + 1중 do = 4단계 중첩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(dolist (node antecedents)        ; L1: 전건 노드들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...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(dolist (env envs)              ; L2: 현재 축적 환경들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(if env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(dolist (node-env           ; L3: 노드의 label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   (tms-node-label node))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(setq new-env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(union-env env node-env)); 합집합 생성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(unless (env-nogood? new-env)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(do ((nnew-envs ...))   ; L4: 최소성 검사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  ...)))))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L1: 무엇과 교차곱할 것인가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L2: 현재까지의 결과에서 하나씩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L3: 이 노드의 가능한 환경 하나씩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L4: 중복/상위집합 제거 검사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역할: 조합 생성 + 필터링을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      하나의 루프 구조에서 처리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5577840" cy="5303520"/>
          </a:xfrm>
          <a:prstGeom prst="roundRect">
            <a:avLst>
              <a:gd name="adj" fmla="val 5000"/>
            </a:avLst>
          </a:prstGeom>
          <a:solidFill>
            <a:srgbClr val="313244"/>
          </a:solidFill>
          <a:ln w="19050">
            <a:solidFill>
              <a:srgbClr val="58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update-label: 2중 do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(do ((new-envs new-envs           ; L1: 후보 환경들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(cdr new-envs)))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((null new-envs))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(do ((nenvs envs               ; L2: 기존 label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(cdr nenvs)))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((null nenvs)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(push (car new-envs) envs)); 살아남으면 추가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(cond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((null (car nenvs)))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((null (car new-envs)))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((case (compare-env ...)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((:EQ :S21)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 (rplaca new-envs nil))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         (:S12 ...))))))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L1: 추가할 환경 하나씩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L2: 기존 label 전체와 비교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역할: 각 후보를 기존 label 전체와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1300">
                <a:solidFill>
                  <a:srgbClr val="F9E2AF"/>
                </a:solidFill>
                <a:latin typeface="Consolas"/>
              </a:defRPr>
            </a:pPr>
            <a:r>
              <a:t>;;       1:N 비교하여 추가/탈락 결정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기능적 차이 5: 조기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weave만의 return-from 패턴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차이 5: 조기 종료 메커니즘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74C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4C7EC"/>
                </a:solidFill>
                <a:latin typeface="Malgun Gothic"/>
              </a:defRPr>
            </a:pPr>
            <a:r>
              <a:t>weave: 2가지 조기 종료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38BA8"/>
                </a:solidFill>
                <a:latin typeface="Malgun Gothic"/>
              </a:defRPr>
            </a:pPr>
            <a:r>
              <a:t>Type A: 함수 전체 탈출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(unless envs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(return-from weave nil))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어떤 전건의 교차곱 결과가 비면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전체 함수를 즉시 종료합니다.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Consolas"/>
              </a:defRPr>
            </a:pPr>
            <a:r>
              <a:t>이유: {} x Anything = {}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(곱셈에서 0이 나오면 나머지 불필요)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Type B: 내부 do 루프 탈출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((:EQ :S21) (return nil))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이미 더 작은 환경이 new-envs에 있으면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현재 환경의 subsumption 검사를 즉시 중단.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다른 env x node-env 조합은 계속 처리.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57784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AB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Malgun Gothic"/>
              </a:defRPr>
            </a:pPr>
            <a:r>
              <a:t>update-label: 조기 종료 없음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F38BA8"/>
                </a:solidFill>
                <a:latin typeface="Malgun Gothic"/>
              </a:defRPr>
            </a:pPr>
            <a:r>
              <a:t>모든 쌍을 반드시 비교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update-label에는 return-from이 없습니다.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각 새 환경을 기존 label의 모든 환경과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DD6F4"/>
                </a:solidFill>
                <a:latin typeface="Malgun Gothic"/>
              </a:defRPr>
            </a:pPr>
            <a:r>
              <a:t>빠짐없이 비교해야 합니다.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왜 조기 종료가 불가능한가?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새 환경이 기존 label의 부분집합(:S12)이면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기존 환경을 제거해야 합니다.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하나의 새 환경이 여러 기존 환경의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부분집합일 수 있으므로, 모든 기존 환경을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확인하지 않으면 상위집합이 남을 수 있음.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예: label = [{A1,A2}, {A1,A3}]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9E2AF"/>
                </a:solidFill>
                <a:latin typeface="Consolas"/>
              </a:defRPr>
            </a:pPr>
            <a:r>
              <a:t>    new  = {A1}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38BA8"/>
                </a:solidFill>
                <a:latin typeface="Consolas"/>
              </a:defRPr>
            </a:pPr>
            <a:r>
              <a:t>    → 둘 다 제거해야 함 → 끝까지 순회 필수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A6E3A1"/>
                </a:solidFill>
                <a:latin typeface="Consolas"/>
              </a:defRPr>
            </a:pPr>
            <a:r>
              <a:t>#8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DD6F4"/>
                </a:solidFill>
                <a:latin typeface="Malgun Gothic"/>
              </a:defRPr>
            </a:pPr>
            <a:r>
              <a:t>공통점: 공유하는 핵심 관용구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99B2"/>
                </a:solidFill>
                <a:latin typeface="Malgun Gothic"/>
              </a:defRPr>
            </a:pPr>
            <a:r>
              <a:t>rplaca, Lazy Deletion, Subsumption — ATMS의 DNA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공통점: 세 가지 핵심 관용구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4747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017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8BA8"/>
                </a:solidFill>
                <a:latin typeface="Malgun Gothic"/>
              </a:defRPr>
            </a:pPr>
            <a:r>
              <a:t>rplaca nil 마킹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두 함수 모두 삭제할 항목을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nil로 마킹합니다.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74C7EC"/>
                </a:solidFill>
                <a:latin typeface="Malgun Gothic"/>
              </a:defRPr>
            </a:pPr>
            <a:r>
              <a:t>weave: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9E2AF"/>
                </a:solidFill>
                <a:latin typeface="Consolas"/>
              </a:defRPr>
            </a:pPr>
            <a:r>
              <a:t>(rplaca nnew-envs nil)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→ 더 큰 환경 마킹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AB387"/>
                </a:solidFill>
                <a:latin typeface="Malgun Gothic"/>
              </a:defRPr>
            </a:pPr>
            <a:r>
              <a:t>update-label: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9E2AF"/>
                </a:solidFill>
                <a:latin typeface="Consolas"/>
              </a:defRPr>
            </a:pPr>
            <a:r>
              <a:t>(rplaca new-envs nil)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→ 새 환경 탈락 마킹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9E2AF"/>
                </a:solidFill>
                <a:latin typeface="Consolas"/>
              </a:defRPr>
            </a:pPr>
            <a:r>
              <a:t>(rplaca nenvs nil)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→ 기존 환경 제거 마킹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A6E3A1"/>
                </a:solidFill>
                <a:latin typeface="Malgun Gothic"/>
              </a:defRPr>
            </a:pPr>
            <a:r>
              <a:t>목적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순회 중인 리스트의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구조를 깨뜨리지 않고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O(1)로 삭제 예약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65760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3444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6E3A1"/>
                </a:solidFill>
                <a:latin typeface="Malgun Gothic"/>
              </a:defRPr>
            </a:pPr>
            <a:r>
              <a:t>Lazy Deletion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Mark → Skip → Sweep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3단계 패턴이 동일합니다.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F38BA8"/>
                </a:solidFill>
                <a:latin typeface="Malgun Gothic"/>
              </a:defRPr>
            </a:pPr>
            <a:r>
              <a:t>Mark: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9E2AF"/>
                </a:solidFill>
                <a:latin typeface="Consolas"/>
              </a:defRPr>
            </a:pPr>
            <a:r>
              <a:t>rplaca ... nil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89B4FA"/>
                </a:solidFill>
                <a:latin typeface="Malgun Gothic"/>
              </a:defRPr>
            </a:pPr>
            <a:r>
              <a:t>Skip: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74C7EC"/>
                </a:solidFill>
                <a:latin typeface="Consolas"/>
              </a:defRPr>
            </a:pPr>
            <a:r>
              <a:t>weave: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9E2AF"/>
                </a:solidFill>
                <a:latin typeface="Consolas"/>
              </a:defRPr>
            </a:pPr>
            <a:r>
              <a:t>  (if env ...)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9E2AF"/>
                </a:solidFill>
                <a:latin typeface="Consolas"/>
              </a:defRPr>
            </a:pPr>
            <a:r>
              <a:t>  (when (car nnew-envs)..)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AB387"/>
                </a:solidFill>
                <a:latin typeface="Consolas"/>
              </a:defRPr>
            </a:pPr>
            <a:r>
              <a:t>update-label: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9E2AF"/>
                </a:solidFill>
                <a:latin typeface="Consolas"/>
              </a:defRPr>
            </a:pPr>
            <a:r>
              <a:t>  (null (car nenvs))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9E2AF"/>
                </a:solidFill>
                <a:latin typeface="Consolas"/>
              </a:defRPr>
            </a:pPr>
            <a:r>
              <a:t>  (null (car new-envs))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A6E3A1"/>
                </a:solidFill>
                <a:latin typeface="Malgun Gothic"/>
              </a:defRPr>
            </a:pPr>
            <a:r>
              <a:t>Sweep: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F9E2AF"/>
                </a:solidFill>
                <a:latin typeface="Consolas"/>
              </a:defRPr>
            </a:pPr>
            <a:r>
              <a:t>(delete nil ... :TEST #'eq)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A6E3A1"/>
                </a:solidFill>
                <a:latin typeface="Malgun Gothic"/>
              </a:defRPr>
            </a:pPr>
            <a:r>
              <a:t>목적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순회 안전성 보장 +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일괄 정리 효율성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56616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23444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Malgun Gothic"/>
              </a:defRPr>
            </a:pPr>
            <a:r>
              <a:t>Subsumption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compare-env로 부분집합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DD6F4"/>
                </a:solidFill>
                <a:latin typeface="Malgun Gothic"/>
              </a:defRPr>
            </a:pPr>
            <a:r>
              <a:t>관계를 판별합니다.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A6E3A1"/>
                </a:solidFill>
                <a:latin typeface="Malgun Gothic"/>
              </a:defRPr>
            </a:pPr>
            <a:r>
              <a:t>동일한 판별 로직: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:EQ  동일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  → 새것 탈락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:S21 새것 ⊇ 기존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  → 새것 탈락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:S12 새것 ⊂ 기존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  → 기존 제거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F9E2AF"/>
                </a:solidFill>
                <a:latin typeface="Consolas"/>
              </a:defRPr>
            </a:pPr>
            <a:r>
              <a:t>nil  독립적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  → 둘 다 유지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1">
                <a:solidFill>
                  <a:srgbClr val="A6E3A1"/>
                </a:solidFill>
                <a:latin typeface="Malgun Gothic"/>
              </a:defRPr>
            </a:pPr>
            <a:r>
              <a:t>목적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환경 집합의 최소성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DD6F4"/>
                </a:solidFill>
                <a:latin typeface="Malgun Gothic"/>
              </a:defRPr>
            </a:pPr>
            <a:r>
              <a:t>(minimality) 유지: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"적은 가정이면 충분한데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 많은 가정을 유지할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Malgun Gothic"/>
              </a:defRPr>
            </a:pPr>
            <a:r>
              <a:t> 이유가 없다"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종합 비교표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530352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전체 비교 매트릭스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1">
                <a:solidFill>
                  <a:srgbClr val="A6E3A1"/>
                </a:solidFill>
                <a:latin typeface="Consolas"/>
              </a:defRPr>
            </a:pPr>
            <a:r>
              <a:t>  항목                        weave                     update-label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역할           교차곱으로 환경 조합 생성   기존 label에 환경 병합   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수학적 의미     envs x label(A) x label(B)  minimal(label U new-envs)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비교 대상       새것 vs 같은 라운드 축적분  새것 vs 기존 label       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부수 효과       없음 (순수 계산)            node.label + env-nodes 변형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입력 보호       O (copy-list)               X (불필요)               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루프 구조       3중 dolist + 1중 do         2중 do                   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return-from     O (빈 결과 → 전체 탈출)     X                        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rplaca 마킹     O (new-envs 내부)           O (new-envs + envs 모두) 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lazy deletion   O (delete nil)              O (delete nil)           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subsumption     O (compare-env)             O (compare-env)          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역참조 관리     X                           O (env-nodes push/delete)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점진적 축적     O (envs &lt;- new-envs)        X                           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CDD6F4"/>
                </a:solidFill>
                <a:latin typeface="Consolas"/>
              </a:defRPr>
            </a:pPr>
            <a:r>
              <a:t>  nogood 필터     O (env-nogood?)             X (사전 필터링됨)           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399B2"/>
                </a:solidFill>
                <a:latin typeface="Consolas"/>
              </a:defRPr>
            </a:pPr>
            <a:r>
              <a:t>  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9B4FA"/>
                </a:solidFill>
                <a:latin typeface="Malgun Gothic"/>
              </a:defRPr>
            </a:pPr>
            <a:r>
              <a:t>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371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399B2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Malgun Gothic"/>
              </a:defRPr>
            </a:pPr>
            <a:r>
              <a:t>한 문장 요약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700" b="0">
                <a:solidFill>
                  <a:srgbClr val="74C7EC"/>
                </a:solidFill>
                <a:latin typeface="Malgun Gothic"/>
              </a:defRPr>
            </a:pPr>
            <a:r>
              <a:t>weave는 "어떤 가정 조합이 가능한가"를 계산하는 생산자(Producer)이고,</a:t>
            </a:r>
          </a:p>
          <a:p>
            <a:pPr algn="l">
              <a:spcBef>
                <a:spcPts val="600"/>
              </a:spcBef>
              <a:defRPr sz="1700" b="0">
                <a:solidFill>
                  <a:srgbClr val="FAB387"/>
                </a:solidFill>
                <a:latin typeface="Malgun Gothic"/>
              </a:defRPr>
            </a:pPr>
            <a:r>
              <a:t>update-label은 "그 결과를 실제로 반영"하는 소비자(Consumer)입니다.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F38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38BA8"/>
                </a:solidFill>
                <a:latin typeface="Malgun Gothic"/>
              </a:defRPr>
            </a:pPr>
            <a:r>
              <a:t>핵심 차이점 5가지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1. 역할: 교차곱 생성 vs label 병합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2. 비교 대상: 라운드 내부 vs 기존 label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3. 부수 효과: 순수 계산 vs 상태 변형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4. 루프 구조: 4단 중첩 vs 2단 중첩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5. 조기 종료: return-from 있음 vs 없음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→ 서로 다른 문제를 풀지만,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동일한 코딩 관용구를 공유합니다.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834640"/>
            <a:ext cx="5577840" cy="3200400"/>
          </a:xfrm>
          <a:prstGeom prst="roundRect">
            <a:avLst>
              <a:gd name="adj" fmla="val 5000"/>
            </a:avLst>
          </a:prstGeom>
          <a:solidFill>
            <a:srgbClr val="2A2A3C"/>
          </a:solidFill>
          <a:ln w="19050">
            <a:solidFill>
              <a:srgbClr val="A6E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9718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6E3A1"/>
                </a:solidFill>
                <a:latin typeface="Malgun Gothic"/>
              </a:defRPr>
            </a:pPr>
            <a:r>
              <a:t>핵심 공통점 3가지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1. rplaca nil 마킹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 순회 중 O(1) 삭제 예약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2. Lazy Deletion (Mark-Skip-Sweep)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 순회 안전한 삭제 + 일괄 정리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500" b="0">
                <a:solidFill>
                  <a:srgbClr val="CDD6F4"/>
                </a:solidFill>
                <a:latin typeface="Malgun Gothic"/>
              </a:defRPr>
            </a:pPr>
            <a:r>
              <a:t>3. Subsumption (compare-env)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 부분집합 관계로 최소성 유지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CDD6F4"/>
                </a:solidFill>
                <a:latin typeface="Malgun Gothic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→ 이 세 관용구는 BPS/ATMS 코드베이스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399B2"/>
                </a:solidFill>
                <a:latin typeface="Malgun Gothic"/>
              </a:defRPr>
            </a:pPr>
            <a:r>
              <a:t>  전체를 관통하는 핵심 DNA입니다.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9B4FA"/>
                </a:solidFill>
                <a:latin typeface="Malgun Gothic"/>
              </a:defRPr>
            </a:pPr>
            <a:r>
              <a:t>Producer-Consumer 패턴 + 공유 관용구 = ATMS 전파 엔진의 설계 원리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